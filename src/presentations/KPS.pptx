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24"/>
  </p:notesMasterIdLst>
  <p:sldIdLst>
    <p:sldId id="785" r:id="rId2"/>
    <p:sldId id="832" r:id="rId3"/>
    <p:sldId id="833" r:id="rId4"/>
    <p:sldId id="821" r:id="rId5"/>
    <p:sldId id="822" r:id="rId6"/>
    <p:sldId id="839" r:id="rId7"/>
    <p:sldId id="838" r:id="rId8"/>
    <p:sldId id="841" r:id="rId9"/>
    <p:sldId id="846" r:id="rId10"/>
    <p:sldId id="848" r:id="rId11"/>
    <p:sldId id="817" r:id="rId12"/>
    <p:sldId id="790" r:id="rId13"/>
    <p:sldId id="830" r:id="rId14"/>
    <p:sldId id="809" r:id="rId15"/>
    <p:sldId id="847" r:id="rId16"/>
    <p:sldId id="845" r:id="rId17"/>
    <p:sldId id="834" r:id="rId18"/>
    <p:sldId id="843" r:id="rId19"/>
    <p:sldId id="683" r:id="rId20"/>
    <p:sldId id="727" r:id="rId21"/>
    <p:sldId id="728" r:id="rId22"/>
    <p:sldId id="723" r:id="rId23"/>
  </p:sldIdLst>
  <p:sldSz cx="12192000" cy="6858000"/>
  <p:notesSz cx="6858000" cy="9144000"/>
  <p:defaultTextStyle>
    <a:defPPr>
      <a:defRPr lang="ko-Kore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55" userDrawn="1">
          <p15:clr>
            <a:srgbClr val="A4A3A4"/>
          </p15:clr>
        </p15:guide>
        <p15:guide id="3" pos="211" userDrawn="1">
          <p15:clr>
            <a:srgbClr val="A4A3A4"/>
          </p15:clr>
        </p15:guide>
        <p15:guide id="4" pos="740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C5BB"/>
    <a:srgbClr val="D883FF"/>
    <a:srgbClr val="FFCC00"/>
    <a:srgbClr val="FB7977"/>
    <a:srgbClr val="0096FF"/>
    <a:srgbClr val="76D6FF"/>
    <a:srgbClr val="00FDFF"/>
    <a:srgbClr val="941651"/>
    <a:srgbClr val="941100"/>
    <a:srgbClr val="FDF8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28"/>
    <p:restoredTop sz="71615"/>
  </p:normalViewPr>
  <p:slideViewPr>
    <p:cSldViewPr snapToGrid="0" snapToObjects="1">
      <p:cViewPr varScale="1">
        <p:scale>
          <a:sx n="109" d="100"/>
          <a:sy n="109" d="100"/>
        </p:scale>
        <p:origin x="1000" y="176"/>
      </p:cViewPr>
      <p:guideLst>
        <p:guide orient="horz" pos="2455"/>
        <p:guide pos="211"/>
        <p:guide pos="740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14" d="100"/>
        <a:sy n="114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1E04AA-DAC8-1647-A00A-17750BA8C393}" type="datetimeFigureOut">
              <a:rPr kumimoji="1" lang="ko-Kore-KR" altLang="en-US" smtClean="0"/>
              <a:t>5/15/26</a:t>
            </a:fld>
            <a:endParaRPr kumimoji="1" lang="ko-Kore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ore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1452DE-C807-D943-8CCE-857675B89B12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529160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1452DE-C807-D943-8CCE-857675B89B12}" type="slidenum">
              <a:rPr kumimoji="1" lang="ko-Kore-KR" altLang="en-US" smtClean="0"/>
              <a:t>1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9292677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ko-KR" dirty="0"/>
              <a:t>NGC 1068</a:t>
            </a:r>
          </a:p>
          <a:p>
            <a:r>
              <a:rPr lang="en" altLang="ko-KR" dirty="0" err="1"/>
              <a:t>eCube</a:t>
            </a:r>
            <a:r>
              <a:rPr lang="ko-KR" altLang="en-US" dirty="0"/>
              <a:t>는 남극에 설치된 </a:t>
            </a:r>
            <a:r>
              <a:rPr lang="en-US" altLang="ko-KR" dirty="0"/>
              <a:t>1</a:t>
            </a:r>
            <a:r>
              <a:rPr lang="ko-KR" altLang="en-US" dirty="0"/>
              <a:t>세제곱킬로미터 규모의 </a:t>
            </a:r>
            <a:r>
              <a:rPr lang="ko-KR" altLang="en-US" dirty="0" err="1"/>
              <a:t>중성미자</a:t>
            </a:r>
            <a:r>
              <a:rPr lang="ko-KR" altLang="en-US" dirty="0"/>
              <a:t> 검출기입니다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5,160</a:t>
            </a:r>
            <a:r>
              <a:rPr lang="ko-KR" altLang="en-US" dirty="0"/>
              <a:t>개의 </a:t>
            </a:r>
            <a:r>
              <a:rPr lang="en" altLang="ko-KR" dirty="0"/>
              <a:t>DOM</a:t>
            </a:r>
            <a:r>
              <a:rPr lang="ko-KR" altLang="en-US" dirty="0"/>
              <a:t>이 얼음 속에서 </a:t>
            </a:r>
            <a:r>
              <a:rPr lang="ko-KR" altLang="en-US" dirty="0" err="1"/>
              <a:t>중성미자</a:t>
            </a:r>
            <a:r>
              <a:rPr lang="ko-KR" altLang="en-US" dirty="0"/>
              <a:t> 상호작용으로 생기는 </a:t>
            </a:r>
            <a:r>
              <a:rPr lang="ko-KR" altLang="en-US" dirty="0" err="1"/>
              <a:t>체렌코프</a:t>
            </a:r>
            <a:r>
              <a:rPr lang="ko-KR" altLang="en-US" dirty="0"/>
              <a:t> 빛을 검출합니다</a:t>
            </a:r>
            <a:r>
              <a:rPr lang="en-US" altLang="ko-KR" dirty="0"/>
              <a:t>.</a:t>
            </a:r>
          </a:p>
          <a:p>
            <a:r>
              <a:rPr lang="en" altLang="ko-KR" dirty="0" err="1"/>
              <a:t>IceCube</a:t>
            </a:r>
            <a:r>
              <a:rPr lang="ko-KR" altLang="en-US" dirty="0"/>
              <a:t>는 몇 년에 뭐를 하고 몇 년에 뭐를 하는 등 </a:t>
            </a:r>
            <a:r>
              <a:rPr lang="ko-KR" altLang="en-US" dirty="0" err="1"/>
              <a:t>중성미자</a:t>
            </a:r>
            <a:r>
              <a:rPr lang="ko-KR" altLang="en-US" dirty="0"/>
              <a:t> 천문학을 대표하는 핵심 관측 장비로 평가됩니다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1452DE-C807-D943-8CCE-857675B89B12}" type="slidenum">
              <a:rPr kumimoji="1" lang="ko-Kore-KR" altLang="en-US" smtClean="0"/>
              <a:t>2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6356601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err="1"/>
              <a:t>Npe</a:t>
            </a:r>
            <a:r>
              <a:rPr lang="ko-KR" altLang="en-US" dirty="0"/>
              <a:t>랑 </a:t>
            </a:r>
            <a:r>
              <a:rPr lang="en-US" altLang="ko-KR" dirty="0"/>
              <a:t>charge </a:t>
            </a:r>
            <a:r>
              <a:rPr lang="ko-KR" altLang="en-US" dirty="0"/>
              <a:t>이야기 하기 </a:t>
            </a:r>
            <a:endParaRPr lang="en" altLang="ko-KR" dirty="0"/>
          </a:p>
          <a:p>
            <a:endParaRPr lang="en" altLang="ko-KR" dirty="0"/>
          </a:p>
          <a:p>
            <a:endParaRPr lang="en" altLang="ko-KR" dirty="0"/>
          </a:p>
          <a:p>
            <a:r>
              <a:rPr lang="en" altLang="ko-KR" dirty="0"/>
              <a:t>J. Ahrens et al. Muon track reconstruction and data selection techniques in AMANDA. </a:t>
            </a:r>
            <a:r>
              <a:rPr lang="en" altLang="ko-KR" dirty="0" err="1"/>
              <a:t>Nucl.Instrum.Meth</a:t>
            </a:r>
            <a:r>
              <a:rPr lang="en" altLang="ko-KR" dirty="0"/>
              <a:t>., A524:169–194, 2004. 15, 36, 41</a:t>
            </a:r>
            <a:br>
              <a:rPr lang="en" altLang="ko-KR" dirty="0"/>
            </a:br>
            <a:br>
              <a:rPr lang="en" altLang="ko-KR" dirty="0"/>
            </a:br>
            <a:br>
              <a:rPr lang="en" altLang="ko-KR" dirty="0"/>
            </a:br>
            <a:r>
              <a:rPr lang="en-US" altLang="ko-KR" dirty="0"/>
              <a:t>(</a:t>
            </a:r>
            <a:r>
              <a:rPr lang="ko-KR" altLang="en-US" dirty="0"/>
              <a:t>이건 그대로</a:t>
            </a:r>
            <a:r>
              <a:rPr lang="en-US" altLang="ko-KR" dirty="0"/>
              <a:t>)</a:t>
            </a: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1452DE-C807-D943-8CCE-857675B89B12}" type="slidenum">
              <a:rPr kumimoji="1" lang="ko-Kore-KR" altLang="en-US" smtClean="0"/>
              <a:t>3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5918533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ko-KR" dirty="0"/>
              <a:t>How Ever </a:t>
            </a:r>
            <a:r>
              <a:rPr kumimoji="1" lang="ko-KR" altLang="en-US" dirty="0" err="1"/>
              <a:t>뉴트리노를</a:t>
            </a:r>
            <a:r>
              <a:rPr kumimoji="1" lang="ko-KR" altLang="en-US" dirty="0"/>
              <a:t> </a:t>
            </a:r>
            <a:r>
              <a:rPr kumimoji="1" lang="en-US" altLang="ko-KR" dirty="0" err="1"/>
              <a:t>reocontrution</a:t>
            </a:r>
            <a:r>
              <a:rPr kumimoji="1" lang="ko-KR" altLang="en-US" dirty="0"/>
              <a:t>하는 것은 힘들다</a:t>
            </a:r>
            <a:r>
              <a:rPr kumimoji="1" lang="en-US" altLang="ko-KR" dirty="0"/>
              <a:t>.</a:t>
            </a:r>
            <a:br>
              <a:rPr kumimoji="1" lang="en-US" altLang="ko-KR" dirty="0"/>
            </a:br>
            <a:r>
              <a:rPr kumimoji="1" lang="ko-KR" altLang="en-US" dirty="0"/>
              <a:t>그래서 완전히 새로운 접근 방법을 제안한다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그것은 </a:t>
            </a:r>
            <a:r>
              <a:rPr kumimoji="1" lang="ko-KR" altLang="en-US" dirty="0" err="1"/>
              <a:t>생성형</a:t>
            </a:r>
            <a:r>
              <a:rPr kumimoji="1" lang="ko-KR" altLang="en-US" dirty="0"/>
              <a:t> 인공지능을 만들고 그 인공지능을 이용해서 </a:t>
            </a:r>
            <a:r>
              <a:rPr kumimoji="1" lang="ko-KR" altLang="en-US" dirty="0" err="1"/>
              <a:t>컨디셔널</a:t>
            </a:r>
            <a:r>
              <a:rPr kumimoji="1" lang="ko-KR" altLang="en-US" dirty="0"/>
              <a:t> </a:t>
            </a:r>
            <a:r>
              <a:rPr kumimoji="1" lang="en-US" altLang="ko-KR" dirty="0"/>
              <a:t>generation</a:t>
            </a:r>
            <a:r>
              <a:rPr kumimoji="1" lang="ko-KR" altLang="en-US" dirty="0"/>
              <a:t>을 하는 모델을 만들고 그걸 이용해서 </a:t>
            </a:r>
            <a:r>
              <a:rPr kumimoji="1" lang="en-US" altLang="ko-KR" dirty="0" err="1"/>
              <a:t>reconstiuction</a:t>
            </a:r>
            <a:r>
              <a:rPr kumimoji="1" lang="ko-KR" altLang="en-US" dirty="0"/>
              <a:t>하는 것이다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1452DE-C807-D943-8CCE-857675B89B12}" type="slidenum">
              <a:rPr kumimoji="1" lang="ko-Kore-KR" altLang="en-US" smtClean="0"/>
              <a:t>4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8198787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1452DE-C807-D943-8CCE-857675B89B12}" type="slidenum">
              <a:rPr kumimoji="1" lang="ko-Kore-KR" altLang="en-US" smtClean="0"/>
              <a:t>5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6969947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ko-KR" dirty="0"/>
              <a:t>So by using flow matching we have developed JANUS ().</a:t>
            </a:r>
          </a:p>
          <a:p>
            <a:r>
              <a:rPr kumimoji="1" lang="en-US" altLang="ko-KR" dirty="0"/>
              <a:t>JANUS can work is trained to generate </a:t>
            </a:r>
            <a:r>
              <a:rPr kumimoji="1" lang="en-US" altLang="ko-KR" dirty="0" err="1"/>
              <a:t>sames</a:t>
            </a:r>
            <a:r>
              <a:rPr kumimoji="1" lang="en-US" altLang="ko-KR" dirty="0"/>
              <a:t> by condition on . As we used flow </a:t>
            </a:r>
            <a:r>
              <a:rPr kumimoji="1" lang="en-US" altLang="ko-KR" dirty="0" err="1"/>
              <a:t>mathing</a:t>
            </a:r>
            <a:r>
              <a:rPr kumimoji="1" lang="en-US" altLang="ko-KR" dirty="0"/>
              <a:t> objective model is trained to model vector field </a:t>
            </a:r>
            <a:r>
              <a:rPr kumimoji="1" lang="en-US" altLang="ko-KR" dirty="0" err="1"/>
              <a:t>U_t_theta</a:t>
            </a:r>
            <a:endParaRPr kumimoji="1" lang="en-US" altLang="ko-KR" dirty="0"/>
          </a:p>
          <a:p>
            <a:endParaRPr kumimoji="1" lang="en-US" altLang="ko-KR" dirty="0"/>
          </a:p>
          <a:p>
            <a:r>
              <a:rPr kumimoji="1" lang="en-US" altLang="ko-KR" dirty="0"/>
              <a:t>After </a:t>
            </a:r>
            <a:r>
              <a:rPr kumimoji="1" lang="en-US" altLang="ko-KR" dirty="0" err="1"/>
              <a:t>traing</a:t>
            </a:r>
            <a:r>
              <a:rPr kumimoji="1" lang="en-US" altLang="ko-KR" dirty="0"/>
              <a:t> model can be used as a </a:t>
            </a:r>
            <a:r>
              <a:rPr kumimoji="1" lang="en-US" altLang="ko-KR" dirty="0" err="1"/>
              <a:t>reconstrucot</a:t>
            </a:r>
            <a:r>
              <a:rPr kumimoji="1" lang="en-US" altLang="ko-KR" dirty="0"/>
              <a:t> by using the network to calculate the likelihood of x </a:t>
            </a:r>
          </a:p>
          <a:p>
            <a:r>
              <a:rPr kumimoji="1" lang="en-US" altLang="ko-KR" dirty="0"/>
              <a:t>As mention by</a:t>
            </a:r>
          </a:p>
          <a:p>
            <a:endParaRPr kumimoji="1" lang="en-US" altLang="ko-KR" dirty="0"/>
          </a:p>
          <a:p>
            <a:r>
              <a:rPr kumimoji="1" lang="ko-KR" altLang="en-US" dirty="0"/>
              <a:t>모델이 그래서 </a:t>
            </a:r>
            <a:r>
              <a:rPr kumimoji="1" lang="en-US" altLang="ko-KR" dirty="0"/>
              <a:t>simulation emulator</a:t>
            </a:r>
            <a:r>
              <a:rPr kumimoji="1" lang="ko-KR" altLang="en-US" dirty="0"/>
              <a:t>로 기능할 수 있다</a:t>
            </a:r>
            <a:r>
              <a:rPr kumimoji="1" lang="en-US" altLang="ko-KR" dirty="0"/>
              <a:t>.</a:t>
            </a:r>
          </a:p>
          <a:p>
            <a:r>
              <a:rPr kumimoji="1" lang="ko-KR" altLang="en-US" dirty="0"/>
              <a:t>이번 발표에서는 시뮬레이터의 성능까지 </a:t>
            </a:r>
            <a:r>
              <a:rPr kumimoji="1" lang="ko-KR" altLang="en-US" dirty="0" err="1"/>
              <a:t>볼거다</a:t>
            </a:r>
            <a:endParaRPr kumimoji="1" lang="en-US" altLang="ko-KR" dirty="0"/>
          </a:p>
          <a:p>
            <a:r>
              <a:rPr kumimoji="1" lang="en-US" altLang="ko-KR" dirty="0"/>
              <a:t>-------</a:t>
            </a:r>
          </a:p>
          <a:p>
            <a:endParaRPr kumimoji="1" lang="en-US" altLang="ko-KR" dirty="0"/>
          </a:p>
          <a:p>
            <a:r>
              <a:rPr kumimoji="1" lang="ko-KR" altLang="en-US" dirty="0"/>
              <a:t>결국 </a:t>
            </a:r>
            <a:r>
              <a:rPr kumimoji="1" lang="ko-KR" altLang="en-US" dirty="0" err="1"/>
              <a:t>해야하는건</a:t>
            </a:r>
            <a:r>
              <a:rPr kumimoji="1" lang="ko-KR" altLang="en-US" dirty="0"/>
              <a:t> 이 </a:t>
            </a:r>
            <a:r>
              <a:rPr kumimoji="1" lang="en-US" altLang="ko-KR" dirty="0"/>
              <a:t>path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</a:t>
            </a:r>
            <a:r>
              <a:rPr kumimoji="1" lang="en-US" altLang="ko-KR" dirty="0"/>
              <a:t>design </a:t>
            </a:r>
          </a:p>
          <a:p>
            <a:r>
              <a:rPr kumimoji="1" lang="ko-KR" altLang="en-US" dirty="0"/>
              <a:t>가장 많이 그리고 높은 성능을 보여주는 것은 </a:t>
            </a:r>
            <a:r>
              <a:rPr kumimoji="1" lang="en-US" altLang="ko-KR" dirty="0"/>
              <a:t>Flow</a:t>
            </a:r>
            <a:r>
              <a:rPr kumimoji="1" lang="ko-KR" altLang="en-US" dirty="0"/>
              <a:t>와 </a:t>
            </a:r>
            <a:r>
              <a:rPr kumimoji="1" lang="en-US" altLang="ko-KR" dirty="0"/>
              <a:t>Diffusion</a:t>
            </a:r>
            <a:r>
              <a:rPr kumimoji="1" lang="ko-KR" altLang="en-US" dirty="0"/>
              <a:t>이</a:t>
            </a:r>
            <a:endParaRPr kumimoji="1" lang="en-US" altLang="ko-KR" dirty="0"/>
          </a:p>
          <a:p>
            <a:endParaRPr kumimoji="1" lang="en-US" altLang="ko-KR" dirty="0"/>
          </a:p>
          <a:p>
            <a:endParaRPr kumimoji="1" lang="en-US" altLang="ko-KR" dirty="0"/>
          </a:p>
          <a:p>
            <a:r>
              <a:rPr kumimoji="1" lang="ko-KR" altLang="en-US" dirty="0"/>
              <a:t>이벤트 디스플레이</a:t>
            </a:r>
            <a:r>
              <a:rPr kumimoji="1" lang="en-US" altLang="ko-KR" dirty="0"/>
              <a:t>(</a:t>
            </a:r>
            <a:r>
              <a:rPr kumimoji="1" lang="ko-KR" altLang="en-US" dirty="0"/>
              <a:t>이거 이야기 </a:t>
            </a:r>
            <a:r>
              <a:rPr kumimoji="1" lang="en-US" altLang="ko-KR" dirty="0"/>
              <a:t>)</a:t>
            </a:r>
            <a:r>
              <a:rPr kumimoji="1" lang="ko-KR" altLang="en-US" dirty="0"/>
              <a:t> 해놔야  </a:t>
            </a:r>
            <a:endParaRPr kumimoji="1" lang="en-US" altLang="ko-KR" dirty="0"/>
          </a:p>
          <a:p>
            <a:endParaRPr kumimoji="1" lang="en-US" altLang="ko-KR" dirty="0"/>
          </a:p>
          <a:p>
            <a:r>
              <a:rPr kumimoji="1" lang="ko-KR" altLang="en-US" dirty="0"/>
              <a:t>설명을 해놔야 </a:t>
            </a:r>
            <a:r>
              <a:rPr kumimoji="1" lang="en-US" altLang="ko-KR" dirty="0"/>
              <a:t>(</a:t>
            </a:r>
            <a:r>
              <a:rPr kumimoji="1" lang="ko-KR" altLang="en-US" dirty="0"/>
              <a:t>결과를 보여주는 것</a:t>
            </a:r>
            <a:r>
              <a:rPr kumimoji="1" lang="en-US" altLang="ko-KR" dirty="0"/>
              <a:t>)</a:t>
            </a:r>
            <a:r>
              <a:rPr kumimoji="1" lang="ko-KR" altLang="en-US" dirty="0"/>
              <a:t> 앞쪽에서 </a:t>
            </a:r>
            <a:r>
              <a:rPr kumimoji="1" lang="ko-KR" altLang="en-US" dirty="0" err="1"/>
              <a:t>테크니컬</a:t>
            </a:r>
            <a:r>
              <a:rPr kumimoji="1" lang="ko-KR" altLang="en-US" dirty="0"/>
              <a:t> 한 이야기들</a:t>
            </a:r>
            <a:endParaRPr kumimoji="1" lang="en-US" altLang="ko-KR" dirty="0"/>
          </a:p>
          <a:p>
            <a:endParaRPr kumimoji="1" lang="en-US" altLang="ko-KR" dirty="0"/>
          </a:p>
          <a:p>
            <a:r>
              <a:rPr kumimoji="1" lang="ko-KR" altLang="en-US" dirty="0"/>
              <a:t>데이터 적인 측면 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1452DE-C807-D943-8CCE-857675B89B12}" type="slidenum">
              <a:rPr kumimoji="1" lang="ko-Kore-KR" altLang="en-US" smtClean="0"/>
              <a:t>6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6012333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1452DE-C807-D943-8CCE-857675B89B12}" type="slidenum">
              <a:rPr kumimoji="1" lang="ko-Kore-KR" altLang="en-US" smtClean="0"/>
              <a:t>7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5338180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여기 이야기 아니면 마지막에 이야기 보여주면서 이야기 하던가 </a:t>
            </a:r>
            <a:r>
              <a:rPr kumimoji="1" lang="en-US" altLang="ko-KR" dirty="0"/>
              <a:t>(</a:t>
            </a:r>
            <a:r>
              <a:rPr kumimoji="1" lang="ko-KR" altLang="en-US" dirty="0"/>
              <a:t>여기서 이야기</a:t>
            </a:r>
            <a:r>
              <a:rPr kumimoji="1" lang="en-US" altLang="ko-KR" dirty="0"/>
              <a:t>)</a:t>
            </a:r>
            <a:r>
              <a:rPr kumimoji="1" lang="ko-KR" altLang="en-US" dirty="0"/>
              <a:t> 시뮬레이션 이벤트 </a:t>
            </a:r>
            <a:r>
              <a:rPr kumimoji="1" lang="en-US" altLang="ko-KR" dirty="0"/>
              <a:t>true </a:t>
            </a:r>
            <a:r>
              <a:rPr kumimoji="1" lang="ko-KR" altLang="en-US" dirty="0"/>
              <a:t>라는 말이 맞는 거 같다 </a:t>
            </a:r>
            <a:r>
              <a:rPr kumimoji="1" lang="en-US" altLang="ko-KR" dirty="0"/>
              <a:t>true</a:t>
            </a:r>
            <a:r>
              <a:rPr kumimoji="1" lang="ko-KR" altLang="en-US" dirty="0"/>
              <a:t> </a:t>
            </a:r>
            <a:r>
              <a:rPr kumimoji="1" lang="en-US" altLang="ko-KR" dirty="0"/>
              <a:t>event JANUS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시뮬레이티드</a:t>
            </a:r>
            <a:r>
              <a:rPr kumimoji="1" lang="ko-KR" altLang="en-US" dirty="0"/>
              <a:t> 이벤트 </a:t>
            </a:r>
            <a:endParaRPr kumimoji="1" lang="en-US" altLang="ko-KR" dirty="0"/>
          </a:p>
          <a:p>
            <a:endParaRPr kumimoji="1" lang="en-US" altLang="ko-KR" dirty="0"/>
          </a:p>
          <a:p>
            <a:r>
              <a:rPr kumimoji="1" lang="en-US" altLang="ko-KR" dirty="0" err="1"/>
              <a:t>Icecube</a:t>
            </a:r>
            <a:r>
              <a:rPr kumimoji="1" lang="en-US" altLang="ko-KR" dirty="0"/>
              <a:t> simulation </a:t>
            </a:r>
            <a:r>
              <a:rPr kumimoji="1" lang="en-US" altLang="ko-KR" dirty="0" err="1"/>
              <a:t>janus</a:t>
            </a:r>
            <a:r>
              <a:rPr kumimoji="1" lang="en-US" altLang="ko-KR" dirty="0"/>
              <a:t> generated </a:t>
            </a: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1452DE-C807-D943-8CCE-857675B89B12}" type="slidenum">
              <a:rPr kumimoji="1" lang="ko-Kore-KR" altLang="en-US" smtClean="0"/>
              <a:t>8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1758638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여기 이야기 아니면 마지막에 이야기 보여주면서 이야기 하던가 </a:t>
            </a:r>
            <a:r>
              <a:rPr kumimoji="1" lang="en-US" altLang="ko-KR" dirty="0"/>
              <a:t>(</a:t>
            </a:r>
            <a:r>
              <a:rPr kumimoji="1" lang="ko-KR" altLang="en-US" dirty="0"/>
              <a:t>여기서 이야기</a:t>
            </a:r>
            <a:r>
              <a:rPr kumimoji="1" lang="en-US" altLang="ko-KR" dirty="0"/>
              <a:t>)</a:t>
            </a:r>
            <a:r>
              <a:rPr kumimoji="1" lang="ko-KR" altLang="en-US" dirty="0"/>
              <a:t> 시뮬레이션 이벤트 </a:t>
            </a:r>
            <a:r>
              <a:rPr kumimoji="1" lang="en-US" altLang="ko-KR" dirty="0"/>
              <a:t>true </a:t>
            </a:r>
            <a:r>
              <a:rPr kumimoji="1" lang="ko-KR" altLang="en-US" dirty="0"/>
              <a:t>라는 말이 맞는 거 같다 </a:t>
            </a:r>
            <a:r>
              <a:rPr kumimoji="1" lang="en-US" altLang="ko-KR" dirty="0"/>
              <a:t>true</a:t>
            </a:r>
            <a:r>
              <a:rPr kumimoji="1" lang="ko-KR" altLang="en-US" dirty="0"/>
              <a:t> </a:t>
            </a:r>
            <a:r>
              <a:rPr kumimoji="1" lang="en-US" altLang="ko-KR" dirty="0"/>
              <a:t>event JANUS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시뮬레이티드</a:t>
            </a:r>
            <a:r>
              <a:rPr kumimoji="1" lang="ko-KR" altLang="en-US" dirty="0"/>
              <a:t> 이벤트 </a:t>
            </a:r>
            <a:endParaRPr kumimoji="1" lang="en-US" altLang="ko-KR" dirty="0"/>
          </a:p>
          <a:p>
            <a:endParaRPr kumimoji="1" lang="en" altLang="ko-KR" dirty="0"/>
          </a:p>
          <a:p>
            <a:r>
              <a:rPr kumimoji="1" lang="en" altLang="ko-KR" dirty="0"/>
              <a:t>/home/work/</a:t>
            </a:r>
            <a:r>
              <a:rPr kumimoji="1" lang="en" altLang="ko-KR" dirty="0" err="1"/>
              <a:t>icecube_janus</a:t>
            </a:r>
            <a:r>
              <a:rPr kumimoji="1" lang="en" altLang="ko-KR" dirty="0"/>
              <a:t>/JANUS/tasks/rectified_flow_0413_jointzero_transformer/</a:t>
            </a:r>
            <a:r>
              <a:rPr kumimoji="1" lang="en" altLang="ko-KR" dirty="0" err="1"/>
              <a:t>ztesting_color</a:t>
            </a:r>
            <a:r>
              <a:rPr kumimoji="1" lang="en" altLang="ko-KR" dirty="0"/>
              <a:t>/method_dopri5/rank_06_ref_90320/sample_003_ref_90320_denorm.npy</a:t>
            </a:r>
          </a:p>
          <a:p>
            <a:r>
              <a:rPr kumimoji="1" lang="en" altLang="ko-KR" dirty="0"/>
              <a:t>/home/work/</a:t>
            </a:r>
            <a:r>
              <a:rPr kumimoji="1" lang="en" altLang="ko-KR" dirty="0" err="1"/>
              <a:t>icecube_janus</a:t>
            </a:r>
            <a:r>
              <a:rPr kumimoji="1" lang="en" altLang="ko-KR" dirty="0"/>
              <a:t>/JANUS/tasks/rectified_flow_0413_jointzero_transformer/</a:t>
            </a:r>
            <a:r>
              <a:rPr kumimoji="1" lang="en" altLang="ko-KR" dirty="0" err="1"/>
              <a:t>ztesting_color</a:t>
            </a:r>
            <a:r>
              <a:rPr kumimoji="1" lang="en" altLang="ko-KR" dirty="0"/>
              <a:t>/method_dopri5/rank_09_ref_121512/sample_001_ref_121512_denorm.npy</a:t>
            </a: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1452DE-C807-D943-8CCE-857675B89B12}" type="slidenum">
              <a:rPr kumimoji="1" lang="ko-Kore-KR" altLang="en-US" smtClean="0"/>
              <a:t>9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1829113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여기 이야기 아니면 마지막에 이야기 보여주면서 이야기 하던가 </a:t>
            </a:r>
            <a:r>
              <a:rPr kumimoji="1" lang="en-US" altLang="ko-KR" dirty="0"/>
              <a:t>(</a:t>
            </a:r>
            <a:r>
              <a:rPr kumimoji="1" lang="ko-KR" altLang="en-US" dirty="0"/>
              <a:t>여기서 이야기</a:t>
            </a:r>
            <a:r>
              <a:rPr kumimoji="1" lang="en-US" altLang="ko-KR" dirty="0"/>
              <a:t>)</a:t>
            </a:r>
            <a:r>
              <a:rPr kumimoji="1" lang="ko-KR" altLang="en-US" dirty="0"/>
              <a:t> 시뮬레이션 이벤트 </a:t>
            </a:r>
            <a:r>
              <a:rPr kumimoji="1" lang="en-US" altLang="ko-KR" dirty="0"/>
              <a:t>true </a:t>
            </a:r>
            <a:r>
              <a:rPr kumimoji="1" lang="ko-KR" altLang="en-US" dirty="0"/>
              <a:t>라는 말이 맞는 거 같다 </a:t>
            </a:r>
            <a:r>
              <a:rPr kumimoji="1" lang="en-US" altLang="ko-KR" dirty="0"/>
              <a:t>true</a:t>
            </a:r>
            <a:r>
              <a:rPr kumimoji="1" lang="ko-KR" altLang="en-US" dirty="0"/>
              <a:t> </a:t>
            </a:r>
            <a:r>
              <a:rPr kumimoji="1" lang="en-US" altLang="ko-KR" dirty="0"/>
              <a:t>event JANUS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시뮬레이티드</a:t>
            </a:r>
            <a:r>
              <a:rPr kumimoji="1" lang="ko-KR" altLang="en-US" dirty="0"/>
              <a:t> 이벤트 </a:t>
            </a:r>
            <a:endParaRPr kumimoji="1" lang="en-US" altLang="ko-KR" dirty="0"/>
          </a:p>
          <a:p>
            <a:endParaRPr kumimoji="1" lang="en-US" altLang="ko-KR" dirty="0"/>
          </a:p>
          <a:p>
            <a:r>
              <a:rPr kumimoji="1" lang="en-US" altLang="ko-KR" dirty="0" err="1"/>
              <a:t>Icecube</a:t>
            </a:r>
            <a:r>
              <a:rPr kumimoji="1" lang="en-US" altLang="ko-KR" dirty="0"/>
              <a:t> simulation </a:t>
            </a:r>
            <a:r>
              <a:rPr kumimoji="1" lang="en-US" altLang="ko-KR" dirty="0" err="1"/>
              <a:t>janus</a:t>
            </a:r>
            <a:r>
              <a:rPr kumimoji="1" lang="en-US" altLang="ko-KR" dirty="0"/>
              <a:t> generated </a:t>
            </a: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1452DE-C807-D943-8CCE-857675B89B12}" type="slidenum">
              <a:rPr kumimoji="1" lang="ko-Kore-KR" altLang="en-US" smtClean="0"/>
              <a:t>10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1245942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ko-KR" dirty="0"/>
              <a:t>Flow matching is the </a:t>
            </a:r>
            <a:r>
              <a:rPr kumimoji="1" lang="en-US" altLang="ko-KR" dirty="0" err="1"/>
              <a:t>tryes</a:t>
            </a:r>
            <a:r>
              <a:rPr kumimoji="1" lang="en-US" altLang="ko-KR" dirty="0"/>
              <a:t> to learn the flow that transport the source distribution p0 to data </a:t>
            </a:r>
            <a:r>
              <a:rPr kumimoji="1" lang="en-US" altLang="ko-KR" dirty="0" err="1"/>
              <a:t>distrubtion</a:t>
            </a:r>
            <a:r>
              <a:rPr kumimoji="1" lang="en-US" altLang="ko-KR" dirty="0"/>
              <a:t> q</a:t>
            </a:r>
          </a:p>
          <a:p>
            <a:endParaRPr kumimoji="1" lang="en-US" altLang="ko-KR" dirty="0"/>
          </a:p>
          <a:p>
            <a:r>
              <a:rPr kumimoji="1" lang="en-US" altLang="ko-KR" dirty="0"/>
              <a:t>Flow here is a solution to the </a:t>
            </a:r>
            <a:r>
              <a:rPr kumimoji="1" lang="en-US" altLang="ko-KR" dirty="0" err="1"/>
              <a:t>vectrior</a:t>
            </a:r>
            <a:r>
              <a:rPr kumimoji="1" lang="en-US" altLang="ko-KR" dirty="0"/>
              <a:t> field with means the point of the source distribution move </a:t>
            </a:r>
            <a:r>
              <a:rPr kumimoji="1" lang="en-US" altLang="ko-KR" dirty="0" err="1"/>
              <a:t>aloung</a:t>
            </a:r>
            <a:r>
              <a:rPr kumimoji="1" lang="en-US" altLang="ko-KR" dirty="0"/>
              <a:t> the vector </a:t>
            </a:r>
            <a:r>
              <a:rPr kumimoji="1" lang="en-US" altLang="ko-KR" dirty="0" err="1"/>
              <a:t>fild</a:t>
            </a:r>
            <a:endParaRPr kumimoji="1" lang="en-US" altLang="ko-KR" dirty="0"/>
          </a:p>
          <a:p>
            <a:endParaRPr kumimoji="1" lang="en-US" altLang="ko-KR" dirty="0"/>
          </a:p>
          <a:p>
            <a:r>
              <a:rPr kumimoji="1" lang="en-US" altLang="ko-KR" dirty="0"/>
              <a:t>If we </a:t>
            </a:r>
            <a:r>
              <a:rPr kumimoji="1" lang="en-US" altLang="ko-KR" dirty="0" err="1"/>
              <a:t>larning</a:t>
            </a:r>
            <a:r>
              <a:rPr kumimoji="1" lang="en-US" altLang="ko-KR" dirty="0"/>
              <a:t> the flow </a:t>
            </a:r>
            <a:r>
              <a:rPr kumimoji="1" lang="en-US" altLang="ko-KR" dirty="0" err="1"/>
              <a:t>propaly</a:t>
            </a:r>
            <a:r>
              <a:rPr kumimoji="1" lang="en-US" altLang="ko-KR" dirty="0"/>
              <a:t> </a:t>
            </a: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1452DE-C807-D943-8CCE-857675B89B12}" type="slidenum">
              <a:rPr kumimoji="1" lang="ko-Kore-KR" altLang="en-US" smtClean="0"/>
              <a:t>15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24245120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앞에 설명한 것처럼 </a:t>
            </a:r>
            <a:r>
              <a:rPr kumimoji="1" lang="en-US" altLang="ko-KR" dirty="0"/>
              <a:t>CC</a:t>
            </a:r>
            <a:r>
              <a:rPr kumimoji="1" lang="ko-KR" altLang="en-US" dirty="0"/>
              <a:t> </a:t>
            </a:r>
            <a:r>
              <a:rPr kumimoji="1" lang="en-US" altLang="ko-KR" dirty="0"/>
              <a:t>muon</a:t>
            </a:r>
            <a:r>
              <a:rPr kumimoji="1" lang="ko-KR" altLang="en-US" dirty="0"/>
              <a:t>만이 </a:t>
            </a:r>
            <a:r>
              <a:rPr kumimoji="1" lang="en-US" altLang="ko-KR" dirty="0"/>
              <a:t>track like signature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만든다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이런 </a:t>
            </a:r>
            <a:r>
              <a:rPr kumimoji="1" lang="en-US" altLang="ko-KR" dirty="0"/>
              <a:t>track signature</a:t>
            </a:r>
            <a:r>
              <a:rPr kumimoji="1" lang="ko-KR" altLang="en-US" dirty="0"/>
              <a:t>덕분에 </a:t>
            </a:r>
            <a:r>
              <a:rPr kumimoji="1" lang="en-US" altLang="ko-KR" dirty="0" err="1"/>
              <a:t>angulare</a:t>
            </a:r>
            <a:r>
              <a:rPr kumimoji="1" lang="en-US" altLang="ko-KR" dirty="0"/>
              <a:t> resolution</a:t>
            </a:r>
            <a:r>
              <a:rPr kumimoji="1" lang="ko-KR" altLang="en-US" dirty="0"/>
              <a:t>이 상대적으로 좋다 </a:t>
            </a:r>
            <a:r>
              <a:rPr kumimoji="1" lang="en-US" altLang="ko-KR" dirty="0"/>
              <a:t>1</a:t>
            </a:r>
            <a:r>
              <a:rPr kumimoji="1" lang="ko-KR" altLang="en-US" dirty="0"/>
              <a:t>도 정도 그래서 </a:t>
            </a:r>
            <a:r>
              <a:rPr kumimoji="1" lang="ko-KR" altLang="en-US" dirty="0" err="1"/>
              <a:t>뉴트리노</a:t>
            </a:r>
            <a:r>
              <a:rPr kumimoji="1" lang="ko-KR" altLang="en-US" dirty="0"/>
              <a:t> 소스 </a:t>
            </a:r>
            <a:r>
              <a:rPr kumimoji="1" lang="ko-KR" altLang="en-US" dirty="0" err="1"/>
              <a:t>서치의</a:t>
            </a:r>
            <a:r>
              <a:rPr kumimoji="1" lang="ko-KR" altLang="en-US" dirty="0"/>
              <a:t> 주요한 </a:t>
            </a:r>
            <a:r>
              <a:rPr kumimoji="1" lang="en-US" altLang="ko-KR" dirty="0"/>
              <a:t>channel</a:t>
            </a:r>
            <a:r>
              <a:rPr kumimoji="1" lang="ko-KR" altLang="en-US" dirty="0"/>
              <a:t>이다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1452DE-C807-D943-8CCE-857675B89B12}" type="slidenum">
              <a:rPr kumimoji="1" lang="ko-Kore-KR" altLang="en-US" smtClean="0"/>
              <a:t>17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9368362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조금 길었다 이거는 간략하게 인 </a:t>
            </a:r>
            <a:r>
              <a:rPr kumimoji="1" lang="ko-KR" altLang="en-US" dirty="0" err="1"/>
              <a:t>컨클루션</a:t>
            </a:r>
            <a:r>
              <a:rPr kumimoji="1" lang="ko-KR" altLang="en-US" dirty="0"/>
              <a:t> 하지 말고 다른 말로 바꾸지 말고</a:t>
            </a:r>
            <a:endParaRPr kumimoji="1" lang="en-US" altLang="ko-KR" dirty="0"/>
          </a:p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1452DE-C807-D943-8CCE-857675B89B12}" type="slidenum">
              <a:rPr kumimoji="1" lang="ko-Kore-KR" altLang="en-US" smtClean="0"/>
              <a:t>18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27447361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" altLang="ko-KR" dirty="0"/>
              <a:t>first step, called “line-fit.” It simply finds the track that minimizes the squared distance errors between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" altLang="ko-KR" dirty="0"/>
              <a:t>the triggered DOMs and the track. 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1452DE-C807-D943-8CCE-857675B89B12}" type="slidenum">
              <a:rPr kumimoji="1" lang="ko-Kore-KR" altLang="en-US" smtClean="0"/>
              <a:t>19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93985669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ko-Kore-KR" dirty="0"/>
              <a:t>The next step is called likelihood based reconstruction </a:t>
            </a:r>
            <a:r>
              <a:rPr kumimoji="1" lang="en-US" altLang="ko-Kore-KR" dirty="0" err="1"/>
              <a:t>PandelSPE</a:t>
            </a:r>
            <a:r>
              <a:rPr kumimoji="1" lang="en-US" altLang="ko-Kore-KR" dirty="0"/>
              <a:t>.</a:t>
            </a:r>
          </a:p>
          <a:p>
            <a:r>
              <a:rPr kumimoji="1" lang="en-US" altLang="ko-Kore-KR" dirty="0"/>
              <a:t>SPE stands for Single Photo Electron, which means it uses only the first photon information for the likelihood</a:t>
            </a:r>
          </a:p>
          <a:p>
            <a:r>
              <a:rPr kumimoji="1" lang="en-US" altLang="ko-Kore-KR" dirty="0"/>
              <a:t>And </a:t>
            </a:r>
            <a:r>
              <a:rPr kumimoji="1" lang="en-US" altLang="ko-Kore-KR" dirty="0" err="1"/>
              <a:t>Pandel</a:t>
            </a:r>
            <a:r>
              <a:rPr kumimoji="1" lang="en-US" altLang="ko-Kore-KR" dirty="0"/>
              <a:t> is the name of the pdf we are going to use in this likelihood.</a:t>
            </a:r>
          </a:p>
          <a:p>
            <a:endParaRPr kumimoji="1" lang="en-US" altLang="ko-Kore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1452DE-C807-D943-8CCE-857675B89B12}" type="slidenum">
              <a:rPr kumimoji="1" lang="ko-Kore-KR" altLang="en-US" smtClean="0"/>
              <a:t>20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46000879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ko-Kore-KR" dirty="0"/>
              <a:t>The next step is called likelihood based reconstruction </a:t>
            </a:r>
            <a:r>
              <a:rPr kumimoji="1" lang="en-US" altLang="ko-Kore-KR" dirty="0" err="1"/>
              <a:t>PandelSPE</a:t>
            </a:r>
            <a:r>
              <a:rPr kumimoji="1" lang="en-US" altLang="ko-Kore-KR" dirty="0"/>
              <a:t>.</a:t>
            </a:r>
          </a:p>
          <a:p>
            <a:r>
              <a:rPr kumimoji="1" lang="en-US" altLang="ko-Kore-KR" dirty="0"/>
              <a:t>SPE stands for Single Photo Electron, which means it uses only the first photon information for the likelihood</a:t>
            </a:r>
          </a:p>
          <a:p>
            <a:r>
              <a:rPr kumimoji="1" lang="en-US" altLang="ko-Kore-KR" dirty="0"/>
              <a:t>And </a:t>
            </a:r>
            <a:r>
              <a:rPr kumimoji="1" lang="en-US" altLang="ko-Kore-KR" dirty="0" err="1"/>
              <a:t>Pandel</a:t>
            </a:r>
            <a:r>
              <a:rPr kumimoji="1" lang="en-US" altLang="ko-Kore-KR" dirty="0"/>
              <a:t> is the name of the pdf we are going to use in this likelihood.</a:t>
            </a:r>
          </a:p>
          <a:p>
            <a:endParaRPr kumimoji="1" lang="en-US" altLang="ko-Kore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1452DE-C807-D943-8CCE-857675B89B12}" type="slidenum">
              <a:rPr kumimoji="1" lang="ko-Kore-KR" altLang="en-US" smtClean="0"/>
              <a:t>21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63034885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>
              <a:buFont typeface="시스템 서체 일반체"/>
              <a:buChar char="o"/>
            </a:pPr>
            <a:r>
              <a:rPr kumimoji="1" lang="en-US" altLang="ko-Kore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 we know that scattering &amp; absorption length varies over depth.</a:t>
            </a:r>
          </a:p>
          <a:p>
            <a:pPr marL="342900" indent="-342900">
              <a:buFont typeface="시스템 서체 일반체"/>
              <a:buChar char="o"/>
            </a:pPr>
            <a:r>
              <a:rPr kumimoji="1" lang="en-US" altLang="ko-Kore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 setting absorption &amp; scattering length fixed , which is done in </a:t>
            </a:r>
            <a:r>
              <a:rPr kumimoji="1" lang="en-US" altLang="ko-Kore-K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Pandel</a:t>
            </a:r>
            <a:r>
              <a:rPr kumimoji="1" lang="en-US" altLang="ko-Kore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MPE, is not great option</a:t>
            </a:r>
          </a:p>
          <a:p>
            <a:endParaRPr lang="en" altLang="ko-KR" dirty="0"/>
          </a:p>
          <a:p>
            <a:r>
              <a:rPr lang="en" altLang="ko-KR" dirty="0" err="1"/>
              <a:t>SplineMPE</a:t>
            </a:r>
            <a:r>
              <a:rPr lang="en" altLang="ko-KR" dirty="0"/>
              <a:t> ,which is next reconstruction method after the result of </a:t>
            </a:r>
            <a:r>
              <a:rPr lang="en" altLang="ko-KR" dirty="0" err="1"/>
              <a:t>PandelMPE,addresses</a:t>
            </a:r>
            <a:r>
              <a:rPr lang="en" altLang="ko-KR" dirty="0"/>
              <a:t> the fact that scattering and absorption lengths vary with depth, </a:t>
            </a:r>
          </a:p>
          <a:p>
            <a:endParaRPr lang="en" altLang="ko-KR" dirty="0"/>
          </a:p>
          <a:p>
            <a:r>
              <a:rPr lang="en" altLang="ko-KR" dirty="0"/>
              <a:t>So instead of using the </a:t>
            </a:r>
            <a:r>
              <a:rPr lang="en" altLang="ko-KR" dirty="0" err="1"/>
              <a:t>Pandel</a:t>
            </a:r>
            <a:r>
              <a:rPr lang="en" altLang="ko-KR" dirty="0"/>
              <a:t> function,</a:t>
            </a:r>
          </a:p>
          <a:p>
            <a:r>
              <a:rPr lang="en" altLang="ko-KR" dirty="0"/>
              <a:t>it builds the PDF from binned light distribution tables, which is generated by the simulation with the </a:t>
            </a:r>
            <a:r>
              <a:rPr lang="en" altLang="ko-KR" dirty="0" err="1"/>
              <a:t>IceModel</a:t>
            </a:r>
            <a:r>
              <a:rPr lang="en" altLang="ko-KR" dirty="0"/>
              <a:t>, with employing B-splines for interpolation.</a:t>
            </a:r>
          </a:p>
          <a:p>
            <a:endParaRPr lang="en" altLang="ko-KR" dirty="0"/>
          </a:p>
          <a:p>
            <a:endParaRPr kumimoji="1" lang="en-US" altLang="ko-Kore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1452DE-C807-D943-8CCE-857675B89B12}" type="slidenum">
              <a:rPr kumimoji="1" lang="ko-Kore-KR" altLang="en-US" smtClean="0"/>
              <a:t>22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2977354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0750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D67E150-8BD8-A748-9F7C-A7EE617D5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837" y="811169"/>
            <a:ext cx="2743200" cy="365125"/>
          </a:xfrm>
        </p:spPr>
        <p:txBody>
          <a:bodyPr/>
          <a:lstStyle>
            <a:lvl1pPr>
              <a:defRPr>
                <a:latin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fld id="{683A3AC8-7E39-1245-98E2-08D56C5B5689}" type="slidenum">
              <a:rPr kumimoji="1" lang="ko-Kore-KR" altLang="en-US" smtClean="0"/>
              <a:pPr/>
              <a:t>‹#›</a:t>
            </a:fld>
            <a:endParaRPr kumimoji="1" lang="ko-Kore-KR" altLang="en-US"/>
          </a:p>
        </p:txBody>
      </p:sp>
      <p:cxnSp>
        <p:nvCxnSpPr>
          <p:cNvPr id="4" name="직선 연결선[R] 3">
            <a:extLst>
              <a:ext uri="{FF2B5EF4-FFF2-40B4-BE49-F238E27FC236}">
                <a16:creationId xmlns:a16="http://schemas.microsoft.com/office/drawing/2014/main" id="{65CA5B67-325C-DE43-BDD6-0B20468822D3}"/>
              </a:ext>
            </a:extLst>
          </p:cNvPr>
          <p:cNvCxnSpPr>
            <a:cxnSpLocks/>
          </p:cNvCxnSpPr>
          <p:nvPr userDrawn="1"/>
        </p:nvCxnSpPr>
        <p:spPr>
          <a:xfrm>
            <a:off x="334963" y="1101344"/>
            <a:ext cx="11522075" cy="0"/>
          </a:xfrm>
          <a:prstGeom prst="line">
            <a:avLst/>
          </a:prstGeom>
          <a:ln w="19050">
            <a:gradFill flip="none" rotWithShape="1">
              <a:gsLst>
                <a:gs pos="0">
                  <a:schemeClr val="bg1"/>
                </a:gs>
                <a:gs pos="39000">
                  <a:srgbClr val="76D6FF"/>
                </a:gs>
                <a:gs pos="99000">
                  <a:schemeClr val="accent5">
                    <a:lumMod val="75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D4EA570A-5F00-5444-BA5F-9427A6F354E7}"/>
              </a:ext>
            </a:extLst>
          </p:cNvPr>
          <p:cNvSpPr txBox="1"/>
          <p:nvPr userDrawn="1"/>
        </p:nvSpPr>
        <p:spPr>
          <a:xfrm>
            <a:off x="1146580" y="226597"/>
            <a:ext cx="6015582" cy="3282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en-US" altLang="ko-KR" sz="1400" spc="-70" dirty="0">
                <a:solidFill>
                  <a:schemeClr val="tx1">
                    <a:lumMod val="95000"/>
                    <a:lumOff val="5000"/>
                  </a:schemeClr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Subtitle</a:t>
            </a:r>
            <a:endParaRPr kumimoji="1" lang="ko-KR" altLang="en-US" sz="1400" spc="-70" dirty="0">
              <a:solidFill>
                <a:schemeClr val="tx1">
                  <a:lumMod val="95000"/>
                  <a:lumOff val="5000"/>
                </a:schemeClr>
              </a:solidFill>
              <a:latin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AD07CC6-FD67-2045-8A1C-6A829301E209}"/>
              </a:ext>
            </a:extLst>
          </p:cNvPr>
          <p:cNvSpPr/>
          <p:nvPr userDrawn="1"/>
        </p:nvSpPr>
        <p:spPr>
          <a:xfrm>
            <a:off x="334963" y="294833"/>
            <a:ext cx="811617" cy="811617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5000"/>
                  <a:alpha val="95051"/>
                </a:schemeClr>
              </a:gs>
              <a:gs pos="23000">
                <a:schemeClr val="accent5">
                  <a:lumMod val="40000"/>
                  <a:lumOff val="60000"/>
                </a:schemeClr>
              </a:gs>
              <a:gs pos="49000">
                <a:srgbClr val="76A6D2"/>
              </a:gs>
              <a:gs pos="76000">
                <a:schemeClr val="accent5">
                  <a:lumMod val="7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2800" b="1" dirty="0">
                <a:solidFill>
                  <a:schemeClr val="bg1">
                    <a:lumMod val="9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01</a:t>
            </a:r>
            <a:endParaRPr kumimoji="1" lang="ko-KR" altLang="en-US" sz="2800" b="1" dirty="0">
              <a:solidFill>
                <a:schemeClr val="bg1">
                  <a:lumMod val="95000"/>
                </a:schemeClr>
              </a:solidFill>
              <a:latin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id="{B7D5B189-4D4A-C04A-9755-CF81B66E1A3E}"/>
              </a:ext>
            </a:extLst>
          </p:cNvPr>
          <p:cNvSpPr txBox="1">
            <a:spLocks/>
          </p:cNvSpPr>
          <p:nvPr userDrawn="1"/>
        </p:nvSpPr>
        <p:spPr>
          <a:xfrm>
            <a:off x="1146580" y="479416"/>
            <a:ext cx="6809513" cy="631869"/>
          </a:xfrm>
          <a:prstGeom prst="rect">
            <a:avLst/>
          </a:prstGeom>
        </p:spPr>
        <p:txBody>
          <a:bodyPr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en-US" sz="5000" b="1" spc="-15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Title</a:t>
            </a:r>
            <a:endParaRPr kumimoji="1" lang="ko-Kore-KR" altLang="en-US" sz="5000" b="1" spc="-150" dirty="0">
              <a:latin typeface="Helvetica Neue" panose="02000503000000020004" pitchFamily="2" charset="0"/>
              <a:cs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15505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(번호만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A2405C9C-F768-B749-8752-7622E9C56A8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13836" y="806689"/>
            <a:ext cx="2743200" cy="365125"/>
          </a:xfrm>
        </p:spPr>
        <p:txBody>
          <a:bodyPr/>
          <a:lstStyle/>
          <a:p>
            <a:fld id="{683A3AC8-7E39-1245-98E2-08D56C5B5689}" type="slidenum">
              <a:rPr kumimoji="1" lang="ko-Kore-KR" altLang="en-US" smtClean="0"/>
              <a:pPr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539392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엔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3776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9803F6-0FC5-1243-9A03-089B9EF95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F3A8475-8954-0440-8E85-23DE33124A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00333E8-1B57-EC46-8934-CF4A45ED0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D7B12-C98D-0B45-B0C6-3B31AB79C0A9}" type="datetime1">
              <a:rPr kumimoji="1" lang="ko-KR" altLang="en-US" smtClean="0"/>
              <a:t>2026. 5. 15.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EA56E04-135F-464D-A039-BEFFA4CAF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ko-Kore-KR"/>
              <a:t>Group Meeting</a:t>
            </a:r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D67E150-8BD8-A748-9F7C-A7EE617D5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A3AC8-7E39-1245-98E2-08D56C5B5689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4915232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38CD0CE-2F71-3342-8194-985FC0AB17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13837" y="8666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aseline="0">
                <a:solidFill>
                  <a:srgbClr val="76D6FF"/>
                </a:solidFill>
                <a:latin typeface="Helvetica Neue" panose="02000503000000020004" pitchFamily="2" charset="0"/>
              </a:defRPr>
            </a:lvl1pPr>
          </a:lstStyle>
          <a:p>
            <a:fld id="{683A3AC8-7E39-1245-98E2-08D56C5B5689}" type="slidenum">
              <a:rPr kumimoji="1" lang="ko-Kore-KR" altLang="en-US" smtClean="0"/>
              <a:pPr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645976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0" r:id="rId2"/>
    <p:sldLayoutId id="2147483655" r:id="rId3"/>
    <p:sldLayoutId id="2147483649" r:id="rId4"/>
    <p:sldLayoutId id="2147483657" r:id="rId5"/>
  </p:sldLayoutIdLst>
  <p:hf hdr="0" ft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ore-KR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7.png"/><Relationship Id="rId11" Type="http://schemas.openxmlformats.org/officeDocument/2006/relationships/image" Target="../media/image15.emf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Relationship Id="rId14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6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6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8.png"/><Relationship Id="rId4" Type="http://schemas.openxmlformats.org/officeDocument/2006/relationships/image" Target="../media/image3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microsoft.com/office/2007/relationships/media" Target="../media/media2.mp4"/><Relationship Id="rId7" Type="http://schemas.openxmlformats.org/officeDocument/2006/relationships/image" Target="../media/image40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4.xml"/><Relationship Id="rId4" Type="http://schemas.openxmlformats.org/officeDocument/2006/relationships/video" Target="../media/media2.mp4"/><Relationship Id="rId9" Type="http://schemas.openxmlformats.org/officeDocument/2006/relationships/image" Target="../media/image3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5.png"/><Relationship Id="rId5" Type="http://schemas.openxmlformats.org/officeDocument/2006/relationships/image" Target="../media/image43.png"/><Relationship Id="rId4" Type="http://schemas.openxmlformats.org/officeDocument/2006/relationships/image" Target="../media/image4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mailto:pmj0324@g.skku.edu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hyperlink" Target="mailto:pmj032400@naver.com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61.png"/><Relationship Id="rId4" Type="http://schemas.openxmlformats.org/officeDocument/2006/relationships/image" Target="../media/image15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9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13" Type="http://schemas.openxmlformats.org/officeDocument/2006/relationships/image" Target="../media/image56.png"/><Relationship Id="rId18" Type="http://schemas.openxmlformats.org/officeDocument/2006/relationships/image" Target="../media/image61.png"/><Relationship Id="rId3" Type="http://schemas.openxmlformats.org/officeDocument/2006/relationships/image" Target="../media/image14.png"/><Relationship Id="rId7" Type="http://schemas.openxmlformats.org/officeDocument/2006/relationships/image" Target="../media/image53.png"/><Relationship Id="rId12" Type="http://schemas.openxmlformats.org/officeDocument/2006/relationships/image" Target="../media/image240.png"/><Relationship Id="rId17" Type="http://schemas.openxmlformats.org/officeDocument/2006/relationships/image" Target="../media/image60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5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2.png"/><Relationship Id="rId5" Type="http://schemas.openxmlformats.org/officeDocument/2006/relationships/image" Target="../media/image140.png"/><Relationship Id="rId15" Type="http://schemas.openxmlformats.org/officeDocument/2006/relationships/image" Target="../media/image58.png"/><Relationship Id="rId19" Type="http://schemas.openxmlformats.org/officeDocument/2006/relationships/image" Target="../media/image62.png"/><Relationship Id="rId4" Type="http://schemas.openxmlformats.org/officeDocument/2006/relationships/image" Target="../media/image51.png"/><Relationship Id="rId9" Type="http://schemas.openxmlformats.org/officeDocument/2006/relationships/image" Target="../media/image55.png"/><Relationship Id="rId14" Type="http://schemas.openxmlformats.org/officeDocument/2006/relationships/image" Target="../media/image5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3" Type="http://schemas.openxmlformats.org/officeDocument/2006/relationships/image" Target="../media/image440.png"/><Relationship Id="rId7" Type="http://schemas.openxmlformats.org/officeDocument/2006/relationships/image" Target="../media/image66.png"/><Relationship Id="rId12" Type="http://schemas.openxmlformats.org/officeDocument/2006/relationships/image" Target="../media/image53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5.png"/><Relationship Id="rId11" Type="http://schemas.openxmlformats.org/officeDocument/2006/relationships/image" Target="../media/image70.png"/><Relationship Id="rId5" Type="http://schemas.openxmlformats.org/officeDocument/2006/relationships/image" Target="../media/image63.png"/><Relationship Id="rId10" Type="http://schemas.openxmlformats.org/officeDocument/2006/relationships/image" Target="../media/image69.png"/><Relationship Id="rId4" Type="http://schemas.openxmlformats.org/officeDocument/2006/relationships/image" Target="../media/image64.png"/><Relationship Id="rId9" Type="http://schemas.openxmlformats.org/officeDocument/2006/relationships/image" Target="../media/image68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0.png"/><Relationship Id="rId13" Type="http://schemas.openxmlformats.org/officeDocument/2006/relationships/image" Target="../media/image71.png"/><Relationship Id="rId18" Type="http://schemas.openxmlformats.org/officeDocument/2006/relationships/image" Target="../media/image74.png"/><Relationship Id="rId3" Type="http://schemas.openxmlformats.org/officeDocument/2006/relationships/image" Target="../media/image15.emf"/><Relationship Id="rId21" Type="http://schemas.openxmlformats.org/officeDocument/2006/relationships/image" Target="../media/image710.png"/><Relationship Id="rId7" Type="http://schemas.openxmlformats.org/officeDocument/2006/relationships/image" Target="../media/image570.png"/><Relationship Id="rId12" Type="http://schemas.openxmlformats.org/officeDocument/2006/relationships/image" Target="../media/image620.png"/><Relationship Id="rId17" Type="http://schemas.openxmlformats.org/officeDocument/2006/relationships/image" Target="../media/image73.emf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660.png"/><Relationship Id="rId20" Type="http://schemas.openxmlformats.org/officeDocument/2006/relationships/image" Target="../media/image7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60.png"/><Relationship Id="rId11" Type="http://schemas.openxmlformats.org/officeDocument/2006/relationships/image" Target="../media/image610.png"/><Relationship Id="rId5" Type="http://schemas.openxmlformats.org/officeDocument/2006/relationships/image" Target="../media/image48.png"/><Relationship Id="rId15" Type="http://schemas.openxmlformats.org/officeDocument/2006/relationships/image" Target="../media/image650.png"/><Relationship Id="rId10" Type="http://schemas.openxmlformats.org/officeDocument/2006/relationships/image" Target="../media/image600.png"/><Relationship Id="rId19" Type="http://schemas.openxmlformats.org/officeDocument/2006/relationships/image" Target="../media/image75.emf"/><Relationship Id="rId4" Type="http://schemas.openxmlformats.org/officeDocument/2006/relationships/image" Target="../media/image14.png"/><Relationship Id="rId9" Type="http://schemas.openxmlformats.org/officeDocument/2006/relationships/image" Target="../media/image590.png"/><Relationship Id="rId14" Type="http://schemas.openxmlformats.org/officeDocument/2006/relationships/image" Target="../media/image7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3" Type="http://schemas.openxmlformats.org/officeDocument/2006/relationships/image" Target="../media/image63.png"/><Relationship Id="rId7" Type="http://schemas.openxmlformats.org/officeDocument/2006/relationships/image" Target="../media/image6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png"/><Relationship Id="rId3" Type="http://schemas.openxmlformats.org/officeDocument/2006/relationships/image" Target="../media/image78.png"/><Relationship Id="rId7" Type="http://schemas.openxmlformats.org/officeDocument/2006/relationships/image" Target="../media/image6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4" Type="http://schemas.openxmlformats.org/officeDocument/2006/relationships/image" Target="../media/image6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2.png"/><Relationship Id="rId4" Type="http://schemas.openxmlformats.org/officeDocument/2006/relationships/image" Target="../media/image8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83000" b="-8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42D75CE6-412B-7B46-A2AF-61ED0F144E2D}"/>
              </a:ext>
            </a:extLst>
          </p:cNvPr>
          <p:cNvSpPr/>
          <p:nvPr/>
        </p:nvSpPr>
        <p:spPr>
          <a:xfrm>
            <a:off x="0" y="1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2000">
                <a:schemeClr val="tx1">
                  <a:alpha val="36000"/>
                </a:schemeClr>
              </a:gs>
              <a:gs pos="86000">
                <a:schemeClr val="tx1">
                  <a:alpha val="82000"/>
                </a:schemeClr>
              </a:gs>
              <a:gs pos="68000">
                <a:schemeClr val="tx1">
                  <a:alpha val="82000"/>
                </a:schemeClr>
              </a:gs>
            </a:gsLst>
            <a:lin ang="6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643D22-AE7B-9340-9024-D0EFA909DDCE}"/>
              </a:ext>
            </a:extLst>
          </p:cNvPr>
          <p:cNvSpPr txBox="1"/>
          <p:nvPr/>
        </p:nvSpPr>
        <p:spPr>
          <a:xfrm>
            <a:off x="204788" y="4351373"/>
            <a:ext cx="1219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en-US" sz="4400" b="1" dirty="0">
                <a:gradFill>
                  <a:gsLst>
                    <a:gs pos="0">
                      <a:schemeClr val="accent5">
                        <a:lumMod val="20000"/>
                        <a:lumOff val="80000"/>
                      </a:schemeClr>
                    </a:gs>
                    <a:gs pos="53000">
                      <a:srgbClr val="76D6FF">
                        <a:lumMod val="46000"/>
                        <a:lumOff val="54000"/>
                      </a:srgbClr>
                    </a:gs>
                    <a:gs pos="98000">
                      <a:srgbClr val="0096FF">
                        <a:lumMod val="89828"/>
                        <a:lumOff val="10172"/>
                      </a:srgbClr>
                    </a:gs>
                  </a:gsLst>
                  <a:lin ang="7200000" scaled="0"/>
                </a:gra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Generative AI for Neutrino Event in </a:t>
            </a:r>
            <a:r>
              <a:rPr kumimoji="1" lang="en-US" altLang="en-US" sz="4400" b="1" dirty="0" err="1">
                <a:gradFill>
                  <a:gsLst>
                    <a:gs pos="0">
                      <a:schemeClr val="accent5">
                        <a:lumMod val="20000"/>
                        <a:lumOff val="80000"/>
                      </a:schemeClr>
                    </a:gs>
                    <a:gs pos="53000">
                      <a:srgbClr val="76D6FF">
                        <a:lumMod val="46000"/>
                        <a:lumOff val="54000"/>
                      </a:srgbClr>
                    </a:gs>
                    <a:gs pos="98000">
                      <a:srgbClr val="0096FF">
                        <a:lumMod val="89828"/>
                        <a:lumOff val="10172"/>
                      </a:srgbClr>
                    </a:gs>
                  </a:gsLst>
                  <a:lin ang="7200000" scaled="0"/>
                </a:gra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IceCube</a:t>
            </a:r>
            <a:endParaRPr kumimoji="1" lang="en-US" altLang="en-US" sz="4400" b="1" dirty="0">
              <a:gradFill>
                <a:gsLst>
                  <a:gs pos="0">
                    <a:schemeClr val="accent5">
                      <a:lumMod val="20000"/>
                      <a:lumOff val="80000"/>
                    </a:schemeClr>
                  </a:gs>
                  <a:gs pos="53000">
                    <a:srgbClr val="76D6FF">
                      <a:lumMod val="46000"/>
                      <a:lumOff val="54000"/>
                    </a:srgbClr>
                  </a:gs>
                  <a:gs pos="98000">
                    <a:srgbClr val="0096FF">
                      <a:lumMod val="89828"/>
                      <a:lumOff val="10172"/>
                    </a:srgbClr>
                  </a:gs>
                </a:gsLst>
                <a:lin ang="7200000" scaled="0"/>
              </a:gra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6F01D2-3B04-7D42-848C-41BA341CD48E}"/>
              </a:ext>
            </a:extLst>
          </p:cNvPr>
          <p:cNvSpPr txBox="1"/>
          <p:nvPr/>
        </p:nvSpPr>
        <p:spPr>
          <a:xfrm>
            <a:off x="7124417" y="5842624"/>
            <a:ext cx="46706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en-US" sz="1200" b="1" dirty="0">
                <a:gradFill flip="none" rotWithShape="1">
                  <a:gsLst>
                    <a:gs pos="10000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chemeClr val="accent1"/>
                    </a:gs>
                  </a:gsLst>
                  <a:lin ang="10800000" scaled="1"/>
                  <a:tileRect/>
                </a:gradFill>
                <a:latin typeface="Georgia" panose="02040502050405020303" pitchFamily="18" charset="0"/>
                <a:ea typeface="Helvetica Neue" panose="02000503000000020004" pitchFamily="2" charset="0"/>
                <a:cs typeface="Times New Roman" panose="02020603050405020304" pitchFamily="18" charset="0"/>
              </a:rPr>
              <a:t>104</a:t>
            </a:r>
            <a:r>
              <a:rPr kumimoji="1" lang="en-US" altLang="en-US" sz="1200" b="1" baseline="30000" dirty="0">
                <a:gradFill flip="none" rotWithShape="1">
                  <a:gsLst>
                    <a:gs pos="10000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chemeClr val="accent1"/>
                    </a:gs>
                  </a:gsLst>
                  <a:lin ang="10800000" scaled="1"/>
                  <a:tileRect/>
                </a:gradFill>
                <a:latin typeface="Georgia" panose="02040502050405020303" pitchFamily="18" charset="0"/>
                <a:ea typeface="Helvetica Neue" panose="02000503000000020004" pitchFamily="2" charset="0"/>
                <a:cs typeface="Times New Roman" panose="02020603050405020304" pitchFamily="18" charset="0"/>
              </a:rPr>
              <a:t>th</a:t>
            </a:r>
            <a:r>
              <a:rPr kumimoji="1" lang="en-US" altLang="en-US" sz="1200" b="1" dirty="0">
                <a:gradFill flip="none" rotWithShape="1">
                  <a:gsLst>
                    <a:gs pos="10000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chemeClr val="accent1"/>
                    </a:gs>
                  </a:gsLst>
                  <a:lin ang="10800000" scaled="1"/>
                  <a:tileRect/>
                </a:gradFill>
                <a:latin typeface="Georgia" panose="02040502050405020303" pitchFamily="18" charset="0"/>
                <a:ea typeface="Helvetica Neue" panose="02000503000000020004" pitchFamily="2" charset="0"/>
                <a:cs typeface="Times New Roman" panose="02020603050405020304" pitchFamily="18" charset="0"/>
              </a:rPr>
              <a:t> KPS Spring Meeting</a:t>
            </a:r>
          </a:p>
          <a:p>
            <a:pPr algn="r"/>
            <a:r>
              <a:rPr kumimoji="1" lang="en-US" altLang="en-US" sz="1200" b="1" dirty="0">
                <a:gradFill flip="none" rotWithShape="1">
                  <a:gsLst>
                    <a:gs pos="10000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chemeClr val="accent1"/>
                    </a:gs>
                  </a:gsLst>
                  <a:lin ang="10800000" scaled="1"/>
                  <a:tileRect/>
                </a:gradFill>
                <a:latin typeface="Georgia" panose="02040502050405020303" pitchFamily="18" charset="0"/>
                <a:ea typeface="Helvetica Neue" panose="02000503000000020004" pitchFamily="2" charset="0"/>
                <a:cs typeface="Times New Roman" panose="02020603050405020304" pitchFamily="18" charset="0"/>
              </a:rPr>
              <a:t>Sungkyunkwan University| Department of Physics</a:t>
            </a:r>
          </a:p>
          <a:p>
            <a:pPr algn="r"/>
            <a:r>
              <a:rPr kumimoji="1" lang="en-US" altLang="en-US" sz="1200" b="1" dirty="0" err="1">
                <a:gradFill flip="none" rotWithShape="1">
                  <a:gsLst>
                    <a:gs pos="10000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chemeClr val="accent1"/>
                    </a:gs>
                  </a:gsLst>
                  <a:lin ang="10800000" scaled="1"/>
                  <a:tileRect/>
                </a:gradFill>
                <a:latin typeface="Georgia" panose="02040502050405020303" pitchFamily="18" charset="0"/>
                <a:ea typeface="Helvetica Neue" panose="02000503000000020004" pitchFamily="2" charset="0"/>
                <a:cs typeface="Times New Roman" panose="02020603050405020304" pitchFamily="18" charset="0"/>
              </a:rPr>
              <a:t>Minje</a:t>
            </a:r>
            <a:r>
              <a:rPr kumimoji="1" lang="en-US" altLang="en-US" sz="1200" b="1" dirty="0">
                <a:gradFill flip="none" rotWithShape="1">
                  <a:gsLst>
                    <a:gs pos="10000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chemeClr val="accent1"/>
                    </a:gs>
                  </a:gsLst>
                  <a:lin ang="10800000" scaled="1"/>
                  <a:tileRect/>
                </a:gradFill>
                <a:latin typeface="Georgia" panose="02040502050405020303" pitchFamily="18" charset="0"/>
                <a:ea typeface="Helvetica Neue" panose="02000503000000020004" pitchFamily="2" charset="0"/>
                <a:cs typeface="Times New Roman" panose="02020603050405020304" pitchFamily="18" charset="0"/>
              </a:rPr>
              <a:t> Park, </a:t>
            </a:r>
            <a:r>
              <a:rPr kumimoji="1" lang="en-US" altLang="en-US" sz="1200" b="1" dirty="0" err="1">
                <a:gradFill flip="none" rotWithShape="1">
                  <a:gsLst>
                    <a:gs pos="10000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chemeClr val="accent1"/>
                    </a:gs>
                  </a:gsLst>
                  <a:lin ang="10800000" scaled="1"/>
                  <a:tileRect/>
                </a:gradFill>
                <a:latin typeface="Georgia" panose="02040502050405020303" pitchFamily="18" charset="0"/>
                <a:ea typeface="Helvetica Neue" panose="02000503000000020004" pitchFamily="2" charset="0"/>
                <a:cs typeface="Times New Roman" panose="02020603050405020304" pitchFamily="18" charset="0"/>
              </a:rPr>
              <a:t>Teayun</a:t>
            </a:r>
            <a:r>
              <a:rPr kumimoji="1" lang="en-US" altLang="en-US" sz="1200" b="1" dirty="0">
                <a:gradFill flip="none" rotWithShape="1">
                  <a:gsLst>
                    <a:gs pos="10000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chemeClr val="accent1"/>
                    </a:gs>
                  </a:gsLst>
                  <a:lin ang="10800000" scaled="1"/>
                  <a:tileRect/>
                </a:gradFill>
                <a:latin typeface="Georgia" panose="02040502050405020303" pitchFamily="18" charset="0"/>
                <a:ea typeface="Helvetica Neue" panose="02000503000000020004" pitchFamily="2" charset="0"/>
                <a:cs typeface="Times New Roman" panose="02020603050405020304" pitchFamily="18" charset="0"/>
              </a:rPr>
              <a:t> Kim, Chang Dong Rho</a:t>
            </a:r>
            <a:endParaRPr kumimoji="1" lang="en-US" altLang="ko-KR" sz="1200" b="1" dirty="0">
              <a:gradFill flip="none" rotWithShape="1">
                <a:gsLst>
                  <a:gs pos="100000">
                    <a:schemeClr val="accent1">
                      <a:lumMod val="5000"/>
                      <a:lumOff val="95000"/>
                    </a:schemeClr>
                  </a:gs>
                  <a:gs pos="100000">
                    <a:schemeClr val="accent1"/>
                  </a:gs>
                </a:gsLst>
                <a:lin ang="10800000" scaled="1"/>
                <a:tileRect/>
              </a:gradFill>
              <a:latin typeface="Georgia" panose="02040502050405020303" pitchFamily="18" charset="0"/>
              <a:ea typeface="Helvetica Neue" panose="02000503000000020004" pitchFamily="2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8297DA-67E0-F040-BF92-EF9D2274156E}"/>
              </a:ext>
            </a:extLst>
          </p:cNvPr>
          <p:cNvSpPr txBox="1"/>
          <p:nvPr/>
        </p:nvSpPr>
        <p:spPr>
          <a:xfrm>
            <a:off x="334962" y="5020053"/>
            <a:ext cx="112360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Event Generation Using Optimal Transport Flow Matching</a:t>
            </a:r>
            <a:endParaRPr kumimoji="1" lang="ko-Kore-KR" altLang="en-US" sz="2400" dirty="0">
              <a:solidFill>
                <a:schemeClr val="bg1"/>
              </a:solidFill>
              <a:latin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cxnSp>
        <p:nvCxnSpPr>
          <p:cNvPr id="8" name="직선 연결선[R] 7">
            <a:extLst>
              <a:ext uri="{FF2B5EF4-FFF2-40B4-BE49-F238E27FC236}">
                <a16:creationId xmlns:a16="http://schemas.microsoft.com/office/drawing/2014/main" id="{4C0AD29E-18BA-E447-8800-56120A52D86E}"/>
              </a:ext>
            </a:extLst>
          </p:cNvPr>
          <p:cNvCxnSpPr>
            <a:cxnSpLocks/>
          </p:cNvCxnSpPr>
          <p:nvPr/>
        </p:nvCxnSpPr>
        <p:spPr>
          <a:xfrm>
            <a:off x="334962" y="4944214"/>
            <a:ext cx="11522075" cy="0"/>
          </a:xfrm>
          <a:prstGeom prst="line">
            <a:avLst/>
          </a:prstGeom>
          <a:ln w="19050">
            <a:gradFill flip="none" rotWithShape="1">
              <a:gsLst>
                <a:gs pos="0">
                  <a:schemeClr val="accent5">
                    <a:lumMod val="20000"/>
                    <a:lumOff val="80000"/>
                  </a:schemeClr>
                </a:gs>
                <a:gs pos="58000">
                  <a:srgbClr val="76D6FF"/>
                </a:gs>
                <a:gs pos="100000">
                  <a:srgbClr val="0096FF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50614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그림 15">
            <a:extLst>
              <a:ext uri="{FF2B5EF4-FFF2-40B4-BE49-F238E27FC236}">
                <a16:creationId xmlns:a16="http://schemas.microsoft.com/office/drawing/2014/main" id="{127D21FF-A5D5-4B49-8B9A-AF34A69D04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7705" y="4133352"/>
            <a:ext cx="2634295" cy="3354279"/>
          </a:xfrm>
          <a:prstGeom prst="rect">
            <a:avLst/>
          </a:prstGeom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77B2F82-531A-EA41-941C-17071486B50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113837" y="814498"/>
            <a:ext cx="2743200" cy="365125"/>
          </a:xfrm>
        </p:spPr>
        <p:txBody>
          <a:bodyPr/>
          <a:lstStyle/>
          <a:p>
            <a:fld id="{683A3AC8-7E39-1245-98E2-08D56C5B5689}" type="slidenum">
              <a:rPr kumimoji="1" lang="ko-Kore-KR" altLang="en-US" smtClean="0"/>
              <a:t>2</a:t>
            </a:fld>
            <a:endParaRPr kumimoji="1" lang="ko-Kore-KR" altLang="en-US"/>
          </a:p>
        </p:txBody>
      </p:sp>
      <p:cxnSp>
        <p:nvCxnSpPr>
          <p:cNvPr id="4" name="직선 연결선[R] 3">
            <a:extLst>
              <a:ext uri="{FF2B5EF4-FFF2-40B4-BE49-F238E27FC236}">
                <a16:creationId xmlns:a16="http://schemas.microsoft.com/office/drawing/2014/main" id="{8ACD5E43-4406-0547-9F25-E5BAE9F992AF}"/>
              </a:ext>
            </a:extLst>
          </p:cNvPr>
          <p:cNvCxnSpPr>
            <a:cxnSpLocks/>
          </p:cNvCxnSpPr>
          <p:nvPr/>
        </p:nvCxnSpPr>
        <p:spPr>
          <a:xfrm>
            <a:off x="334963" y="1101344"/>
            <a:ext cx="11522075" cy="0"/>
          </a:xfrm>
          <a:prstGeom prst="line">
            <a:avLst/>
          </a:prstGeom>
          <a:ln w="19050">
            <a:gradFill flip="none" rotWithShape="1">
              <a:gsLst>
                <a:gs pos="0">
                  <a:schemeClr val="bg1"/>
                </a:gs>
                <a:gs pos="39000">
                  <a:srgbClr val="76D6FF"/>
                </a:gs>
                <a:gs pos="99000">
                  <a:schemeClr val="accent5">
                    <a:lumMod val="75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55829DB6-98BD-614C-82C4-EEC75995F310}"/>
              </a:ext>
            </a:extLst>
          </p:cNvPr>
          <p:cNvSpPr txBox="1"/>
          <p:nvPr/>
        </p:nvSpPr>
        <p:spPr>
          <a:xfrm>
            <a:off x="1146580" y="266600"/>
            <a:ext cx="6015582" cy="3282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en-US" altLang="ko-KR" sz="1400" spc="-7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Helvetica Neue Medium" panose="02000503000000020004" pitchFamily="2" charset="0"/>
                <a:cs typeface="Helvetica Neue Medium" panose="02000503000000020004" pitchFamily="2" charset="0"/>
              </a:rPr>
              <a:t>IceCube</a:t>
            </a:r>
            <a:r>
              <a:rPr kumimoji="1" lang="en-US" altLang="ko-KR" sz="1400" spc="-70" dirty="0">
                <a:solidFill>
                  <a:schemeClr val="tx1">
                    <a:lumMod val="95000"/>
                    <a:lumOff val="5000"/>
                  </a:schemeClr>
                </a:solidFill>
                <a:latin typeface="Helvetica Neue Medium" panose="02000503000000020004" pitchFamily="2" charset="0"/>
                <a:cs typeface="Helvetica Neue Medium" panose="02000503000000020004" pitchFamily="2" charset="0"/>
              </a:rPr>
              <a:t> Neutrino Observatory</a:t>
            </a:r>
            <a:endParaRPr kumimoji="1" lang="ko-KR" altLang="en-US" sz="1400" spc="-70" dirty="0">
              <a:solidFill>
                <a:schemeClr val="tx1">
                  <a:lumMod val="95000"/>
                  <a:lumOff val="5000"/>
                </a:schemeClr>
              </a:solidFill>
              <a:latin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D321DE3-6BA4-1343-8CC3-8A9CB74C1965}"/>
              </a:ext>
            </a:extLst>
          </p:cNvPr>
          <p:cNvSpPr/>
          <p:nvPr/>
        </p:nvSpPr>
        <p:spPr>
          <a:xfrm>
            <a:off x="334963" y="294833"/>
            <a:ext cx="811617" cy="811617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5000"/>
                  <a:alpha val="95051"/>
                </a:schemeClr>
              </a:gs>
              <a:gs pos="23000">
                <a:schemeClr val="accent5">
                  <a:lumMod val="40000"/>
                  <a:lumOff val="60000"/>
                </a:schemeClr>
              </a:gs>
              <a:gs pos="49000">
                <a:srgbClr val="76A6D2"/>
              </a:gs>
              <a:gs pos="76000">
                <a:schemeClr val="accent5">
                  <a:lumMod val="7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2800" b="1" dirty="0">
                <a:solidFill>
                  <a:schemeClr val="bg1">
                    <a:lumMod val="9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01</a:t>
            </a:r>
            <a:endParaRPr kumimoji="1" lang="ko-KR" altLang="en-US" sz="2800" b="1" dirty="0">
              <a:solidFill>
                <a:schemeClr val="bg1">
                  <a:lumMod val="95000"/>
                </a:schemeClr>
              </a:solidFill>
              <a:latin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26EDAB15-C1FA-C246-A081-04E2DF2AFDCD}"/>
              </a:ext>
            </a:extLst>
          </p:cNvPr>
          <p:cNvSpPr txBox="1">
            <a:spLocks/>
          </p:cNvSpPr>
          <p:nvPr/>
        </p:nvSpPr>
        <p:spPr>
          <a:xfrm>
            <a:off x="1146580" y="498563"/>
            <a:ext cx="9898840" cy="631869"/>
          </a:xfrm>
          <a:prstGeom prst="rect">
            <a:avLst/>
          </a:prstGeom>
        </p:spPr>
        <p:txBody>
          <a:bodyPr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en-US" sz="5000" b="1" spc="-15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About </a:t>
            </a:r>
            <a:r>
              <a:rPr kumimoji="1" lang="en-US" altLang="en-US" sz="5000" b="1" spc="-15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IceCube</a:t>
            </a:r>
            <a:endParaRPr kumimoji="1" lang="ko-Kore-KR" altLang="en-US" sz="5000" b="1" spc="-150" dirty="0">
              <a:latin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pic>
        <p:nvPicPr>
          <p:cNvPr id="19" name="그림 18" descr="텍스트, 스크린샷, 디자인이(가) 표시된 사진&#10;&#10;자동 생성된 설명">
            <a:extLst>
              <a:ext uri="{FF2B5EF4-FFF2-40B4-BE49-F238E27FC236}">
                <a16:creationId xmlns:a16="http://schemas.microsoft.com/office/drawing/2014/main" id="{BF35B865-0D14-6B41-8B3F-94C8608A1B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038" y="1310180"/>
            <a:ext cx="6605527" cy="495803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CE7D7292-E65B-E343-8E8C-0BBB8D6A1B8A}"/>
              </a:ext>
            </a:extLst>
          </p:cNvPr>
          <p:cNvSpPr txBox="1"/>
          <p:nvPr/>
        </p:nvSpPr>
        <p:spPr>
          <a:xfrm>
            <a:off x="7050275" y="2848549"/>
            <a:ext cx="4936533" cy="120032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>
            <a:defPPr>
              <a:defRPr lang="ko-Kore-KR"/>
            </a:defPPr>
            <a:lvl1pPr marL="285750" indent="-285750">
              <a:buFont typeface="Wingdings" pitchFamily="2" charset="2"/>
              <a:buChar char="§"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0" indent="0">
              <a:buNone/>
            </a:pPr>
            <a:r>
              <a:rPr lang="en" altLang="ko-KR" b="1" dirty="0"/>
              <a:t>Major Achievements</a:t>
            </a:r>
          </a:p>
          <a:p>
            <a:r>
              <a:rPr lang="en" altLang="ko-KR" dirty="0"/>
              <a:t>2013: Discovery of astrophysical neutrinos</a:t>
            </a:r>
          </a:p>
          <a:p>
            <a:r>
              <a:rPr lang="en" altLang="ko-KR" dirty="0"/>
              <a:t>2018: First</a:t>
            </a:r>
            <a:r>
              <a:rPr lang="ko-KR" altLang="en-US" dirty="0"/>
              <a:t> </a:t>
            </a:r>
            <a:r>
              <a:rPr lang="en" altLang="ko-KR" dirty="0"/>
              <a:t>identified </a:t>
            </a:r>
            <a:r>
              <a:rPr lang="en-US" altLang="ko-KR" dirty="0"/>
              <a:t>source </a:t>
            </a:r>
            <a:r>
              <a:rPr lang="en" altLang="ko-KR" dirty="0"/>
              <a:t>— TXS 0506+056</a:t>
            </a:r>
          </a:p>
          <a:p>
            <a:r>
              <a:rPr lang="en" altLang="ko-KR" dirty="0"/>
              <a:t>2023: First neutrino map of the Milky Way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7C6FE30-9831-514A-B6AB-CD3237766A51}"/>
              </a:ext>
            </a:extLst>
          </p:cNvPr>
          <p:cNvSpPr txBox="1"/>
          <p:nvPr/>
        </p:nvSpPr>
        <p:spPr>
          <a:xfrm>
            <a:off x="5381281" y="1197676"/>
            <a:ext cx="6605527" cy="152349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§"/>
            </a:pPr>
            <a:r>
              <a:rPr lang="en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cubic-kilometer neutrino detector at the South Pole</a:t>
            </a:r>
          </a:p>
          <a:p>
            <a:endParaRPr lang="en" altLang="ko-KR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itchFamily="2" charset="2"/>
              <a:buChar char="§"/>
            </a:pP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Configured with </a:t>
            </a:r>
            <a:r>
              <a:rPr lang="en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5,160 Digital Optical Module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</a:t>
            </a:r>
            <a:r>
              <a:rPr lang="en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(DOM)</a:t>
            </a:r>
            <a:endParaRPr lang="en" altLang="ko-KR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" altLang="ko-KR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itchFamily="2" charset="2"/>
              <a:buChar char="§"/>
            </a:pPr>
            <a:r>
              <a:rPr lang="en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Detects neutrino via Cherenkov radiation from particles produced by neutrino interaction</a:t>
            </a:r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CC3EE7FF-94D8-134B-B9E4-9A0578BA83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3210" y="4359041"/>
            <a:ext cx="2612976" cy="2602566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317539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39B584B0-59D6-1349-862F-6C17E6705FBE}"/>
              </a:ext>
            </a:extLst>
          </p:cNvPr>
          <p:cNvSpPr txBox="1"/>
          <p:nvPr/>
        </p:nvSpPr>
        <p:spPr>
          <a:xfrm>
            <a:off x="439734" y="2087350"/>
            <a:ext cx="5352303" cy="132343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r>
              <a:rPr lang="en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DOM records</a:t>
            </a:r>
          </a:p>
          <a:p>
            <a:pPr marL="800100" lvl="1" indent="-342900">
              <a:buFont typeface="Wingdings" pitchFamily="2" charset="2"/>
              <a:buChar char="§"/>
            </a:pPr>
            <a:r>
              <a:rPr lang="en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NPE : 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</a:t>
            </a:r>
            <a:endParaRPr lang="en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Wingdings" pitchFamily="2" charset="2"/>
              <a:buChar char="§"/>
            </a:pPr>
            <a:r>
              <a:rPr lang="en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:</a:t>
            </a:r>
          </a:p>
          <a:p>
            <a:pPr lvl="1"/>
            <a:r>
              <a:rPr lang="en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70105611-D19C-BB41-9FD8-32233803499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7648" t="13168" r="2452" b="36666"/>
          <a:stretch/>
        </p:blipFill>
        <p:spPr>
          <a:xfrm>
            <a:off x="5207777" y="2108608"/>
            <a:ext cx="1168519" cy="1279669"/>
          </a:xfrm>
          <a:prstGeom prst="rect">
            <a:avLst/>
          </a:prstGeom>
        </p:spPr>
      </p:pic>
      <p:sp>
        <p:nvSpPr>
          <p:cNvPr id="48" name="모서리가 둥근 직사각형 47">
            <a:extLst>
              <a:ext uri="{FF2B5EF4-FFF2-40B4-BE49-F238E27FC236}">
                <a16:creationId xmlns:a16="http://schemas.microsoft.com/office/drawing/2014/main" id="{88235B8F-406F-8B48-BECE-939A44D70E55}"/>
              </a:ext>
            </a:extLst>
          </p:cNvPr>
          <p:cNvSpPr/>
          <p:nvPr/>
        </p:nvSpPr>
        <p:spPr>
          <a:xfrm>
            <a:off x="439734" y="3905107"/>
            <a:ext cx="2613903" cy="2079567"/>
          </a:xfrm>
          <a:prstGeom prst="roundRect">
            <a:avLst>
              <a:gd name="adj" fmla="val 1721"/>
            </a:avLst>
          </a:prstGeom>
          <a:solidFill>
            <a:schemeClr val="bg1"/>
          </a:solidFill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900"/>
          </a:p>
        </p:txBody>
      </p:sp>
      <p:pic>
        <p:nvPicPr>
          <p:cNvPr id="42" name="그림 41">
            <a:extLst>
              <a:ext uri="{FF2B5EF4-FFF2-40B4-BE49-F238E27FC236}">
                <a16:creationId xmlns:a16="http://schemas.microsoft.com/office/drawing/2014/main" id="{1F2B662B-D4A3-2443-95E5-556E5F2054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0581" y="1326836"/>
            <a:ext cx="3739843" cy="4755362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19ABF913-3843-6B42-B770-94EDA4AE30C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0649" b="27291"/>
          <a:stretch/>
        </p:blipFill>
        <p:spPr>
          <a:xfrm>
            <a:off x="3802078" y="3649953"/>
            <a:ext cx="3481190" cy="2819490"/>
          </a:xfrm>
          <a:prstGeom prst="rect">
            <a:avLst/>
          </a:prstGeom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77B2F82-531A-EA41-941C-17071486B50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113837" y="814498"/>
            <a:ext cx="2743200" cy="365125"/>
          </a:xfrm>
        </p:spPr>
        <p:txBody>
          <a:bodyPr/>
          <a:lstStyle/>
          <a:p>
            <a:fld id="{683A3AC8-7E39-1245-98E2-08D56C5B5689}" type="slidenum">
              <a:rPr kumimoji="1" lang="ko-Kore-KR" altLang="en-US" smtClean="0"/>
              <a:t>3</a:t>
            </a:fld>
            <a:endParaRPr kumimoji="1" lang="ko-Kore-KR" altLang="en-US"/>
          </a:p>
        </p:txBody>
      </p:sp>
      <p:cxnSp>
        <p:nvCxnSpPr>
          <p:cNvPr id="4" name="직선 연결선[R] 3">
            <a:extLst>
              <a:ext uri="{FF2B5EF4-FFF2-40B4-BE49-F238E27FC236}">
                <a16:creationId xmlns:a16="http://schemas.microsoft.com/office/drawing/2014/main" id="{8ACD5E43-4406-0547-9F25-E5BAE9F992AF}"/>
              </a:ext>
            </a:extLst>
          </p:cNvPr>
          <p:cNvCxnSpPr>
            <a:cxnSpLocks/>
          </p:cNvCxnSpPr>
          <p:nvPr/>
        </p:nvCxnSpPr>
        <p:spPr>
          <a:xfrm>
            <a:off x="334963" y="1101344"/>
            <a:ext cx="11522075" cy="0"/>
          </a:xfrm>
          <a:prstGeom prst="line">
            <a:avLst/>
          </a:prstGeom>
          <a:ln w="19050">
            <a:gradFill flip="none" rotWithShape="1">
              <a:gsLst>
                <a:gs pos="0">
                  <a:schemeClr val="bg1"/>
                </a:gs>
                <a:gs pos="39000">
                  <a:srgbClr val="76D6FF"/>
                </a:gs>
                <a:gs pos="99000">
                  <a:schemeClr val="accent5">
                    <a:lumMod val="75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55829DB6-98BD-614C-82C4-EEC75995F310}"/>
              </a:ext>
            </a:extLst>
          </p:cNvPr>
          <p:cNvSpPr txBox="1"/>
          <p:nvPr/>
        </p:nvSpPr>
        <p:spPr>
          <a:xfrm>
            <a:off x="1146580" y="266600"/>
            <a:ext cx="6015582" cy="3282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en-US" altLang="ko-KR" sz="1400" spc="-70" dirty="0">
                <a:solidFill>
                  <a:schemeClr val="tx1">
                    <a:lumMod val="95000"/>
                    <a:lumOff val="5000"/>
                  </a:schemeClr>
                </a:solidFill>
                <a:latin typeface="Helvetica Neue Medium" panose="02000503000000020004" pitchFamily="2" charset="0"/>
                <a:cs typeface="Helvetica Neue Medium" panose="02000503000000020004" pitchFamily="2" charset="0"/>
              </a:rPr>
              <a:t>Muon Neutrino Event in </a:t>
            </a:r>
            <a:r>
              <a:rPr kumimoji="1" lang="en-US" altLang="ko-KR" sz="1400" spc="-7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Helvetica Neue Medium" panose="02000503000000020004" pitchFamily="2" charset="0"/>
                <a:cs typeface="Helvetica Neue Medium" panose="02000503000000020004" pitchFamily="2" charset="0"/>
              </a:rPr>
              <a:t>IceCube</a:t>
            </a:r>
            <a:endParaRPr kumimoji="1" lang="ko-KR" altLang="en-US" sz="1400" spc="-70" dirty="0">
              <a:solidFill>
                <a:schemeClr val="tx1">
                  <a:lumMod val="95000"/>
                  <a:lumOff val="5000"/>
                </a:schemeClr>
              </a:solidFill>
              <a:latin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D321DE3-6BA4-1343-8CC3-8A9CB74C1965}"/>
              </a:ext>
            </a:extLst>
          </p:cNvPr>
          <p:cNvSpPr/>
          <p:nvPr/>
        </p:nvSpPr>
        <p:spPr>
          <a:xfrm>
            <a:off x="334963" y="294833"/>
            <a:ext cx="811617" cy="811617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5000"/>
                  <a:alpha val="95051"/>
                </a:schemeClr>
              </a:gs>
              <a:gs pos="23000">
                <a:schemeClr val="accent5">
                  <a:lumMod val="40000"/>
                  <a:lumOff val="60000"/>
                </a:schemeClr>
              </a:gs>
              <a:gs pos="49000">
                <a:srgbClr val="76A6D2"/>
              </a:gs>
              <a:gs pos="76000">
                <a:schemeClr val="accent5">
                  <a:lumMod val="7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2800" b="1" dirty="0">
                <a:solidFill>
                  <a:schemeClr val="bg1">
                    <a:lumMod val="9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02</a:t>
            </a:r>
            <a:endParaRPr kumimoji="1" lang="ko-KR" altLang="en-US" sz="2800" b="1" dirty="0">
              <a:solidFill>
                <a:schemeClr val="bg1">
                  <a:lumMod val="95000"/>
                </a:schemeClr>
              </a:solidFill>
              <a:latin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26EDAB15-C1FA-C246-A081-04E2DF2AFDCD}"/>
              </a:ext>
            </a:extLst>
          </p:cNvPr>
          <p:cNvSpPr txBox="1">
            <a:spLocks/>
          </p:cNvSpPr>
          <p:nvPr/>
        </p:nvSpPr>
        <p:spPr>
          <a:xfrm>
            <a:off x="1123955" y="498563"/>
            <a:ext cx="9898840" cy="631869"/>
          </a:xfrm>
          <a:prstGeom prst="rect">
            <a:avLst/>
          </a:prstGeom>
        </p:spPr>
        <p:txBody>
          <a:bodyPr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en-US" sz="5000" b="1" spc="-15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Track Signature </a:t>
            </a:r>
            <a:endParaRPr kumimoji="1" lang="ko-Kore-KR" altLang="en-US" sz="5000" b="1" spc="-150" dirty="0">
              <a:latin typeface="Helvetica Neue" panose="02000503000000020004" pitchFamily="2" charset="0"/>
              <a:cs typeface="Helvetica Neue" panose="02000503000000020004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59BFBF5-3189-7844-BFBF-591A88DD5B9F}"/>
                  </a:ext>
                </a:extLst>
              </p:cNvPr>
              <p:cNvSpPr txBox="1"/>
              <p:nvPr/>
            </p:nvSpPr>
            <p:spPr>
              <a:xfrm>
                <a:off x="334962" y="1232171"/>
                <a:ext cx="11476825" cy="4247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2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𝜈</m:t>
                        </m:r>
                      </m:e>
                      <m:sub>
                        <m:r>
                          <a:rPr lang="en-US" altLang="ko-KR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𝜇</m:t>
                        </m:r>
                      </m:sub>
                    </m:sSub>
                  </m:oMath>
                </a14:m>
                <a:r>
                  <a:rPr lang="en-US" altLang="ko-KR" sz="2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undergoes CC interaction near </a:t>
                </a:r>
                <a:r>
                  <a:rPr lang="en-US" altLang="ko-KR" sz="20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Icecube</a:t>
                </a:r>
                <a:r>
                  <a:rPr lang="en-US" altLang="ko-KR" sz="2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59BFBF5-3189-7844-BFBF-591A88DD5B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962" y="1232171"/>
                <a:ext cx="11476825" cy="424796"/>
              </a:xfrm>
              <a:prstGeom prst="rect">
                <a:avLst/>
              </a:prstGeom>
              <a:blipFill>
                <a:blip r:embed="rId5"/>
                <a:stretch>
                  <a:fillRect l="-552" t="-5714" b="-1714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342790A-D48D-E14C-97E5-67AC01E41C65}"/>
                  </a:ext>
                </a:extLst>
              </p:cNvPr>
              <p:cNvSpPr txBox="1"/>
              <p:nvPr/>
            </p:nvSpPr>
            <p:spPr>
              <a:xfrm>
                <a:off x="300443" y="1536833"/>
                <a:ext cx="9410641" cy="4059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" altLang="ko-KR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the resulting 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𝜇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" altLang="ko-KR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passes though the detector, leaving a </a:t>
                </a:r>
                <a:r>
                  <a:rPr lang="en" altLang="ko-KR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track signatured event</a:t>
                </a: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342790A-D48D-E14C-97E5-67AC01E41C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443" y="1536833"/>
                <a:ext cx="9410641" cy="405945"/>
              </a:xfrm>
              <a:prstGeom prst="rect">
                <a:avLst/>
              </a:prstGeom>
              <a:blipFill>
                <a:blip r:embed="rId6"/>
                <a:stretch>
                  <a:fillRect t="-5882" b="-2058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타원 28">
            <a:extLst>
              <a:ext uri="{FF2B5EF4-FFF2-40B4-BE49-F238E27FC236}">
                <a16:creationId xmlns:a16="http://schemas.microsoft.com/office/drawing/2014/main" id="{C2972DC1-8FBF-FD49-A2A6-3C16AD568F77}"/>
              </a:ext>
            </a:extLst>
          </p:cNvPr>
          <p:cNvSpPr/>
          <p:nvPr/>
        </p:nvSpPr>
        <p:spPr>
          <a:xfrm>
            <a:off x="5098301" y="2094702"/>
            <a:ext cx="1370192" cy="1312459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35" name="직선 연결선[R] 34">
            <a:extLst>
              <a:ext uri="{FF2B5EF4-FFF2-40B4-BE49-F238E27FC236}">
                <a16:creationId xmlns:a16="http://schemas.microsoft.com/office/drawing/2014/main" id="{83026C13-8DF4-BF44-90B7-F1EEB2246CC5}"/>
              </a:ext>
            </a:extLst>
          </p:cNvPr>
          <p:cNvCxnSpPr>
            <a:cxnSpLocks/>
          </p:cNvCxnSpPr>
          <p:nvPr/>
        </p:nvCxnSpPr>
        <p:spPr>
          <a:xfrm flipH="1" flipV="1">
            <a:off x="5352147" y="3400680"/>
            <a:ext cx="431250" cy="971295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[R] 36">
            <a:extLst>
              <a:ext uri="{FF2B5EF4-FFF2-40B4-BE49-F238E27FC236}">
                <a16:creationId xmlns:a16="http://schemas.microsoft.com/office/drawing/2014/main" id="{C896DB35-FEAA-D04D-B641-4E927F524335}"/>
              </a:ext>
            </a:extLst>
          </p:cNvPr>
          <p:cNvCxnSpPr>
            <a:cxnSpLocks/>
          </p:cNvCxnSpPr>
          <p:nvPr/>
        </p:nvCxnSpPr>
        <p:spPr>
          <a:xfrm flipH="1">
            <a:off x="5989382" y="3149068"/>
            <a:ext cx="338267" cy="1294345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B831636A-E9D2-8946-959A-A2CB0AD7C862}"/>
              </a:ext>
            </a:extLst>
          </p:cNvPr>
          <p:cNvSpPr txBox="1"/>
          <p:nvPr/>
        </p:nvSpPr>
        <p:spPr>
          <a:xfrm>
            <a:off x="7477810" y="6040193"/>
            <a:ext cx="50210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size of each DOM indicate the number of detected photons </a:t>
            </a:r>
            <a:endParaRPr lang="en" altLang="ko-KR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7" name="그림 46">
            <a:extLst>
              <a:ext uri="{FF2B5EF4-FFF2-40B4-BE49-F238E27FC236}">
                <a16:creationId xmlns:a16="http://schemas.microsoft.com/office/drawing/2014/main" id="{171EE33A-A772-A043-86CF-422A66221A2A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15403" r="56670"/>
          <a:stretch/>
        </p:blipFill>
        <p:spPr>
          <a:xfrm>
            <a:off x="486538" y="3970120"/>
            <a:ext cx="2514074" cy="2004504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3F38B3AF-3460-814E-A1B7-C0A0E767F95A}"/>
              </a:ext>
            </a:extLst>
          </p:cNvPr>
          <p:cNvSpPr txBox="1"/>
          <p:nvPr/>
        </p:nvSpPr>
        <p:spPr>
          <a:xfrm>
            <a:off x="716855" y="2473565"/>
            <a:ext cx="4167265" cy="72808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285750" indent="-285750" algn="l">
              <a:lnSpc>
                <a:spcPct val="120000"/>
              </a:lnSpc>
              <a:buFont typeface="Wingdings" pitchFamily="2" charset="2"/>
              <a:buChar char="§"/>
            </a:pPr>
            <a:r>
              <a:rPr kumimoji="1" lang="en-US" altLang="ko-KR" spc="-7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NPE : number of detected photoelectrons</a:t>
            </a:r>
          </a:p>
          <a:p>
            <a:pPr marL="285750" indent="-285750" algn="l">
              <a:lnSpc>
                <a:spcPct val="120000"/>
              </a:lnSpc>
              <a:buFont typeface="Wingdings" pitchFamily="2" charset="2"/>
              <a:buChar char="§"/>
            </a:pPr>
            <a:r>
              <a:rPr kumimoji="1" lang="en-US" altLang="ko-KR" spc="-7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Hit Time : arrival time of earliest photon </a:t>
            </a:r>
            <a:endParaRPr kumimoji="1" lang="ko-KR" altLang="en-US" spc="-7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AC998AA3-5787-2241-A8C0-318165A4923F}"/>
              </a:ext>
            </a:extLst>
          </p:cNvPr>
          <p:cNvSpPr/>
          <p:nvPr/>
        </p:nvSpPr>
        <p:spPr>
          <a:xfrm>
            <a:off x="9269507" y="5880845"/>
            <a:ext cx="405719" cy="1654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1350723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77B2F82-531A-EA41-941C-17071486B50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113837" y="814498"/>
            <a:ext cx="2743200" cy="365125"/>
          </a:xfrm>
        </p:spPr>
        <p:txBody>
          <a:bodyPr/>
          <a:lstStyle/>
          <a:p>
            <a:fld id="{683A3AC8-7E39-1245-98E2-08D56C5B5689}" type="slidenum">
              <a:rPr kumimoji="1" lang="ko-Kore-KR" altLang="en-US" smtClean="0"/>
              <a:t>4</a:t>
            </a:fld>
            <a:endParaRPr kumimoji="1" lang="ko-Kore-KR" altLang="en-US"/>
          </a:p>
        </p:txBody>
      </p:sp>
      <p:cxnSp>
        <p:nvCxnSpPr>
          <p:cNvPr id="4" name="직선 연결선[R] 3">
            <a:extLst>
              <a:ext uri="{FF2B5EF4-FFF2-40B4-BE49-F238E27FC236}">
                <a16:creationId xmlns:a16="http://schemas.microsoft.com/office/drawing/2014/main" id="{8ACD5E43-4406-0547-9F25-E5BAE9F992AF}"/>
              </a:ext>
            </a:extLst>
          </p:cNvPr>
          <p:cNvCxnSpPr>
            <a:cxnSpLocks/>
          </p:cNvCxnSpPr>
          <p:nvPr/>
        </p:nvCxnSpPr>
        <p:spPr>
          <a:xfrm>
            <a:off x="334963" y="1101344"/>
            <a:ext cx="11522075" cy="0"/>
          </a:xfrm>
          <a:prstGeom prst="line">
            <a:avLst/>
          </a:prstGeom>
          <a:ln w="19050">
            <a:gradFill flip="none" rotWithShape="1">
              <a:gsLst>
                <a:gs pos="0">
                  <a:schemeClr val="bg1"/>
                </a:gs>
                <a:gs pos="39000">
                  <a:srgbClr val="76D6FF"/>
                </a:gs>
                <a:gs pos="99000">
                  <a:schemeClr val="accent5">
                    <a:lumMod val="75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55829DB6-98BD-614C-82C4-EEC75995F310}"/>
              </a:ext>
            </a:extLst>
          </p:cNvPr>
          <p:cNvSpPr txBox="1"/>
          <p:nvPr/>
        </p:nvSpPr>
        <p:spPr>
          <a:xfrm>
            <a:off x="1146580" y="266600"/>
            <a:ext cx="6015582" cy="3282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en-US" altLang="ko-KR" sz="1400" spc="-70" dirty="0">
                <a:solidFill>
                  <a:schemeClr val="tx1">
                    <a:lumMod val="95000"/>
                    <a:lumOff val="5000"/>
                  </a:schemeClr>
                </a:solidFill>
                <a:latin typeface="Helvetica Neue Medium" panose="02000503000000020004" pitchFamily="2" charset="0"/>
                <a:cs typeface="Helvetica Neue Medium" panose="02000503000000020004" pitchFamily="2" charset="0"/>
              </a:rPr>
              <a:t>Motivation for JANUS</a:t>
            </a:r>
            <a:endParaRPr kumimoji="1" lang="ko-KR" altLang="en-US" sz="1400" spc="-70" dirty="0">
              <a:solidFill>
                <a:schemeClr val="tx1">
                  <a:lumMod val="95000"/>
                  <a:lumOff val="5000"/>
                </a:schemeClr>
              </a:solidFill>
              <a:latin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D321DE3-6BA4-1343-8CC3-8A9CB74C1965}"/>
              </a:ext>
            </a:extLst>
          </p:cNvPr>
          <p:cNvSpPr/>
          <p:nvPr/>
        </p:nvSpPr>
        <p:spPr>
          <a:xfrm>
            <a:off x="334963" y="294833"/>
            <a:ext cx="811617" cy="811617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5000"/>
                  <a:alpha val="95051"/>
                </a:schemeClr>
              </a:gs>
              <a:gs pos="23000">
                <a:schemeClr val="accent5">
                  <a:lumMod val="40000"/>
                  <a:lumOff val="60000"/>
                </a:schemeClr>
              </a:gs>
              <a:gs pos="49000">
                <a:srgbClr val="76A6D2"/>
              </a:gs>
              <a:gs pos="76000">
                <a:schemeClr val="accent5">
                  <a:lumMod val="7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2800" b="1" dirty="0">
                <a:solidFill>
                  <a:schemeClr val="bg1">
                    <a:lumMod val="9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03</a:t>
            </a:r>
            <a:endParaRPr kumimoji="1" lang="ko-KR" altLang="en-US" sz="2800" b="1" dirty="0">
              <a:solidFill>
                <a:schemeClr val="bg1">
                  <a:lumMod val="95000"/>
                </a:schemeClr>
              </a:solidFill>
              <a:latin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26EDAB15-C1FA-C246-A081-04E2DF2AFDCD}"/>
              </a:ext>
            </a:extLst>
          </p:cNvPr>
          <p:cNvSpPr txBox="1">
            <a:spLocks/>
          </p:cNvSpPr>
          <p:nvPr/>
        </p:nvSpPr>
        <p:spPr>
          <a:xfrm>
            <a:off x="1103633" y="603249"/>
            <a:ext cx="9898840" cy="631869"/>
          </a:xfrm>
          <a:prstGeom prst="rect">
            <a:avLst/>
          </a:prstGeom>
        </p:spPr>
        <p:txBody>
          <a:bodyPr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en-US" sz="4000" b="1" spc="-15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Reconstruction Methods &amp; Limitation</a:t>
            </a:r>
            <a:endParaRPr kumimoji="1" lang="ko-Kore-KR" altLang="en-US" sz="4000" b="1" spc="-150" dirty="0">
              <a:latin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pic>
        <p:nvPicPr>
          <p:cNvPr id="49" name="그림 48">
            <a:extLst>
              <a:ext uri="{FF2B5EF4-FFF2-40B4-BE49-F238E27FC236}">
                <a16:creationId xmlns:a16="http://schemas.microsoft.com/office/drawing/2014/main" id="{33F98295-55A7-2D42-9224-C6296F3F879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-534" r="6474" b="534"/>
          <a:stretch/>
        </p:blipFill>
        <p:spPr>
          <a:xfrm>
            <a:off x="5046774" y="1883353"/>
            <a:ext cx="3448355" cy="2545828"/>
          </a:xfrm>
          <a:prstGeom prst="rect">
            <a:avLst/>
          </a:prstGeom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FE703C8E-8932-B248-8FC5-2EF0A74F0AC6}"/>
              </a:ext>
            </a:extLst>
          </p:cNvPr>
          <p:cNvSpPr txBox="1"/>
          <p:nvPr/>
        </p:nvSpPr>
        <p:spPr>
          <a:xfrm>
            <a:off x="379431" y="1973476"/>
            <a:ext cx="46673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Spline Reconstruction [Left]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F56D81DF-D728-4245-AC4B-B3F90AA7D8C8}"/>
              </a:ext>
            </a:extLst>
          </p:cNvPr>
          <p:cNvGrpSpPr/>
          <p:nvPr/>
        </p:nvGrpSpPr>
        <p:grpSpPr>
          <a:xfrm>
            <a:off x="8672536" y="1883353"/>
            <a:ext cx="3519464" cy="2535735"/>
            <a:chOff x="9313243" y="3399549"/>
            <a:chExt cx="3962401" cy="2854867"/>
          </a:xfrm>
        </p:grpSpPr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BB4F9E53-C629-B042-8261-537E6F3110E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2199"/>
            <a:stretch/>
          </p:blipFill>
          <p:spPr>
            <a:xfrm>
              <a:off x="9313244" y="3399549"/>
              <a:ext cx="3962400" cy="2558659"/>
            </a:xfrm>
            <a:prstGeom prst="rect">
              <a:avLst/>
            </a:prstGeom>
          </p:spPr>
        </p:pic>
        <p:pic>
          <p:nvPicPr>
            <p:cNvPr id="51" name="그림 50">
              <a:extLst>
                <a:ext uri="{FF2B5EF4-FFF2-40B4-BE49-F238E27FC236}">
                  <a16:creationId xmlns:a16="http://schemas.microsoft.com/office/drawing/2014/main" id="{BAFCB8AD-2ACC-BB40-B67D-EB857736FC1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9411" t="80050" r="20012" b="14387"/>
            <a:stretch/>
          </p:blipFill>
          <p:spPr>
            <a:xfrm>
              <a:off x="9313243" y="5891491"/>
              <a:ext cx="3962401" cy="362925"/>
            </a:xfrm>
            <a:prstGeom prst="rect">
              <a:avLst/>
            </a:prstGeom>
          </p:spPr>
        </p:pic>
      </p:grpSp>
      <p:sp>
        <p:nvSpPr>
          <p:cNvPr id="23" name="한쪽 모서리가 둥근 사각형 22">
            <a:extLst>
              <a:ext uri="{FF2B5EF4-FFF2-40B4-BE49-F238E27FC236}">
                <a16:creationId xmlns:a16="http://schemas.microsoft.com/office/drawing/2014/main" id="{60534D12-8364-E04F-B99A-ED37B698F763}"/>
              </a:ext>
            </a:extLst>
          </p:cNvPr>
          <p:cNvSpPr/>
          <p:nvPr/>
        </p:nvSpPr>
        <p:spPr>
          <a:xfrm>
            <a:off x="5548443" y="4580592"/>
            <a:ext cx="6248186" cy="1522126"/>
          </a:xfrm>
          <a:prstGeom prst="round1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Generative AI </a:t>
            </a:r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based-</a:t>
            </a:r>
            <a:r>
              <a:rPr lang="en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framework that can both:</a:t>
            </a:r>
            <a:endParaRPr lang="en" altLang="ko-K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Font typeface="+mj-lt"/>
              <a:buAutoNum type="arabicPeriod"/>
            </a:pPr>
            <a:r>
              <a:rPr lang="en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Generate track events</a:t>
            </a:r>
            <a:r>
              <a:rPr lang="en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>
              <a:buFont typeface="+mj-lt"/>
              <a:buAutoNum type="arabicPeriod"/>
            </a:pPr>
            <a:r>
              <a:rPr lang="en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Reconstruct neutrino parameters</a:t>
            </a:r>
            <a:endParaRPr lang="en" altLang="ko-K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EE99C4B-201A-5448-A947-215BD91F6E6A}"/>
              </a:ext>
            </a:extLst>
          </p:cNvPr>
          <p:cNvSpPr txBox="1"/>
          <p:nvPr/>
        </p:nvSpPr>
        <p:spPr>
          <a:xfrm>
            <a:off x="379431" y="3996486"/>
            <a:ext cx="4711811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§"/>
            </a:pPr>
            <a:r>
              <a:rPr lang="en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However, both methods show a gap to the theoretical lower bound, with performance degradation around 1 </a:t>
            </a:r>
            <a:r>
              <a:rPr lang="en" altLang="ko-K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TeV</a:t>
            </a:r>
            <a:r>
              <a:rPr lang="en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Wingdings" pitchFamily="2" charset="2"/>
              <a:buChar char="§"/>
            </a:pPr>
            <a:endParaRPr lang="en" altLang="ko-K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itchFamily="2" charset="2"/>
              <a:buChar char="§"/>
            </a:pPr>
            <a:r>
              <a:rPr lang="en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believe this gap is related to the difficulty of capturing the stochastic nature of high-energy events. </a:t>
            </a:r>
          </a:p>
          <a:p>
            <a:pPr marL="285750" indent="-285750">
              <a:buFont typeface="Wingdings" pitchFamily="2" charset="2"/>
              <a:buChar char="§"/>
            </a:pPr>
            <a:endParaRPr lang="en" altLang="ko-K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itchFamily="2" charset="2"/>
              <a:buChar char="§"/>
            </a:pPr>
            <a:r>
              <a:rPr lang="en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Generative AI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known to learn the underlying structure of data more fundamentally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ko-KR" sz="16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F550475-94A3-2B4F-AAAA-47954C2E08B6}"/>
                  </a:ext>
                </a:extLst>
              </p:cNvPr>
              <p:cNvSpPr txBox="1"/>
              <p:nvPr/>
            </p:nvSpPr>
            <p:spPr>
              <a:xfrm>
                <a:off x="334963" y="1184127"/>
                <a:ext cx="11093997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Wingdings" pitchFamily="2" charset="2"/>
                  <a:buChar char="§"/>
                </a:pPr>
                <a:r>
                  <a:rPr kumimoji="1" lang="en-US" altLang="ko-Kore-K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Track events have an angular resolution of  &lt; 1</a:t>
                </a:r>
                <a14:m>
                  <m:oMath xmlns:m="http://schemas.openxmlformats.org/officeDocument/2006/math">
                    <m:r>
                      <a:rPr kumimoji="1" lang="en-US" altLang="ko-Kore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°</m:t>
                    </m:r>
                  </m:oMath>
                </a14:m>
                <a:r>
                  <a:rPr kumimoji="1" lang="en-US" altLang="ko-Kore-KR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 </a:t>
                </a:r>
                <a14:m>
                  <m:oMath xmlns:m="http://schemas.openxmlformats.org/officeDocument/2006/math">
                    <m:r>
                      <a:rPr kumimoji="1" lang="en-US" altLang="ko-Kore-KR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  <m:r>
                      <a:rPr kumimoji="1" lang="en-US" altLang="ko-Kore-KR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kumimoji="1" lang="en-US" altLang="ko-Kore-KR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Main channel for neutrino’s source studies</a:t>
                </a:r>
              </a:p>
              <a:p>
                <a:pPr marL="342900" indent="-342900">
                  <a:buFont typeface="Wingdings" pitchFamily="2" charset="2"/>
                  <a:buChar char="§"/>
                </a:pPr>
                <a:r>
                  <a:rPr kumimoji="1" lang="en-US" altLang="ko-Kore-K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There are two main approaches to track event reconstruction in </a:t>
                </a:r>
                <a:r>
                  <a:rPr kumimoji="1" lang="en-US" altLang="ko-Kore-KR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IceCube</a:t>
                </a:r>
                <a:endParaRPr kumimoji="1" lang="en-US" altLang="ko-KR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F550475-94A3-2B4F-AAAA-47954C2E08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963" y="1184127"/>
                <a:ext cx="11093997" cy="646331"/>
              </a:xfrm>
              <a:prstGeom prst="rect">
                <a:avLst/>
              </a:prstGeom>
              <a:blipFill>
                <a:blip r:embed="rId6"/>
                <a:stretch>
                  <a:fillRect l="-343" t="-3922" b="-1568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lbl1">
            <a:extLst>
              <a:ext uri="{FF2B5EF4-FFF2-40B4-BE49-F238E27FC236}">
                <a16:creationId xmlns:a16="http://schemas.microsoft.com/office/drawing/2014/main" id="{4D5FC77A-2A7F-8141-9FD5-10372560C834}"/>
              </a:ext>
            </a:extLst>
          </p:cNvPr>
          <p:cNvSpPr txBox="1"/>
          <p:nvPr/>
        </p:nvSpPr>
        <p:spPr>
          <a:xfrm>
            <a:off x="741070" y="2256815"/>
            <a:ext cx="43057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dirty="0">
                <a:latin typeface="Times New Roman" panose="02020603050405020304" pitchFamily="18" charset="0"/>
              </a:rPr>
              <a:t>Maximum likelihood method using photon arrival time PDFs derived from simulations</a:t>
            </a:r>
            <a:endParaRPr lang="en-US" sz="1600" b="0" dirty="0">
              <a:solidFill>
                <a:srgbClr val="40404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FA1247B-7D10-FA48-A7BE-0EC024C2EECC}"/>
              </a:ext>
            </a:extLst>
          </p:cNvPr>
          <p:cNvSpPr txBox="1"/>
          <p:nvPr/>
        </p:nvSpPr>
        <p:spPr>
          <a:xfrm>
            <a:off x="379431" y="2862176"/>
            <a:ext cx="46673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Neural Network [Right]</a:t>
            </a:r>
          </a:p>
        </p:txBody>
      </p:sp>
      <p:sp>
        <p:nvSpPr>
          <p:cNvPr id="32" name="lbl1">
            <a:extLst>
              <a:ext uri="{FF2B5EF4-FFF2-40B4-BE49-F238E27FC236}">
                <a16:creationId xmlns:a16="http://schemas.microsoft.com/office/drawing/2014/main" id="{888648DB-A9A1-0A4A-9D1E-970A0A8CB6C9}"/>
              </a:ext>
            </a:extLst>
          </p:cNvPr>
          <p:cNvSpPr txBox="1"/>
          <p:nvPr/>
        </p:nvSpPr>
        <p:spPr>
          <a:xfrm>
            <a:off x="741070" y="3174091"/>
            <a:ext cx="43057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dirty="0">
                <a:latin typeface="Times New Roman" panose="02020603050405020304" pitchFamily="18" charset="0"/>
              </a:rPr>
              <a:t>Regression models that map observed events to track parameters</a:t>
            </a:r>
            <a:endParaRPr lang="en-US" sz="1600" b="0" dirty="0">
              <a:solidFill>
                <a:srgbClr val="404040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60383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F93F7093-B52E-0847-B99E-DEC1CFC4927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3176" b="18096"/>
          <a:stretch/>
        </p:blipFill>
        <p:spPr bwMode="auto">
          <a:xfrm>
            <a:off x="7847095" y="1010810"/>
            <a:ext cx="3810778" cy="2623515"/>
          </a:xfrm>
          <a:prstGeom prst="rect">
            <a:avLst/>
          </a:prstGeom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77B2F82-531A-EA41-941C-17071486B50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113837" y="814498"/>
            <a:ext cx="2743200" cy="365125"/>
          </a:xfrm>
        </p:spPr>
        <p:txBody>
          <a:bodyPr/>
          <a:lstStyle/>
          <a:p>
            <a:fld id="{683A3AC8-7E39-1245-98E2-08D56C5B5689}" type="slidenum">
              <a:rPr kumimoji="1" lang="ko-Kore-KR" altLang="en-US" smtClean="0"/>
              <a:t>5</a:t>
            </a:fld>
            <a:endParaRPr kumimoji="1" lang="ko-Kore-KR" altLang="en-US"/>
          </a:p>
        </p:txBody>
      </p:sp>
      <p:cxnSp>
        <p:nvCxnSpPr>
          <p:cNvPr id="4" name="직선 연결선[R] 3">
            <a:extLst>
              <a:ext uri="{FF2B5EF4-FFF2-40B4-BE49-F238E27FC236}">
                <a16:creationId xmlns:a16="http://schemas.microsoft.com/office/drawing/2014/main" id="{8ACD5E43-4406-0547-9F25-E5BAE9F992AF}"/>
              </a:ext>
            </a:extLst>
          </p:cNvPr>
          <p:cNvCxnSpPr>
            <a:cxnSpLocks/>
          </p:cNvCxnSpPr>
          <p:nvPr/>
        </p:nvCxnSpPr>
        <p:spPr>
          <a:xfrm>
            <a:off x="334963" y="1101344"/>
            <a:ext cx="11522075" cy="0"/>
          </a:xfrm>
          <a:prstGeom prst="line">
            <a:avLst/>
          </a:prstGeom>
          <a:ln w="19050">
            <a:gradFill flip="none" rotWithShape="1">
              <a:gsLst>
                <a:gs pos="0">
                  <a:schemeClr val="bg1"/>
                </a:gs>
                <a:gs pos="39000">
                  <a:srgbClr val="76D6FF"/>
                </a:gs>
                <a:gs pos="99000">
                  <a:schemeClr val="accent5">
                    <a:lumMod val="75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55829DB6-98BD-614C-82C4-EEC75995F310}"/>
              </a:ext>
            </a:extLst>
          </p:cNvPr>
          <p:cNvSpPr txBox="1"/>
          <p:nvPr/>
        </p:nvSpPr>
        <p:spPr>
          <a:xfrm>
            <a:off x="1146580" y="266600"/>
            <a:ext cx="6015582" cy="3282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en-US" altLang="ko-KR" sz="1400" spc="-70" dirty="0">
                <a:solidFill>
                  <a:schemeClr val="tx1">
                    <a:lumMod val="95000"/>
                    <a:lumOff val="5000"/>
                  </a:schemeClr>
                </a:solidFill>
                <a:latin typeface="Helvetica Neue Medium" panose="02000503000000020004" pitchFamily="2" charset="0"/>
                <a:cs typeface="Helvetica Neue Medium" panose="02000503000000020004" pitchFamily="2" charset="0"/>
              </a:rPr>
              <a:t>JANUS Design &amp; Architecture</a:t>
            </a:r>
            <a:endParaRPr kumimoji="1" lang="ko-KR" altLang="en-US" sz="1400" spc="-70" dirty="0">
              <a:solidFill>
                <a:schemeClr val="tx1">
                  <a:lumMod val="95000"/>
                  <a:lumOff val="5000"/>
                </a:schemeClr>
              </a:solidFill>
              <a:latin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D321DE3-6BA4-1343-8CC3-8A9CB74C1965}"/>
              </a:ext>
            </a:extLst>
          </p:cNvPr>
          <p:cNvSpPr/>
          <p:nvPr/>
        </p:nvSpPr>
        <p:spPr>
          <a:xfrm>
            <a:off x="334963" y="294833"/>
            <a:ext cx="811617" cy="811617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5000"/>
                  <a:alpha val="95051"/>
                </a:schemeClr>
              </a:gs>
              <a:gs pos="23000">
                <a:schemeClr val="accent5">
                  <a:lumMod val="40000"/>
                  <a:lumOff val="60000"/>
                </a:schemeClr>
              </a:gs>
              <a:gs pos="49000">
                <a:srgbClr val="76A6D2"/>
              </a:gs>
              <a:gs pos="76000">
                <a:schemeClr val="accent5">
                  <a:lumMod val="7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2800" b="1" dirty="0">
                <a:solidFill>
                  <a:schemeClr val="bg1">
                    <a:lumMod val="9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04</a:t>
            </a:r>
            <a:endParaRPr kumimoji="1" lang="ko-KR" altLang="en-US" sz="2800" b="1" dirty="0">
              <a:solidFill>
                <a:schemeClr val="bg1">
                  <a:lumMod val="95000"/>
                </a:schemeClr>
              </a:solidFill>
              <a:latin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26EDAB15-C1FA-C246-A081-04E2DF2AFDCD}"/>
              </a:ext>
            </a:extLst>
          </p:cNvPr>
          <p:cNvSpPr txBox="1">
            <a:spLocks/>
          </p:cNvSpPr>
          <p:nvPr/>
        </p:nvSpPr>
        <p:spPr>
          <a:xfrm>
            <a:off x="1146580" y="497673"/>
            <a:ext cx="9898840" cy="631869"/>
          </a:xfrm>
          <a:prstGeom prst="rect">
            <a:avLst/>
          </a:prstGeom>
        </p:spPr>
        <p:txBody>
          <a:bodyPr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en-US" sz="5000" b="1" spc="-15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Flow Matching </a:t>
            </a:r>
            <a:r>
              <a:rPr kumimoji="1" lang="en-US" altLang="ko-KR" sz="5000" b="1" spc="-15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&amp;</a:t>
            </a:r>
            <a:r>
              <a:rPr kumimoji="1" lang="ko-KR" altLang="en-US" sz="5000" b="1" spc="-15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kumimoji="1" lang="en-US" altLang="en-US" sz="5000" b="1" spc="-15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Generative AI</a:t>
            </a:r>
            <a:endParaRPr kumimoji="1" lang="ko-Kore-KR" altLang="en-US" sz="5000" b="1" spc="-150" dirty="0">
              <a:latin typeface="Helvetica Neue" panose="02000503000000020004" pitchFamily="2" charset="0"/>
              <a:cs typeface="Helvetica Neue" panose="02000503000000020004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7C6FE30-9831-514A-B6AB-CD3237766A51}"/>
                  </a:ext>
                </a:extLst>
              </p:cNvPr>
              <p:cNvSpPr txBox="1"/>
              <p:nvPr/>
            </p:nvSpPr>
            <p:spPr>
              <a:xfrm>
                <a:off x="317270" y="1512246"/>
                <a:ext cx="9898839" cy="3957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altLang="ko-KR" spc="-7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objective of Generative AI is to transport known distribution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pc="-70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b="0" i="1" spc="-70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b="0" i="1" spc="-70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ko-KR" spc="-7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to data distribution (</a:t>
                </a:r>
                <a14:m>
                  <m:oMath xmlns:m="http://schemas.openxmlformats.org/officeDocument/2006/math">
                    <m:r>
                      <a:rPr lang="en-US" altLang="ko-KR" b="0" i="1" spc="-7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𝑞</m:t>
                    </m:r>
                  </m:oMath>
                </a14:m>
                <a:r>
                  <a:rPr lang="en-US" altLang="ko-KR" spc="-7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7C6FE30-9831-514A-B6AB-CD3237766A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270" y="1512246"/>
                <a:ext cx="9898839" cy="395749"/>
              </a:xfrm>
              <a:prstGeom prst="rect">
                <a:avLst/>
              </a:prstGeom>
              <a:blipFill>
                <a:blip r:embed="rId4"/>
                <a:stretch>
                  <a:fillRect l="-384" b="-1875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lbl1">
                <a:extLst>
                  <a:ext uri="{FF2B5EF4-FFF2-40B4-BE49-F238E27FC236}">
                    <a16:creationId xmlns:a16="http://schemas.microsoft.com/office/drawing/2014/main" id="{C925984F-B472-214A-A191-260B42DC20E9}"/>
                  </a:ext>
                </a:extLst>
              </p:cNvPr>
              <p:cNvSpPr txBox="1"/>
              <p:nvPr/>
            </p:nvSpPr>
            <p:spPr>
              <a:xfrm>
                <a:off x="1727215" y="2371270"/>
                <a:ext cx="685106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b="0" dirty="0">
                    <a:latin typeface="Times New Roman" panose="02020603050405020304" pitchFamily="18" charset="0"/>
                  </a:rPr>
                  <a:t>learns a flow,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600" b="0" dirty="0">
                    <a:latin typeface="Times New Roman" panose="02020603050405020304" pitchFamily="18" charset="0"/>
                  </a:rPr>
                  <a:t>, that transport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sz="1600" i="1" spc="-7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  <m:r>
                      <a:rPr lang="en-US" altLang="ko-KR" sz="1600" i="1" spc="-7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𝑞</m:t>
                    </m:r>
                  </m:oMath>
                </a14:m>
                <a:endParaRPr lang="en-US" sz="1600" b="0" dirty="0">
                  <a:solidFill>
                    <a:srgbClr val="404040"/>
                  </a:solidFill>
                  <a:latin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6" name="lbl1">
                <a:extLst>
                  <a:ext uri="{FF2B5EF4-FFF2-40B4-BE49-F238E27FC236}">
                    <a16:creationId xmlns:a16="http://schemas.microsoft.com/office/drawing/2014/main" id="{C925984F-B472-214A-A191-260B42DC20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7215" y="2371270"/>
                <a:ext cx="6851066" cy="338554"/>
              </a:xfrm>
              <a:prstGeom prst="rect">
                <a:avLst/>
              </a:prstGeom>
              <a:blipFill>
                <a:blip r:embed="rId5"/>
                <a:stretch>
                  <a:fillRect l="-370" t="-3571" b="-1785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f2">
                <a:extLst>
                  <a:ext uri="{FF2B5EF4-FFF2-40B4-BE49-F238E27FC236}">
                    <a16:creationId xmlns:a16="http://schemas.microsoft.com/office/drawing/2014/main" id="{ABA53ADA-E9AC-FC4D-996A-7FB1C8C0E66A}"/>
                  </a:ext>
                </a:extLst>
              </p:cNvPr>
              <p:cNvSpPr txBox="1"/>
              <p:nvPr/>
            </p:nvSpPr>
            <p:spPr>
              <a:xfrm>
                <a:off x="1787815" y="2687665"/>
                <a:ext cx="3169073" cy="5609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en-US" sz="1600" b="0" i="1" spc="-70" smtClean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sz="1600" b="0" i="1" spc="-70" smtClean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kumimoji="1" lang="en-US" sz="1600" b="0" i="1" spc="-70" smtClean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sSub>
                        <m:sSubPr>
                          <m:ctrlPr>
                            <a:rPr kumimoji="1" lang="en-US" sz="1600" b="0" i="1" spc="-70" smtClean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sz="1600" b="0" i="1" spc="-70" smtClean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kumimoji="1" lang="en-US" sz="1600" b="0" i="1" spc="-70" smtClean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d>
                        <m:dPr>
                          <m:ctrlPr>
                            <a:rPr kumimoji="1" lang="en-US" sz="1600" b="0" i="1" spc="-70" smtClean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sz="1600" b="0" i="1" spc="-70" smtClean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kumimoji="1" lang="en-US" sz="1600" b="0" i="1" spc="-70" smtClean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sSub>
                        <m:sSubPr>
                          <m:ctrlPr>
                            <a:rPr kumimoji="1" lang="en-US" sz="1600" b="0" i="1" spc="-70" smtClean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sz="1600" b="0" i="1" spc="-70" smtClean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kumimoji="1" lang="en-US" sz="1600" b="0" i="1" spc="-70" smtClean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d>
                        <m:dPr>
                          <m:ctrlPr>
                            <a:rPr kumimoji="1" lang="en-US" sz="1600" b="0" i="1" spc="-70" smtClean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sz="1600" b="0" i="1" spc="-70" smtClean="0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sz="1600" b="0" i="1" spc="-70" smtClean="0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kumimoji="1" lang="en-US" sz="1600" b="0" i="1" spc="-70" smtClean="0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d>
                            <m:dPr>
                              <m:ctrlPr>
                                <a:rPr kumimoji="1" lang="en-US" sz="1600" b="0" i="1" spc="-70" smtClean="0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sz="1600" b="0" i="1" spc="-70" smtClean="0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kumimoji="1" lang="en-US" sz="1600" b="0" i="1" spc="-70" smtClean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, </m:t>
                      </m:r>
                      <m:sSub>
                        <m:sSubPr>
                          <m:ctrlPr>
                            <a:rPr kumimoji="1" lang="en-US" sz="1600" b="0" i="1" spc="-70" smtClean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sz="1600" b="0" i="1" spc="-70" smtClean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kumimoji="1" lang="en-US" sz="1600" b="0" i="1" spc="-70" smtClean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kumimoji="1" lang="en-US" sz="1600" b="0" i="1" spc="-70" smtClean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sz="1600" b="0" i="1" spc="-70" smtClean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kumimoji="1" lang="en-US" sz="1600" b="0" i="1" spc="-70" smtClean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kumimoji="1" lang="en-US" sz="1600" b="0" i="1" spc="-70" smtClean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sz="2000" dirty="0"/>
              </a:p>
            </p:txBody>
          </p:sp>
        </mc:Choice>
        <mc:Fallback xmlns="">
          <p:sp>
            <p:nvSpPr>
              <p:cNvPr id="29" name="f2">
                <a:extLst>
                  <a:ext uri="{FF2B5EF4-FFF2-40B4-BE49-F238E27FC236}">
                    <a16:creationId xmlns:a16="http://schemas.microsoft.com/office/drawing/2014/main" id="{ABA53ADA-E9AC-FC4D-996A-7FB1C8C0E6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7815" y="2687665"/>
                <a:ext cx="3169073" cy="560987"/>
              </a:xfrm>
              <a:prstGeom prst="rect">
                <a:avLst/>
              </a:prstGeom>
              <a:blipFill>
                <a:blip r:embed="rId6"/>
                <a:stretch>
                  <a:fillRect l="-2390" b="-888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TextBox 38">
            <a:extLst>
              <a:ext uri="{FF2B5EF4-FFF2-40B4-BE49-F238E27FC236}">
                <a16:creationId xmlns:a16="http://schemas.microsoft.com/office/drawing/2014/main" id="{D7E44FE3-C9E9-D84A-BD59-3AF337ED0D14}"/>
              </a:ext>
            </a:extLst>
          </p:cNvPr>
          <p:cNvSpPr txBox="1"/>
          <p:nvPr/>
        </p:nvSpPr>
        <p:spPr>
          <a:xfrm>
            <a:off x="334963" y="1166987"/>
            <a:ext cx="9898839" cy="395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pc="-7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general, Generative AI refers to models that can generate data such as images or videos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7AFE9C3-9254-8C46-BA31-40376265F93D}"/>
              </a:ext>
            </a:extLst>
          </p:cNvPr>
          <p:cNvSpPr txBox="1"/>
          <p:nvPr/>
        </p:nvSpPr>
        <p:spPr>
          <a:xfrm>
            <a:off x="334963" y="1930327"/>
            <a:ext cx="9898839" cy="395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b="1" spc="-7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Flow Matching </a:t>
            </a:r>
            <a:r>
              <a:rPr lang="en-US" altLang="ko-KR" sz="1600" spc="-7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a subset of Generative AI</a:t>
            </a:r>
            <a:endParaRPr lang="en-US" altLang="ko-KR" spc="-7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BEFC585-865F-D44D-838F-E7B10297817C}"/>
                  </a:ext>
                </a:extLst>
              </p:cNvPr>
              <p:cNvSpPr txBox="1"/>
              <p:nvPr/>
            </p:nvSpPr>
            <p:spPr>
              <a:xfrm>
                <a:off x="1727215" y="3388918"/>
                <a:ext cx="3141116" cy="36170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600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600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ℒ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ko-KR" sz="1600" b="0" i="0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fm</m:t>
                          </m:r>
                        </m:sub>
                      </m:sSub>
                      <m:r>
                        <a:rPr kumimoji="1" lang="en-US" altLang="ko-KR" sz="1600" b="0" i="1" spc="-7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ko-KR" sz="1600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600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𝔼</m:t>
                          </m:r>
                        </m:e>
                        <m:sub>
                          <m:sSub>
                            <m:sSubPr>
                              <m:ctrlPr>
                                <a:rPr kumimoji="1" lang="en-US" altLang="ko-KR" sz="1600" b="0" i="1" spc="-70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1600" b="0" i="1" spc="-70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en-US" altLang="ko-KR" sz="1600" b="0" i="1" spc="-70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kumimoji="1" lang="en-US" altLang="ko-KR" sz="1600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   </m:t>
                          </m:r>
                          <m:r>
                            <a:rPr kumimoji="1" lang="en-US" altLang="ko-KR" sz="1600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kumimoji="1" lang="en-US" altLang="ko-KR" sz="1600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kumimoji="1" lang="en-US" altLang="ko-KR" sz="1600" b="0" i="1" spc="-70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ko-KR" sz="1600" b="0" i="1" spc="-70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kumimoji="1" lang="en-US" altLang="ko-KR" sz="1600" b="0" i="1" spc="-70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kumimoji="1" lang="en-US" altLang="ko-KR" sz="1600" b="0" i="1" spc="-70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𝑚𝑜𝑑𝑒𝑙</m:t>
                              </m:r>
                            </m:sup>
                          </m:sSubSup>
                          <m:r>
                            <a:rPr kumimoji="1" lang="en-US" altLang="ko-KR" sz="1600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kumimoji="1" lang="en-US" altLang="ko-KR" sz="1600" b="0" i="1" spc="-70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1600" b="0" i="1" spc="-70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en-US" altLang="ko-KR" sz="1600" b="0" i="1" spc="-70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kumimoji="1" lang="en-US" altLang="ko-KR" sz="1600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)−</m:t>
                          </m:r>
                          <m:sSubSup>
                            <m:sSubSupPr>
                              <m:ctrlPr>
                                <a:rPr kumimoji="1" lang="en-US" altLang="ko-KR" sz="1600" b="0" i="1" spc="-70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ko-KR" sz="1600" b="0" i="1" spc="-70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kumimoji="1" lang="en-US" altLang="ko-KR" sz="1600" b="0" i="1" spc="-70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kumimoji="1" lang="en-US" altLang="ko-KR" sz="1600" b="0" i="1" spc="-70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𝑡𝑟𝑎𝑔𝑒𝑡</m:t>
                              </m:r>
                            </m:sup>
                          </m:sSubSup>
                          <m:r>
                            <a:rPr kumimoji="1" lang="en-US" altLang="ko-KR" sz="1600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kumimoji="1" lang="en-US" altLang="ko-KR" sz="1600" b="0" i="1" spc="-70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1600" b="0" i="1" spc="-70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en-US" altLang="ko-KR" sz="1600" b="0" i="1" spc="-70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kumimoji="1" lang="en-US" altLang="ko-KR" sz="1600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kumimoji="1" lang="ko-KR" altLang="en-US" sz="1600" spc="-7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BEFC585-865F-D44D-838F-E7B1029781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7215" y="3388918"/>
                <a:ext cx="3141116" cy="361702"/>
              </a:xfrm>
              <a:prstGeom prst="rect">
                <a:avLst/>
              </a:prstGeom>
              <a:blipFill>
                <a:blip r:embed="rId7"/>
                <a:stretch>
                  <a:fillRect l="-1205" b="-13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8316E60D-95BB-9E4F-A6EE-ABC39606CCAE}"/>
                  </a:ext>
                </a:extLst>
              </p:cNvPr>
              <p:cNvSpPr txBox="1"/>
              <p:nvPr/>
            </p:nvSpPr>
            <p:spPr>
              <a:xfrm>
                <a:off x="1727215" y="4101548"/>
                <a:ext cx="4590231" cy="3436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600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600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ℒ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ko-KR" sz="1600" b="0" i="0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OT</m:t>
                          </m:r>
                          <m:r>
                            <a:rPr kumimoji="1" lang="en-US" altLang="ko-KR" sz="1600" b="0" i="0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kumimoji="1" lang="en-US" altLang="ko-KR" sz="1600" b="0" i="0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fm</m:t>
                          </m:r>
                        </m:sub>
                      </m:sSub>
                      <m:r>
                        <a:rPr kumimoji="1" lang="en-US" altLang="ko-KR" sz="1600" b="0" i="1" spc="-7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ko-KR" sz="1600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600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𝔼</m:t>
                          </m:r>
                        </m:e>
                        <m:sub>
                          <m:sSub>
                            <m:sSubPr>
                              <m:ctrlPr>
                                <a:rPr kumimoji="1" lang="en-US" altLang="ko-KR" sz="1600" b="0" i="1" spc="-70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1600" b="0" i="1" spc="-70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en-US" altLang="ko-KR" sz="1600" b="0" i="1" spc="-70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kumimoji="1" lang="en-US" altLang="ko-KR" sz="1600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  </m:t>
                          </m:r>
                          <m:sSub>
                            <m:sSubPr>
                              <m:ctrlPr>
                                <a:rPr kumimoji="1" lang="en-US" altLang="ko-KR" sz="1600" b="0" i="1" spc="-70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1600" b="0" i="1" spc="-70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en-US" altLang="ko-KR" sz="1600" b="0" i="1" spc="-70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kumimoji="1" lang="en-US" altLang="ko-KR" sz="1600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kumimoji="1" lang="en-US" altLang="ko-KR" sz="1600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kumimoji="1" lang="en-US" altLang="ko-KR" sz="1600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kumimoji="1" lang="en-US" altLang="ko-KR" sz="1600" b="0" i="1" spc="-70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ko-KR" sz="1600" b="0" i="1" spc="-70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kumimoji="1" lang="en-US" altLang="ko-KR" sz="1600" b="0" i="1" spc="-70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kumimoji="1" lang="en-US" altLang="ko-KR" sz="1600" b="0" i="1" spc="-70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𝑚𝑜𝑑𝑒𝑙</m:t>
                              </m:r>
                            </m:sup>
                          </m:sSubSup>
                          <m:d>
                            <m:dPr>
                              <m:ctrlPr>
                                <a:rPr kumimoji="1" lang="en-US" altLang="ko-KR" sz="1600" b="0" i="1" spc="-70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ko-KR" sz="1600" i="1" spc="-7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  <m:sSub>
                                <m:sSubPr>
                                  <m:ctrlPr>
                                    <a:rPr kumimoji="1" lang="en-US" altLang="ko-KR" sz="1600" i="1" spc="-7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ko-KR" sz="1600" i="1" spc="-7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1" lang="en-US" altLang="ko-KR" sz="1600" i="1" spc="-7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kumimoji="1" lang="en-US" altLang="ko-KR" sz="1600" i="1" spc="-7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d>
                                <m:dPr>
                                  <m:ctrlPr>
                                    <a:rPr kumimoji="1" lang="en-US" altLang="ko-KR" sz="1600" i="1" spc="-7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kumimoji="1" lang="en-US" altLang="ko-KR" sz="1600" i="1" spc="-7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1−</m:t>
                                  </m:r>
                                  <m:r>
                                    <a:rPr kumimoji="1" lang="en-US" altLang="ko-KR" sz="1600" i="1" spc="-7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sSub>
                                <m:sSubPr>
                                  <m:ctrlPr>
                                    <a:rPr kumimoji="1" lang="en-US" altLang="ko-KR" sz="1600" i="1" spc="-7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ko-KR" sz="1600" i="1" spc="-7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1" lang="en-US" altLang="ko-KR" sz="1600" i="1" spc="-7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  <m:r>
                            <a:rPr kumimoji="1" lang="en-US" altLang="ko-KR" sz="1600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−(</m:t>
                          </m:r>
                          <m:sSub>
                            <m:sSubPr>
                              <m:ctrlPr>
                                <a:rPr kumimoji="1" lang="en-US" altLang="ko-KR" sz="1600" b="0" i="1" spc="-70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1600" b="0" i="1" spc="-70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en-US" altLang="ko-KR" sz="1600" b="0" i="1" spc="-70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kumimoji="1" lang="en-US" altLang="ko-KR" sz="1600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kumimoji="1" lang="en-US" altLang="ko-KR" sz="1600" b="0" i="1" spc="-70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1600" b="0" i="1" spc="-70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en-US" altLang="ko-KR" sz="1600" b="0" i="1" spc="-70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kumimoji="1" lang="en-US" altLang="ko-KR" sz="1600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kumimoji="1" lang="ko-KR" altLang="en-US" sz="1600" spc="-7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8316E60D-95BB-9E4F-A6EE-ABC39606CC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7215" y="4101548"/>
                <a:ext cx="4590231" cy="343620"/>
              </a:xfrm>
              <a:prstGeom prst="rect">
                <a:avLst/>
              </a:prstGeom>
              <a:blipFill>
                <a:blip r:embed="rId8"/>
                <a:stretch>
                  <a:fillRect l="-551" b="-1851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00A9E8CD-DFE0-BD4F-A7B2-73082038097D}"/>
                  </a:ext>
                </a:extLst>
              </p:cNvPr>
              <p:cNvSpPr txBox="1"/>
              <p:nvPr/>
            </p:nvSpPr>
            <p:spPr>
              <a:xfrm>
                <a:off x="6236940" y="3438900"/>
                <a:ext cx="1448858" cy="2954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600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ko-KR" sz="1600" b="0" i="0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∇</m:t>
                          </m:r>
                          <m:r>
                            <a:rPr kumimoji="1" lang="en-US" altLang="ko-KR" sz="1600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kumimoji="1" lang="en-US" altLang="ko-KR" sz="1600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ℒ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ko-KR" sz="1600" b="0" i="0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fm</m:t>
                          </m:r>
                        </m:sub>
                      </m:sSub>
                      <m:r>
                        <a:rPr kumimoji="1" lang="en-US" altLang="ko-KR" sz="1600" b="0" i="1" spc="-7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ko-KR" sz="1600" i="1" spc="-7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ko-KR" sz="1600" b="0" i="0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∇</m:t>
                          </m:r>
                          <m:r>
                            <a:rPr kumimoji="1" lang="en-US" altLang="ko-KR" sz="1600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kumimoji="1" lang="en-US" altLang="ko-KR" sz="1600" i="1" spc="-7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ℒ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ko-KR" sz="1600" b="0" i="0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OT</m:t>
                          </m:r>
                          <m:r>
                            <a:rPr kumimoji="1" lang="en-US" altLang="ko-KR" sz="1600" b="0" i="0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kumimoji="1" lang="en-US" altLang="ko-KR" sz="1600" spc="-7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fm</m:t>
                          </m:r>
                        </m:sub>
                      </m:sSub>
                    </m:oMath>
                  </m:oMathPara>
                </a14:m>
                <a:endParaRPr kumimoji="1" lang="ko-KR" altLang="en-US" sz="1600" spc="-7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00A9E8CD-DFE0-BD4F-A7B2-7308203809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6940" y="3438900"/>
                <a:ext cx="1448858" cy="295466"/>
              </a:xfrm>
              <a:prstGeom prst="rect">
                <a:avLst/>
              </a:prstGeom>
              <a:blipFill>
                <a:blip r:embed="rId9"/>
                <a:stretch>
                  <a:fillRect l="-3478" r="-1739" b="-2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0FAA5593-A240-4E47-9E2F-E1A75783D23F}"/>
                  </a:ext>
                </a:extLst>
              </p:cNvPr>
              <p:cNvSpPr txBox="1"/>
              <p:nvPr/>
            </p:nvSpPr>
            <p:spPr>
              <a:xfrm>
                <a:off x="2326152" y="4976089"/>
                <a:ext cx="4169873" cy="109934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ko-KR" sz="1600" dirty="0">
                    <a:latin typeface="ITFDEVANAGARI-BOOK" panose="02000000000000000000" pitchFamily="2" charset="0"/>
                    <a:cs typeface="ITFDEVANAGARI-BOOK" panose="02000000000000000000" pitchFamily="2" charset="0"/>
                  </a:rPr>
                  <a:t>Initialize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" altLang="ko-KR" sz="16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~</m:t>
                    </m:r>
                    <m:r>
                      <a:rPr lang="ko-KR" alt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kumimoji="1" lang="en-US" altLang="ko-KR" sz="1600" dirty="0">
                    <a:latin typeface="ITFDEVANAGARI-BOOK" panose="02000000000000000000" pitchFamily="2" charset="0"/>
                    <a:cs typeface="ITFDEVANAGARI-BOOK" panose="02000000000000000000" pitchFamily="2" charset="0"/>
                  </a:rPr>
                  <a:t>,</a:t>
                </a:r>
              </a:p>
              <a:p>
                <a:r>
                  <a:rPr kumimoji="1" lang="en-US" altLang="ko-KR" sz="1600" dirty="0">
                    <a:latin typeface="ITFDEVANAGARI-BOOK" panose="02000000000000000000" pitchFamily="2" charset="0"/>
                    <a:cs typeface="ITFDEVANAGARI-BOOK" panose="02000000000000000000" pitchFamily="2" charset="0"/>
                  </a:rPr>
                  <a:t>for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𝑡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ko-KR" sz="16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</m:t>
                    </m:r>
                    <m:r>
                      <a:rPr lang="ko-KR" altLang="en-US" sz="16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ko-KR" altLang="en-US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→ 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kumimoji="1" lang="en-US" altLang="ko-KR" sz="1600" dirty="0">
                    <a:latin typeface="ITFDEVANAGARI-BOOK" panose="02000000000000000000" pitchFamily="2" charset="0"/>
                    <a:cs typeface="ITFDEVANAGARI-BOOK" panose="02000000000000000000" pitchFamily="2" charset="0"/>
                  </a:rPr>
                  <a:t> do</a:t>
                </a:r>
              </a:p>
              <a:p>
                <a:r>
                  <a:rPr lang="en-US" altLang="ko-KR" sz="1600" dirty="0">
                    <a:cs typeface="Times New Roman" panose="02020603050405020304" pitchFamily="18" charset="0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+∆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 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∆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𝑡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∙</m:t>
                    </m:r>
                    <m:sSubSup>
                      <m:sSubSup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𝑚𝑜𝑑𝑒𝑙</m:t>
                        </m:r>
                      </m:sup>
                    </m:sSubSup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kumimoji="1" lang="en-US" altLang="ko-KR" sz="1600" dirty="0">
                  <a:latin typeface="ITFDEVANAGARI-BOOK" panose="02000000000000000000" pitchFamily="2" charset="0"/>
                  <a:cs typeface="ITFDEVANAGARI-BOOK" panose="02000000000000000000" pitchFamily="2" charset="0"/>
                </a:endParaRPr>
              </a:p>
              <a:p>
                <a:r>
                  <a:rPr kumimoji="1" lang="en-US" altLang="ko-KR" sz="1600" dirty="0">
                    <a:latin typeface="ITFDEVANAGARI-BOOK" panose="02000000000000000000" pitchFamily="2" charset="0"/>
                    <a:cs typeface="ITFDEVANAGARI-BOOK" panose="02000000000000000000" pitchFamily="2" charset="0"/>
                  </a:rPr>
                  <a:t>Return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kumimoji="1" lang="ko-KR" altLang="en-US" sz="1600" dirty="0">
                  <a:latin typeface="ITFDEVANAGARI-BOOK" panose="02000000000000000000" pitchFamily="2" charset="0"/>
                  <a:cs typeface="ITFDEVANAGARI-BOOK" panose="02000000000000000000" pitchFamily="2" charset="0"/>
                </a:endParaRPr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0FAA5593-A240-4E47-9E2F-E1A75783D2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6152" y="4976089"/>
                <a:ext cx="4169873" cy="1099340"/>
              </a:xfrm>
              <a:prstGeom prst="rect">
                <a:avLst/>
              </a:prstGeom>
              <a:blipFill>
                <a:blip r:embed="rId10"/>
                <a:stretch>
                  <a:fillRect l="-604" t="-2247" b="-2247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왼쪽으로 구부러진 화살표[C] 20">
            <a:extLst>
              <a:ext uri="{FF2B5EF4-FFF2-40B4-BE49-F238E27FC236}">
                <a16:creationId xmlns:a16="http://schemas.microsoft.com/office/drawing/2014/main" id="{3D4DE054-00A8-9541-8168-B19B90DF7A9C}"/>
              </a:ext>
            </a:extLst>
          </p:cNvPr>
          <p:cNvSpPr/>
          <p:nvPr/>
        </p:nvSpPr>
        <p:spPr>
          <a:xfrm rot="18700313">
            <a:off x="5236043" y="3235272"/>
            <a:ext cx="265044" cy="887528"/>
          </a:xfrm>
          <a:prstGeom prst="curvedLeftArrow">
            <a:avLst>
              <a:gd name="adj1" fmla="val 25000"/>
              <a:gd name="adj2" fmla="val 60628"/>
              <a:gd name="adj3" fmla="val 4311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solidFill>
                <a:schemeClr val="tx1"/>
              </a:solidFill>
            </a:endParaRPr>
          </a:p>
        </p:txBody>
      </p:sp>
      <p:pic>
        <p:nvPicPr>
          <p:cNvPr id="61" name="그림 60">
            <a:extLst>
              <a:ext uri="{FF2B5EF4-FFF2-40B4-BE49-F238E27FC236}">
                <a16:creationId xmlns:a16="http://schemas.microsoft.com/office/drawing/2014/main" id="{6A74ACD6-B87D-C246-A916-0643AD30D5F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36187" y="3928516"/>
            <a:ext cx="3354753" cy="2517884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2A153005-DC09-B84A-9B60-CDB4B09CCADD}"/>
              </a:ext>
            </a:extLst>
          </p:cNvPr>
          <p:cNvSpPr txBox="1"/>
          <p:nvPr/>
        </p:nvSpPr>
        <p:spPr>
          <a:xfrm>
            <a:off x="317270" y="4498421"/>
            <a:ext cx="9898839" cy="395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pc="-7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After training, we can generate data by follows: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CA01E7DC-F319-DB45-BF58-A166F3DB90AD}"/>
                  </a:ext>
                </a:extLst>
              </p:cNvPr>
              <p:cNvSpPr txBox="1"/>
              <p:nvPr/>
            </p:nvSpPr>
            <p:spPr>
              <a:xfrm>
                <a:off x="8181156" y="3622960"/>
                <a:ext cx="502102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Figure of source distribution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ko-KR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data distribution </a:t>
                </a:r>
                <a14:m>
                  <m:oMath xmlns:m="http://schemas.openxmlformats.org/officeDocument/2006/math">
                    <m:r>
                      <a:rPr lang="en-US" altLang="ko-KR" sz="1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𝑞</m:t>
                    </m:r>
                  </m:oMath>
                </a14:m>
                <a:r>
                  <a:rPr lang="en-US" altLang="ko-KR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" altLang="ko-KR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CA01E7DC-F319-DB45-BF58-A166F3DB90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1156" y="3622960"/>
                <a:ext cx="5021029" cy="276999"/>
              </a:xfrm>
              <a:prstGeom prst="rect">
                <a:avLst/>
              </a:prstGeom>
              <a:blipFill>
                <a:blip r:embed="rId12"/>
                <a:stretch>
                  <a:fillRect b="-1739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7088D230-E3AF-C040-8EDE-6410CB6FAD1C}"/>
                  </a:ext>
                </a:extLst>
              </p:cNvPr>
              <p:cNvSpPr txBox="1"/>
              <p:nvPr/>
            </p:nvSpPr>
            <p:spPr>
              <a:xfrm>
                <a:off x="8181157" y="6463641"/>
                <a:ext cx="502102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Optimal transport between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sz="1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ko-KR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 </a:t>
                </a:r>
                <a14:m>
                  <m:oMath xmlns:m="http://schemas.openxmlformats.org/officeDocument/2006/math">
                    <m:r>
                      <a:rPr lang="en-US" altLang="ko-KR" sz="1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𝑞</m:t>
                    </m:r>
                  </m:oMath>
                </a14:m>
                <a:endParaRPr lang="en" altLang="ko-KR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7088D230-E3AF-C040-8EDE-6410CB6FAD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1157" y="6463641"/>
                <a:ext cx="5021029" cy="276999"/>
              </a:xfrm>
              <a:prstGeom prst="rect">
                <a:avLst/>
              </a:prstGeom>
              <a:blipFill>
                <a:blip r:embed="rId13"/>
                <a:stretch>
                  <a:fillRect b="-1739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EE62F80D-80B2-4040-BD73-1CE63E73BC58}"/>
                  </a:ext>
                </a:extLst>
              </p:cNvPr>
              <p:cNvSpPr txBox="1"/>
              <p:nvPr/>
            </p:nvSpPr>
            <p:spPr>
              <a:xfrm>
                <a:off x="6090202" y="3142640"/>
                <a:ext cx="1742335" cy="2954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600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600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ko-KR" sz="1600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</m:sSub>
                      <m:r>
                        <a:rPr kumimoji="1" lang="en-US" altLang="ko-KR" sz="1600" b="0" i="1" spc="-7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kumimoji="1" lang="en-US" altLang="ko-KR" sz="1600" b="0" i="1" spc="-7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𝑡</m:t>
                      </m:r>
                      <m:sSub>
                        <m:sSubPr>
                          <m:ctrlPr>
                            <a:rPr kumimoji="1" lang="en-US" altLang="ko-KR" sz="1600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600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ko-KR" sz="1600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ko-KR" sz="1600" b="0" i="1" spc="-7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d>
                        <m:dPr>
                          <m:ctrlPr>
                            <a:rPr kumimoji="1" lang="en-US" altLang="ko-KR" sz="1600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kumimoji="1" lang="en-US" altLang="ko-KR" sz="1600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1−</m:t>
                          </m:r>
                          <m:r>
                            <a:rPr kumimoji="1" lang="en-US" altLang="ko-KR" sz="1600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</m:d>
                      <m:sSub>
                        <m:sSubPr>
                          <m:ctrlPr>
                            <a:rPr kumimoji="1" lang="en-US" altLang="ko-KR" sz="1600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600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ko-KR" sz="1600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kumimoji="1" lang="ko-KR" altLang="en-US" sz="1600" spc="-7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EE62F80D-80B2-4040-BD73-1CE63E73BC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0202" y="3142640"/>
                <a:ext cx="1742335" cy="295466"/>
              </a:xfrm>
              <a:prstGeom prst="rect">
                <a:avLst/>
              </a:prstGeom>
              <a:blipFill>
                <a:blip r:embed="rId14"/>
                <a:stretch>
                  <a:fillRect l="-1449" r="-725" b="-8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" name="lbl1">
            <a:extLst>
              <a:ext uri="{FF2B5EF4-FFF2-40B4-BE49-F238E27FC236}">
                <a16:creationId xmlns:a16="http://schemas.microsoft.com/office/drawing/2014/main" id="{7F295A2F-2ECE-1F42-A70F-0C1355834C40}"/>
              </a:ext>
            </a:extLst>
          </p:cNvPr>
          <p:cNvSpPr txBox="1"/>
          <p:nvPr/>
        </p:nvSpPr>
        <p:spPr>
          <a:xfrm>
            <a:off x="6126226" y="2859816"/>
            <a:ext cx="17208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404040"/>
                </a:solidFill>
                <a:latin typeface="Times New Roman" panose="02020603050405020304" pitchFamily="18" charset="0"/>
              </a:rPr>
              <a:t>O</a:t>
            </a:r>
            <a:r>
              <a:rPr lang="en-US" sz="1600" b="0" dirty="0">
                <a:solidFill>
                  <a:srgbClr val="404040"/>
                </a:solidFill>
                <a:latin typeface="Times New Roman" panose="02020603050405020304" pitchFamily="18" charset="0"/>
              </a:rPr>
              <a:t>ptimal transport</a:t>
            </a: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55EA6108-C673-174F-AEE9-3625344FE166}"/>
              </a:ext>
            </a:extLst>
          </p:cNvPr>
          <p:cNvSpPr/>
          <p:nvPr/>
        </p:nvSpPr>
        <p:spPr>
          <a:xfrm>
            <a:off x="5782854" y="2904743"/>
            <a:ext cx="2292253" cy="867724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384058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77B2F82-531A-EA41-941C-17071486B50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113837" y="814498"/>
            <a:ext cx="2743200" cy="365125"/>
          </a:xfrm>
        </p:spPr>
        <p:txBody>
          <a:bodyPr/>
          <a:lstStyle/>
          <a:p>
            <a:fld id="{683A3AC8-7E39-1245-98E2-08D56C5B5689}" type="slidenum">
              <a:rPr kumimoji="1" lang="ko-Kore-KR" altLang="en-US" smtClean="0"/>
              <a:t>6</a:t>
            </a:fld>
            <a:endParaRPr kumimoji="1" lang="ko-Kore-KR" altLang="en-US"/>
          </a:p>
        </p:txBody>
      </p:sp>
      <p:cxnSp>
        <p:nvCxnSpPr>
          <p:cNvPr id="4" name="직선 연결선[R] 3">
            <a:extLst>
              <a:ext uri="{FF2B5EF4-FFF2-40B4-BE49-F238E27FC236}">
                <a16:creationId xmlns:a16="http://schemas.microsoft.com/office/drawing/2014/main" id="{8ACD5E43-4406-0547-9F25-E5BAE9F992AF}"/>
              </a:ext>
            </a:extLst>
          </p:cNvPr>
          <p:cNvCxnSpPr>
            <a:cxnSpLocks/>
          </p:cNvCxnSpPr>
          <p:nvPr/>
        </p:nvCxnSpPr>
        <p:spPr>
          <a:xfrm>
            <a:off x="334963" y="1101344"/>
            <a:ext cx="11522075" cy="0"/>
          </a:xfrm>
          <a:prstGeom prst="line">
            <a:avLst/>
          </a:prstGeom>
          <a:ln w="19050">
            <a:gradFill flip="none" rotWithShape="1">
              <a:gsLst>
                <a:gs pos="0">
                  <a:schemeClr val="bg1"/>
                </a:gs>
                <a:gs pos="39000">
                  <a:srgbClr val="76D6FF"/>
                </a:gs>
                <a:gs pos="99000">
                  <a:schemeClr val="accent5">
                    <a:lumMod val="75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55829DB6-98BD-614C-82C4-EEC75995F310}"/>
              </a:ext>
            </a:extLst>
          </p:cNvPr>
          <p:cNvSpPr txBox="1"/>
          <p:nvPr/>
        </p:nvSpPr>
        <p:spPr>
          <a:xfrm>
            <a:off x="1146580" y="266600"/>
            <a:ext cx="6015582" cy="3282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en-US" altLang="ko-KR" sz="1400" spc="-70" dirty="0">
                <a:solidFill>
                  <a:schemeClr val="tx1">
                    <a:lumMod val="95000"/>
                    <a:lumOff val="5000"/>
                  </a:schemeClr>
                </a:solidFill>
                <a:latin typeface="Helvetica Neue Medium" panose="02000503000000020004" pitchFamily="2" charset="0"/>
                <a:cs typeface="Helvetica Neue Medium" panose="02000503000000020004" pitchFamily="2" charset="0"/>
              </a:rPr>
              <a:t>JANUS Design &amp; Architecture</a:t>
            </a:r>
            <a:endParaRPr kumimoji="1" lang="ko-KR" altLang="en-US" sz="1400" spc="-70" dirty="0">
              <a:solidFill>
                <a:schemeClr val="tx1">
                  <a:lumMod val="95000"/>
                  <a:lumOff val="5000"/>
                </a:schemeClr>
              </a:solidFill>
              <a:latin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D321DE3-6BA4-1343-8CC3-8A9CB74C1965}"/>
              </a:ext>
            </a:extLst>
          </p:cNvPr>
          <p:cNvSpPr/>
          <p:nvPr/>
        </p:nvSpPr>
        <p:spPr>
          <a:xfrm>
            <a:off x="334963" y="294833"/>
            <a:ext cx="811617" cy="811617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5000"/>
                  <a:alpha val="95051"/>
                </a:schemeClr>
              </a:gs>
              <a:gs pos="23000">
                <a:schemeClr val="accent5">
                  <a:lumMod val="40000"/>
                  <a:lumOff val="60000"/>
                </a:schemeClr>
              </a:gs>
              <a:gs pos="49000">
                <a:srgbClr val="76A6D2"/>
              </a:gs>
              <a:gs pos="76000">
                <a:schemeClr val="accent5">
                  <a:lumMod val="7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2800" b="1" dirty="0">
                <a:solidFill>
                  <a:schemeClr val="bg1">
                    <a:lumMod val="9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03</a:t>
            </a:r>
            <a:endParaRPr kumimoji="1" lang="ko-KR" altLang="en-US" sz="2800" b="1" dirty="0">
              <a:solidFill>
                <a:schemeClr val="bg1">
                  <a:lumMod val="95000"/>
                </a:schemeClr>
              </a:solidFill>
              <a:latin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26EDAB15-C1FA-C246-A081-04E2DF2AFDCD}"/>
              </a:ext>
            </a:extLst>
          </p:cNvPr>
          <p:cNvSpPr txBox="1">
            <a:spLocks/>
          </p:cNvSpPr>
          <p:nvPr/>
        </p:nvSpPr>
        <p:spPr>
          <a:xfrm>
            <a:off x="1146579" y="509396"/>
            <a:ext cx="10278165" cy="631869"/>
          </a:xfrm>
          <a:prstGeom prst="rect">
            <a:avLst/>
          </a:prstGeom>
        </p:spPr>
        <p:txBody>
          <a:bodyPr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en-US" sz="5000" b="1" spc="-15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JANUS</a:t>
            </a:r>
            <a:endParaRPr kumimoji="1" lang="ko-Kore-KR" altLang="en-US" sz="5000" b="1" spc="-150" dirty="0">
              <a:latin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0DBE219-2379-0C40-85FB-78BE8C2BB8E9}"/>
              </a:ext>
            </a:extLst>
          </p:cNvPr>
          <p:cNvSpPr txBox="1"/>
          <p:nvPr/>
        </p:nvSpPr>
        <p:spPr>
          <a:xfrm>
            <a:off x="378945" y="1169487"/>
            <a:ext cx="9898839" cy="3956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b="1" spc="-7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JANUS : J</a:t>
            </a:r>
            <a:r>
              <a:rPr lang="en-US" altLang="ko-KR" spc="-7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oint generative </a:t>
            </a:r>
            <a:r>
              <a:rPr lang="en-US" altLang="ko-KR" b="1" spc="-7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ko-KR" spc="-7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 for </a:t>
            </a:r>
            <a:r>
              <a:rPr lang="en-US" altLang="ko-KR" b="1" spc="-7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ko-KR" spc="-7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eutrino </a:t>
            </a:r>
            <a:r>
              <a:rPr lang="en-US" altLang="ko-KR" spc="-7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reconstr</a:t>
            </a:r>
            <a:r>
              <a:rPr lang="en-US" altLang="ko-KR" b="1" spc="-7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ko-KR" spc="-7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ction</a:t>
            </a:r>
            <a:r>
              <a:rPr lang="en-US" altLang="ko-KR" spc="-7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ko-KR" b="1" spc="-7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ko-KR" spc="-7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imulation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809AF6D3-5B55-4246-A900-E27FE56BC1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0300" y="2607390"/>
            <a:ext cx="2291862" cy="2914195"/>
          </a:xfrm>
          <a:prstGeom prst="rect">
            <a:avLst/>
          </a:prstGeom>
        </p:spPr>
      </p:pic>
      <p:grpSp>
        <p:nvGrpSpPr>
          <p:cNvPr id="13" name="그룹 12">
            <a:extLst>
              <a:ext uri="{FF2B5EF4-FFF2-40B4-BE49-F238E27FC236}">
                <a16:creationId xmlns:a16="http://schemas.microsoft.com/office/drawing/2014/main" id="{7303FB65-39D0-6241-9A88-A4FAAA466E15}"/>
              </a:ext>
            </a:extLst>
          </p:cNvPr>
          <p:cNvGrpSpPr/>
          <p:nvPr/>
        </p:nvGrpSpPr>
        <p:grpSpPr>
          <a:xfrm>
            <a:off x="2222372" y="3596175"/>
            <a:ext cx="2469494" cy="934720"/>
            <a:chOff x="2259585" y="3323557"/>
            <a:chExt cx="2469494" cy="934720"/>
          </a:xfrm>
        </p:grpSpPr>
        <p:sp>
          <p:nvSpPr>
            <p:cNvPr id="11" name="톱니 모양의 오른쪽 화살표[N] 10">
              <a:extLst>
                <a:ext uri="{FF2B5EF4-FFF2-40B4-BE49-F238E27FC236}">
                  <a16:creationId xmlns:a16="http://schemas.microsoft.com/office/drawing/2014/main" id="{5CFDB097-BE39-DB49-9F5D-75BFB66BEDBF}"/>
                </a:ext>
              </a:extLst>
            </p:cNvPr>
            <p:cNvSpPr/>
            <p:nvPr/>
          </p:nvSpPr>
          <p:spPr>
            <a:xfrm>
              <a:off x="2259585" y="3579255"/>
              <a:ext cx="2469494" cy="376488"/>
            </a:xfrm>
            <a:prstGeom prst="notchedRightArrow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37" name="모서리가 둥근 직사각형 36">
              <a:extLst>
                <a:ext uri="{FF2B5EF4-FFF2-40B4-BE49-F238E27FC236}">
                  <a16:creationId xmlns:a16="http://schemas.microsoft.com/office/drawing/2014/main" id="{1AF8F7E0-7DEA-3A41-96CA-559720AF8372}"/>
                </a:ext>
              </a:extLst>
            </p:cNvPr>
            <p:cNvSpPr/>
            <p:nvPr/>
          </p:nvSpPr>
          <p:spPr>
            <a:xfrm>
              <a:off x="2743241" y="3323557"/>
              <a:ext cx="1502183" cy="93472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b="1" dirty="0">
                  <a:solidFill>
                    <a:schemeClr val="tx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JANUS</a:t>
              </a:r>
            </a:p>
            <a:p>
              <a:pPr algn="ctr"/>
              <a:r>
                <a:rPr kumimoji="1" lang="en-US" altLang="ko-KR" sz="1400" dirty="0">
                  <a:solidFill>
                    <a:schemeClr val="tx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(generator)</a:t>
              </a:r>
              <a:endParaRPr kumimoji="1" lang="ko-KR" altLang="en-US" sz="1400" dirty="0">
                <a:solidFill>
                  <a:schemeClr val="tx1"/>
                </a:solidFill>
                <a:latin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85C09BF5-2E97-D541-BC01-170FF2D89624}"/>
                  </a:ext>
                </a:extLst>
              </p:cNvPr>
              <p:cNvSpPr txBox="1"/>
              <p:nvPr/>
            </p:nvSpPr>
            <p:spPr>
              <a:xfrm>
                <a:off x="578872" y="1541477"/>
                <a:ext cx="11034256" cy="10002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itchFamily="2" charset="2"/>
                  <a:buChar char="§"/>
                </a:pPr>
                <a:r>
                  <a:rPr lang="en-US" altLang="ko-K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JANUS is trained to generate track events conditioned on neutrino parameters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 </m:t>
                    </m:r>
                    <m:d>
                      <m:dPr>
                        <m:begChr m:val="["/>
                        <m:endChr m:val="]"/>
                        <m:ctrlPr>
                          <a:rPr lang="en-US" altLang="ko-KR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𝑬</m:t>
                        </m:r>
                        <m:r>
                          <a:rPr lang="en-US" altLang="ko-KR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a:rPr lang="en-US" altLang="ko-KR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𝜽</m:t>
                        </m:r>
                        <m:r>
                          <a:rPr lang="en-US" altLang="ko-KR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a:rPr lang="en-US" altLang="ko-KR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𝝓</m:t>
                        </m:r>
                        <m:r>
                          <a:rPr lang="en-US" altLang="ko-KR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a:rPr lang="en-US" altLang="ko-KR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𝒙</m:t>
                        </m:r>
                        <m:r>
                          <a:rPr lang="en-US" altLang="ko-KR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a:rPr lang="en-US" altLang="ko-KR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𝒚</m:t>
                        </m:r>
                        <m:r>
                          <a:rPr lang="en-US" altLang="ko-KR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a:rPr lang="en-US" altLang="ko-KR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𝒛</m:t>
                        </m:r>
                      </m:e>
                    </m:d>
                  </m:oMath>
                </a14:m>
                <a:endParaRPr lang="en-US" altLang="ko-KR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altLang="ko-KR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altLang="ko-KR" sz="5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Wingdings" pitchFamily="2" charset="2"/>
                  <a:buChar char="§"/>
                </a:pPr>
                <a:r>
                  <a:rPr lang="en-US" altLang="ko-K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After training, JANUS enables likelihood estimation without additional training</a:t>
                </a:r>
                <a:endParaRPr lang="en" altLang="ko-KR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85C09BF5-2E97-D541-BC01-170FF2D896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872" y="1541477"/>
                <a:ext cx="11034256" cy="1000274"/>
              </a:xfrm>
              <a:prstGeom prst="rect">
                <a:avLst/>
              </a:prstGeom>
              <a:blipFill>
                <a:blip r:embed="rId4"/>
                <a:stretch>
                  <a:fillRect l="-345" t="-2500" b="-875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f4">
                <a:extLst>
                  <a:ext uri="{FF2B5EF4-FFF2-40B4-BE49-F238E27FC236}">
                    <a16:creationId xmlns:a16="http://schemas.microsoft.com/office/drawing/2014/main" id="{5E77B3E4-2274-334F-A57A-C972692D930F}"/>
                  </a:ext>
                </a:extLst>
              </p:cNvPr>
              <p:cNvSpPr txBox="1"/>
              <p:nvPr/>
            </p:nvSpPr>
            <p:spPr>
              <a:xfrm>
                <a:off x="7558709" y="5102171"/>
                <a:ext cx="4543423" cy="6637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sz="1600" b="0" i="1" spc="-70" smtClean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𝑙𝑜𝑔</m:t>
                      </m:r>
                      <m:r>
                        <a:rPr kumimoji="1" lang="en-US" sz="1600" b="0" i="1" spc="-70" smtClean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kumimoji="1" lang="en-US" sz="1600" b="0" i="1" spc="-70" smtClean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sz="1600" b="0" i="1" spc="-70" smtClean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kumimoji="1" lang="en-US" sz="1600" b="0" i="1" spc="-70" smtClean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kumimoji="1" lang="en-US" sz="1600" b="0" i="1" spc="-70" smtClean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sz="1600" b="0" i="1" spc="-70" smtClean="0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sz="1600" b="0" i="1" spc="-70" smtClean="0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en-US" sz="1600" b="0" i="1" spc="-70" smtClean="0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kumimoji="1" lang="en-US" sz="1600" b="0" i="1" spc="-70" smtClean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 | </m:t>
                          </m:r>
                          <m:r>
                            <a:rPr kumimoji="1" lang="en-US" sz="1600" b="0" i="1" spc="-70" smtClean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  <m:r>
                        <a:rPr kumimoji="1" lang="en-US" sz="1600" b="0" i="1" spc="-70" smtClean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kumimoji="1" lang="en-US" sz="1600" b="0" i="1" spc="-70" smtClean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𝑙𝑜𝑔</m:t>
                      </m:r>
                      <m:r>
                        <a:rPr kumimoji="1" lang="en-US" sz="1600" b="0" i="1" spc="-70" smtClean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kumimoji="1" lang="en-US" sz="1600" b="0" i="1" spc="-70" smtClean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sz="1600" b="0" i="1" spc="-70" smtClean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kumimoji="1" lang="en-US" sz="1600" b="0" i="1" spc="-70" smtClean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kumimoji="1" lang="en-US" sz="1600" b="0" i="1" spc="-70" smtClean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sz="1600" b="0" i="1" spc="-70" smtClean="0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sz="1600" b="0" i="1" spc="-70" smtClean="0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en-US" sz="1600" b="0" i="1" spc="-70" smtClean="0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kumimoji="1" lang="en-US" sz="1600" b="0" i="1" spc="-70" smtClean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 − </m:t>
                      </m:r>
                      <m:nary>
                        <m:naryPr>
                          <m:limLoc m:val="subSup"/>
                          <m:ctrlPr>
                            <a:rPr kumimoji="1" lang="en-US" sz="1600" b="0" i="1" spc="-70" smtClean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kumimoji="1" lang="en-US" sz="1600" b="0" i="1" spc="-70" smtClean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kumimoji="1" lang="en-US" sz="1600" b="0" i="1" spc="-70" smtClean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kumimoji="1" lang="en-US" sz="1600" b="0" i="0" spc="-70" smtClean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∇</m:t>
                          </m:r>
                          <m:r>
                            <a:rPr kumimoji="1" lang="en-US" sz="1600" b="0" i="1" spc="-70" smtClean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sz="1600" b="0" i="1" spc="-70" smtClean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kumimoji="1" lang="en-US" sz="1600" b="0" i="1" spc="-70" smtClean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Sup>
                            <m:sSubSupPr>
                              <m:ctrlPr>
                                <a:rPr kumimoji="1" lang="en-US" sz="1600" b="0" i="1" spc="-70" smtClean="0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sz="1600" b="0" i="1" spc="-70" smtClean="0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kumimoji="1" lang="en-US" sz="1600" b="0" i="1" spc="-70" smtClean="0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kumimoji="1" lang="en-US" sz="1600" b="0" i="1" spc="-70" smtClean="0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𝐽𝐴𝑁𝑈𝑆</m:t>
                              </m:r>
                            </m:sup>
                          </m:sSubSup>
                          <m:d>
                            <m:dPr>
                              <m:ctrlPr>
                                <a:rPr kumimoji="1" lang="en-US" sz="1600" b="0" i="1" spc="-70" smtClean="0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1" lang="en-US" sz="1600" b="0" i="1" spc="-70" smtClean="0">
                                      <a:solidFill>
                                        <a:srgbClr val="1A1A1A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sz="1600" b="0" i="1" spc="-70" smtClean="0">
                                      <a:solidFill>
                                        <a:srgbClr val="1A1A1A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1" lang="en-US" sz="1600" b="0" i="1" spc="-70" smtClean="0">
                                      <a:solidFill>
                                        <a:srgbClr val="1A1A1A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kumimoji="1" lang="en-US" sz="1600" b="0" i="1" spc="-70" smtClean="0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 , </m:t>
                              </m:r>
                              <m:r>
                                <a:rPr kumimoji="1" lang="en-US" sz="1600" b="0" i="1" spc="-70" smtClean="0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d>
                          <m:r>
                            <a:rPr kumimoji="1" lang="en-US" sz="1600" b="0" i="1" spc="-70" smtClean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kumimoji="1" lang="en-US" sz="1600" b="0" i="1" spc="-70" smtClean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sz="2000" dirty="0"/>
              </a:p>
            </p:txBody>
          </p:sp>
        </mc:Choice>
        <mc:Fallback xmlns="">
          <p:sp>
            <p:nvSpPr>
              <p:cNvPr id="27" name="f4">
                <a:extLst>
                  <a:ext uri="{FF2B5EF4-FFF2-40B4-BE49-F238E27FC236}">
                    <a16:creationId xmlns:a16="http://schemas.microsoft.com/office/drawing/2014/main" id="{5E77B3E4-2274-334F-A57A-C972692D93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8709" y="5102171"/>
                <a:ext cx="4543423" cy="663708"/>
              </a:xfrm>
              <a:prstGeom prst="rect">
                <a:avLst/>
              </a:prstGeom>
              <a:blipFill>
                <a:blip r:embed="rId5"/>
                <a:stretch>
                  <a:fillRect l="-1955" t="-131481" b="-2111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3360BEB-8273-3A4A-9E8D-BB78679ED5EC}"/>
                  </a:ext>
                </a:extLst>
              </p:cNvPr>
              <p:cNvSpPr txBox="1"/>
              <p:nvPr/>
            </p:nvSpPr>
            <p:spPr>
              <a:xfrm>
                <a:off x="8616531" y="1909451"/>
                <a:ext cx="3132557" cy="7386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14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𝑬</m:t>
                    </m:r>
                  </m:oMath>
                </a14:m>
                <a:r>
                  <a:rPr lang="en-US" altLang="ko-KR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: neutrino energy </a:t>
                </a:r>
              </a:p>
              <a:p>
                <a14:m>
                  <m:oMath xmlns:m="http://schemas.openxmlformats.org/officeDocument/2006/math">
                    <m:r>
                      <a:rPr lang="en-US" altLang="ko-KR" sz="1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𝜽</m:t>
                    </m:r>
                    <m:r>
                      <a:rPr lang="en-US" altLang="ko-KR" sz="1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ko-KR" sz="1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𝝓</m:t>
                    </m:r>
                  </m:oMath>
                </a14:m>
                <a:r>
                  <a:rPr lang="en-US" altLang="ko-KR" sz="1400" b="1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: incoming zenith, azimuth angle</a:t>
                </a:r>
                <a:endParaRPr lang="en-US" altLang="ko-KR" sz="1400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altLang="ko-KR" sz="1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𝒙</m:t>
                    </m:r>
                    <m:r>
                      <a:rPr lang="en-US" altLang="ko-KR" sz="1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ko-KR" sz="1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𝒚</m:t>
                    </m:r>
                    <m:r>
                      <a:rPr lang="en-US" altLang="ko-KR" sz="1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altLang="ko-KR" sz="1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𝒛</m:t>
                    </m:r>
                  </m:oMath>
                </a14:m>
                <a:r>
                  <a:rPr lang="en-US" altLang="ko-KR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ko-KR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track starting point</a:t>
                </a: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3360BEB-8273-3A4A-9E8D-BB78679ED5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6531" y="1909451"/>
                <a:ext cx="3132557" cy="738664"/>
              </a:xfrm>
              <a:prstGeom prst="rect">
                <a:avLst/>
              </a:prstGeom>
              <a:blipFill>
                <a:blip r:embed="rId6"/>
                <a:stretch>
                  <a:fillRect b="-666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0" name="그룹 29">
            <a:extLst>
              <a:ext uri="{FF2B5EF4-FFF2-40B4-BE49-F238E27FC236}">
                <a16:creationId xmlns:a16="http://schemas.microsoft.com/office/drawing/2014/main" id="{907E88F3-3CDF-6146-AD55-A8BEB211A3F0}"/>
              </a:ext>
            </a:extLst>
          </p:cNvPr>
          <p:cNvGrpSpPr/>
          <p:nvPr/>
        </p:nvGrpSpPr>
        <p:grpSpPr>
          <a:xfrm>
            <a:off x="7416432" y="3597128"/>
            <a:ext cx="2469494" cy="934720"/>
            <a:chOff x="2259585" y="3323557"/>
            <a:chExt cx="2469494" cy="934720"/>
          </a:xfrm>
        </p:grpSpPr>
        <p:sp>
          <p:nvSpPr>
            <p:cNvPr id="31" name="톱니 모양의 오른쪽 화살표[N] 30">
              <a:extLst>
                <a:ext uri="{FF2B5EF4-FFF2-40B4-BE49-F238E27FC236}">
                  <a16:creationId xmlns:a16="http://schemas.microsoft.com/office/drawing/2014/main" id="{61AEBF11-749B-E148-B1A8-EEA4EE523933}"/>
                </a:ext>
              </a:extLst>
            </p:cNvPr>
            <p:cNvSpPr/>
            <p:nvPr/>
          </p:nvSpPr>
          <p:spPr>
            <a:xfrm>
              <a:off x="2259585" y="3579255"/>
              <a:ext cx="2469494" cy="376488"/>
            </a:xfrm>
            <a:prstGeom prst="notchedRightArrow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32" name="모서리가 둥근 직사각형 31">
              <a:extLst>
                <a:ext uri="{FF2B5EF4-FFF2-40B4-BE49-F238E27FC236}">
                  <a16:creationId xmlns:a16="http://schemas.microsoft.com/office/drawing/2014/main" id="{9E6EB2E3-D2F9-D043-B83F-82D55EEA450F}"/>
                </a:ext>
              </a:extLst>
            </p:cNvPr>
            <p:cNvSpPr/>
            <p:nvPr/>
          </p:nvSpPr>
          <p:spPr>
            <a:xfrm>
              <a:off x="2743241" y="3323557"/>
              <a:ext cx="1502183" cy="93472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b="1" dirty="0">
                  <a:solidFill>
                    <a:schemeClr val="tx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JANUS</a:t>
              </a:r>
            </a:p>
            <a:p>
              <a:pPr algn="ctr"/>
              <a:r>
                <a:rPr kumimoji="1" lang="en-US" altLang="ko-KR" sz="1400" dirty="0">
                  <a:solidFill>
                    <a:schemeClr val="tx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(</a:t>
              </a:r>
              <a:r>
                <a:rPr kumimoji="1" lang="en-US" altLang="ko-KR" sz="1400" dirty="0" err="1">
                  <a:solidFill>
                    <a:schemeClr val="tx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reconstructor</a:t>
              </a:r>
              <a:r>
                <a:rPr kumimoji="1" lang="en-US" altLang="ko-KR" sz="1400" dirty="0">
                  <a:solidFill>
                    <a:schemeClr val="tx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)</a:t>
              </a:r>
              <a:endParaRPr kumimoji="1" lang="ko-KR" altLang="en-US" sz="1400" dirty="0">
                <a:solidFill>
                  <a:schemeClr val="tx1"/>
                </a:solidFill>
                <a:latin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8E37A857-43E5-9D45-A85B-FE0A0D97CE24}"/>
                  </a:ext>
                </a:extLst>
              </p:cNvPr>
              <p:cNvSpPr txBox="1"/>
              <p:nvPr/>
            </p:nvSpPr>
            <p:spPr>
              <a:xfrm>
                <a:off x="38504" y="3825630"/>
                <a:ext cx="247184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ko-KR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ko-KR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𝑬</m:t>
                          </m:r>
                          <m:r>
                            <a:rPr lang="en-US" altLang="ko-KR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 </m:t>
                          </m:r>
                          <m:r>
                            <a:rPr lang="en-US" altLang="ko-KR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𝜽</m:t>
                          </m:r>
                          <m:r>
                            <a:rPr lang="en-US" altLang="ko-KR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 </m:t>
                          </m:r>
                          <m:r>
                            <a:rPr lang="en-US" altLang="ko-KR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𝝓</m:t>
                          </m:r>
                          <m:r>
                            <a:rPr lang="en-US" altLang="ko-KR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 </m:t>
                          </m:r>
                          <m:r>
                            <a:rPr lang="en-US" altLang="ko-KR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𝒙</m:t>
                          </m:r>
                          <m:r>
                            <a:rPr lang="en-US" altLang="ko-KR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 </m:t>
                          </m:r>
                          <m:r>
                            <a:rPr lang="en-US" altLang="ko-KR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𝒚</m:t>
                          </m:r>
                          <m:r>
                            <a:rPr lang="en-US" altLang="ko-KR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 </m:t>
                          </m:r>
                          <m:r>
                            <a:rPr lang="en-US" altLang="ko-KR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𝒛</m:t>
                          </m:r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8E37A857-43E5-9D45-A85B-FE0A0D97CE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04" y="3825630"/>
                <a:ext cx="2471842" cy="369332"/>
              </a:xfrm>
              <a:prstGeom prst="rect">
                <a:avLst/>
              </a:prstGeom>
              <a:blipFill>
                <a:blip r:embed="rId7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231E0348-9978-914C-9241-368F1307FB9F}"/>
                  </a:ext>
                </a:extLst>
              </p:cNvPr>
              <p:cNvSpPr txBox="1"/>
              <p:nvPr/>
            </p:nvSpPr>
            <p:spPr>
              <a:xfrm>
                <a:off x="9630290" y="3822982"/>
                <a:ext cx="247184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ko-KR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ko-KR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𝑬</m:t>
                          </m:r>
                          <m:r>
                            <a:rPr lang="en-US" altLang="ko-KR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 </m:t>
                          </m:r>
                          <m:r>
                            <a:rPr lang="en-US" altLang="ko-KR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𝜽</m:t>
                          </m:r>
                          <m:r>
                            <a:rPr lang="en-US" altLang="ko-KR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 </m:t>
                          </m:r>
                          <m:r>
                            <a:rPr lang="en-US" altLang="ko-KR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𝝓</m:t>
                          </m:r>
                          <m:r>
                            <a:rPr lang="en-US" altLang="ko-KR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 </m:t>
                          </m:r>
                          <m:r>
                            <a:rPr lang="en-US" altLang="ko-KR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𝒙</m:t>
                          </m:r>
                          <m:r>
                            <a:rPr lang="en-US" altLang="ko-KR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 </m:t>
                          </m:r>
                          <m:r>
                            <a:rPr lang="en-US" altLang="ko-KR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𝒚</m:t>
                          </m:r>
                          <m:r>
                            <a:rPr lang="en-US" altLang="ko-KR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 </m:t>
                          </m:r>
                          <m:r>
                            <a:rPr lang="en-US" altLang="ko-KR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𝒛</m:t>
                          </m:r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231E0348-9978-914C-9241-368F1307FB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30290" y="3822982"/>
                <a:ext cx="2471842" cy="369332"/>
              </a:xfrm>
              <a:prstGeom prst="rect">
                <a:avLst/>
              </a:prstGeom>
              <a:blipFill>
                <a:blip r:embed="rId8"/>
                <a:stretch>
                  <a:fillRect b="-1290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TextBox 47">
            <a:extLst>
              <a:ext uri="{FF2B5EF4-FFF2-40B4-BE49-F238E27FC236}">
                <a16:creationId xmlns:a16="http://schemas.microsoft.com/office/drawing/2014/main" id="{8874BE68-E182-AA4A-82A6-937742E5C9C5}"/>
              </a:ext>
            </a:extLst>
          </p:cNvPr>
          <p:cNvSpPr txBox="1"/>
          <p:nvPr/>
        </p:nvSpPr>
        <p:spPr>
          <a:xfrm>
            <a:off x="283433" y="5696739"/>
            <a:ext cx="6619590" cy="39568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en-US" altLang="ko-KR" b="1" spc="-7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 this presentation, we focus on the generator component of JANUS</a:t>
            </a:r>
            <a:endParaRPr kumimoji="1" lang="ko-KR" altLang="en-US" b="1" spc="-7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30F9491-C56E-B946-AFAC-B3861971D647}"/>
              </a:ext>
            </a:extLst>
          </p:cNvPr>
          <p:cNvSpPr txBox="1"/>
          <p:nvPr/>
        </p:nvSpPr>
        <p:spPr>
          <a:xfrm>
            <a:off x="7416432" y="4803212"/>
            <a:ext cx="4543423" cy="3956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pc="-7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 applying the  charge of variable formula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f4">
                <a:extLst>
                  <a:ext uri="{FF2B5EF4-FFF2-40B4-BE49-F238E27FC236}">
                    <a16:creationId xmlns:a16="http://schemas.microsoft.com/office/drawing/2014/main" id="{C58699EA-FE54-5D48-B76E-0DC67E9AFD68}"/>
                  </a:ext>
                </a:extLst>
              </p:cNvPr>
              <p:cNvSpPr txBox="1"/>
              <p:nvPr/>
            </p:nvSpPr>
            <p:spPr>
              <a:xfrm>
                <a:off x="7558709" y="5860175"/>
                <a:ext cx="2032288" cy="2954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kumimoji="1" lang="en-US" sz="1600" b="0" i="1" spc="-70" smtClean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-US" sz="1600" b="0" i="0" spc="-70" smtClean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arg</m:t>
                          </m:r>
                        </m:fName>
                        <m:e>
                          <m:func>
                            <m:funcPr>
                              <m:ctrlPr>
                                <a:rPr kumimoji="1" lang="en-US" sz="1600" b="0" i="1" spc="-70" smtClean="0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1" lang="en-US" sz="1600" b="0" i="0" spc="-70" smtClean="0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fName>
                            <m:e>
                              <m:r>
                                <a:rPr kumimoji="1" lang="en-US" sz="1600" b="0" i="1" spc="-70" smtClean="0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 { </m:t>
                              </m:r>
                              <m:r>
                                <a:rPr kumimoji="1" lang="en-US" altLang="ko-KR" sz="1600" i="1" spc="-70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𝑙𝑜𝑔</m:t>
                              </m:r>
                              <m:r>
                                <a:rPr kumimoji="1" lang="en-US" altLang="ko-KR" sz="1600" i="1" spc="-70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kumimoji="1" lang="en-US" altLang="ko-KR" sz="1600" i="1" spc="-70">
                                      <a:solidFill>
                                        <a:srgbClr val="1A1A1A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ko-KR" sz="1600" i="1" spc="-70">
                                      <a:solidFill>
                                        <a:srgbClr val="1A1A1A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kumimoji="1" lang="en-US" altLang="ko-KR" sz="1600" i="1" spc="-70">
                                      <a:solidFill>
                                        <a:srgbClr val="1A1A1A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kumimoji="1" lang="en-US" altLang="ko-KR" sz="1600" i="1" spc="-70">
                                      <a:solidFill>
                                        <a:srgbClr val="1A1A1A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kumimoji="1" lang="en-US" altLang="ko-KR" sz="1600" i="1" spc="-70">
                                          <a:solidFill>
                                            <a:srgbClr val="1A1A1A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ko-KR" sz="1600" i="1" spc="-70">
                                          <a:solidFill>
                                            <a:srgbClr val="1A1A1A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kumimoji="1" lang="en-US" altLang="ko-KR" sz="1600" i="1" spc="-70">
                                          <a:solidFill>
                                            <a:srgbClr val="1A1A1A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kumimoji="1" lang="en-US" altLang="ko-KR" sz="1600" i="1" spc="-70">
                                      <a:solidFill>
                                        <a:srgbClr val="1A1A1A"/>
                                      </a:solidFill>
                                      <a:latin typeface="Cambria Math" panose="02040503050406030204" pitchFamily="18" charset="0"/>
                                    </a:rPr>
                                    <m:t> | </m:t>
                                  </m:r>
                                  <m:r>
                                    <a:rPr kumimoji="1" lang="en-US" altLang="ko-KR" sz="1600" i="1" spc="-70">
                                      <a:solidFill>
                                        <a:srgbClr val="1A1A1A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</m:d>
                            </m:e>
                          </m:func>
                          <m:r>
                            <a:rPr kumimoji="1" lang="en-US" sz="1600" b="0" i="1" spc="-70" smtClean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 }</m:t>
                          </m:r>
                        </m:e>
                      </m:func>
                    </m:oMath>
                  </m:oMathPara>
                </a14:m>
                <a:endParaRPr sz="2000" dirty="0"/>
              </a:p>
            </p:txBody>
          </p:sp>
        </mc:Choice>
        <mc:Fallback xmlns="">
          <p:sp>
            <p:nvSpPr>
              <p:cNvPr id="50" name="f4">
                <a:extLst>
                  <a:ext uri="{FF2B5EF4-FFF2-40B4-BE49-F238E27FC236}">
                    <a16:creationId xmlns:a16="http://schemas.microsoft.com/office/drawing/2014/main" id="{C58699EA-FE54-5D48-B76E-0DC67E9AFD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8709" y="5860175"/>
                <a:ext cx="2032288" cy="295466"/>
              </a:xfrm>
              <a:prstGeom prst="rect">
                <a:avLst/>
              </a:prstGeom>
              <a:blipFill>
                <a:blip r:embed="rId9"/>
                <a:stretch>
                  <a:fillRect l="-3727" r="-1242" b="-25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직사각형 17">
            <a:extLst>
              <a:ext uri="{FF2B5EF4-FFF2-40B4-BE49-F238E27FC236}">
                <a16:creationId xmlns:a16="http://schemas.microsoft.com/office/drawing/2014/main" id="{F96FC9CE-1342-5A43-8BBC-678A847AD978}"/>
              </a:ext>
            </a:extLst>
          </p:cNvPr>
          <p:cNvSpPr/>
          <p:nvPr/>
        </p:nvSpPr>
        <p:spPr>
          <a:xfrm>
            <a:off x="279130" y="5756656"/>
            <a:ext cx="6285091" cy="305102"/>
          </a:xfrm>
          <a:prstGeom prst="rect">
            <a:avLst/>
          </a:prstGeom>
          <a:solidFill>
            <a:srgbClr val="FFFF00">
              <a:alpha val="33909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b="1"/>
          </a:p>
        </p:txBody>
      </p:sp>
    </p:spTree>
    <p:extLst>
      <p:ext uri="{BB962C8B-B14F-4D97-AF65-F5344CB8AC3E}">
        <p14:creationId xmlns:p14="http://schemas.microsoft.com/office/powerpoint/2010/main" val="14192983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4" name="직선 연결선[R] 83">
            <a:extLst>
              <a:ext uri="{FF2B5EF4-FFF2-40B4-BE49-F238E27FC236}">
                <a16:creationId xmlns:a16="http://schemas.microsoft.com/office/drawing/2014/main" id="{36138F6F-3EAB-874D-92FC-07279B9FAA29}"/>
              </a:ext>
            </a:extLst>
          </p:cNvPr>
          <p:cNvCxnSpPr>
            <a:cxnSpLocks/>
          </p:cNvCxnSpPr>
          <p:nvPr/>
        </p:nvCxnSpPr>
        <p:spPr>
          <a:xfrm flipV="1">
            <a:off x="5376744" y="2340350"/>
            <a:ext cx="0" cy="325439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모서리가 둥근 직사각형 38">
            <a:extLst>
              <a:ext uri="{FF2B5EF4-FFF2-40B4-BE49-F238E27FC236}">
                <a16:creationId xmlns:a16="http://schemas.microsoft.com/office/drawing/2014/main" id="{FE14E255-7F1C-E447-A7B7-D0B0BC35873D}"/>
              </a:ext>
            </a:extLst>
          </p:cNvPr>
          <p:cNvSpPr/>
          <p:nvPr/>
        </p:nvSpPr>
        <p:spPr>
          <a:xfrm>
            <a:off x="8701482" y="1607794"/>
            <a:ext cx="3311076" cy="4656739"/>
          </a:xfrm>
          <a:prstGeom prst="roundRect">
            <a:avLst>
              <a:gd name="adj" fmla="val 5667"/>
            </a:avLst>
          </a:prstGeom>
          <a:solidFill>
            <a:schemeClr val="bg1">
              <a:lumMod val="95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solidFill>
                <a:schemeClr val="tx1"/>
              </a:solidFill>
              <a:latin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cxnSp>
        <p:nvCxnSpPr>
          <p:cNvPr id="90" name="직선 연결선[R] 89">
            <a:extLst>
              <a:ext uri="{FF2B5EF4-FFF2-40B4-BE49-F238E27FC236}">
                <a16:creationId xmlns:a16="http://schemas.microsoft.com/office/drawing/2014/main" id="{5C353831-C2AA-D34B-B2C6-35AD118018B2}"/>
              </a:ext>
            </a:extLst>
          </p:cNvPr>
          <p:cNvCxnSpPr>
            <a:cxnSpLocks/>
          </p:cNvCxnSpPr>
          <p:nvPr/>
        </p:nvCxnSpPr>
        <p:spPr>
          <a:xfrm>
            <a:off x="9529826" y="2428299"/>
            <a:ext cx="135856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직선 연결선[R] 90">
            <a:extLst>
              <a:ext uri="{FF2B5EF4-FFF2-40B4-BE49-F238E27FC236}">
                <a16:creationId xmlns:a16="http://schemas.microsoft.com/office/drawing/2014/main" id="{FE90EE83-7568-C342-8BB7-E081BCDF648C}"/>
              </a:ext>
            </a:extLst>
          </p:cNvPr>
          <p:cNvCxnSpPr>
            <a:cxnSpLocks/>
          </p:cNvCxnSpPr>
          <p:nvPr/>
        </p:nvCxnSpPr>
        <p:spPr>
          <a:xfrm>
            <a:off x="9529826" y="3257123"/>
            <a:ext cx="135856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직선 연결선[R] 91">
            <a:extLst>
              <a:ext uri="{FF2B5EF4-FFF2-40B4-BE49-F238E27FC236}">
                <a16:creationId xmlns:a16="http://schemas.microsoft.com/office/drawing/2014/main" id="{D0818566-DD5A-B147-AD8D-C601EFBEB571}"/>
              </a:ext>
            </a:extLst>
          </p:cNvPr>
          <p:cNvCxnSpPr>
            <a:cxnSpLocks/>
          </p:cNvCxnSpPr>
          <p:nvPr/>
        </p:nvCxnSpPr>
        <p:spPr>
          <a:xfrm>
            <a:off x="9529826" y="5223603"/>
            <a:ext cx="135856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직선 연결선[R] 94">
            <a:extLst>
              <a:ext uri="{FF2B5EF4-FFF2-40B4-BE49-F238E27FC236}">
                <a16:creationId xmlns:a16="http://schemas.microsoft.com/office/drawing/2014/main" id="{3CFA8EDF-E1DF-794A-9BF9-7A44FA5751A6}"/>
              </a:ext>
            </a:extLst>
          </p:cNvPr>
          <p:cNvCxnSpPr>
            <a:cxnSpLocks/>
          </p:cNvCxnSpPr>
          <p:nvPr/>
        </p:nvCxnSpPr>
        <p:spPr>
          <a:xfrm>
            <a:off x="9529826" y="4388213"/>
            <a:ext cx="135856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직선 화살표 연결선 87">
            <a:extLst>
              <a:ext uri="{FF2B5EF4-FFF2-40B4-BE49-F238E27FC236}">
                <a16:creationId xmlns:a16="http://schemas.microsoft.com/office/drawing/2014/main" id="{DF3E3E65-2F27-3B48-B713-A8CAF8027EBF}"/>
              </a:ext>
            </a:extLst>
          </p:cNvPr>
          <p:cNvCxnSpPr>
            <a:cxnSpLocks/>
          </p:cNvCxnSpPr>
          <p:nvPr/>
        </p:nvCxnSpPr>
        <p:spPr>
          <a:xfrm flipV="1">
            <a:off x="7254508" y="3799812"/>
            <a:ext cx="0" cy="97527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TextBox 142">
            <a:extLst>
              <a:ext uri="{FF2B5EF4-FFF2-40B4-BE49-F238E27FC236}">
                <a16:creationId xmlns:a16="http://schemas.microsoft.com/office/drawing/2014/main" id="{8F8B104B-B5E3-5249-A4E1-5FCC565F9818}"/>
              </a:ext>
            </a:extLst>
          </p:cNvPr>
          <p:cNvSpPr txBox="1"/>
          <p:nvPr/>
        </p:nvSpPr>
        <p:spPr>
          <a:xfrm>
            <a:off x="374658" y="6139930"/>
            <a:ext cx="11373847" cy="3620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600" spc="-7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Trained on NVIDIA-A100 : 10hours</a:t>
            </a:r>
          </a:p>
        </p:txBody>
      </p:sp>
      <p:cxnSp>
        <p:nvCxnSpPr>
          <p:cNvPr id="76" name="직선 화살표 연결선 75">
            <a:extLst>
              <a:ext uri="{FF2B5EF4-FFF2-40B4-BE49-F238E27FC236}">
                <a16:creationId xmlns:a16="http://schemas.microsoft.com/office/drawing/2014/main" id="{512E2D07-89E0-8C42-B4F5-80CB48E46D4C}"/>
              </a:ext>
            </a:extLst>
          </p:cNvPr>
          <p:cNvCxnSpPr>
            <a:cxnSpLocks/>
          </p:cNvCxnSpPr>
          <p:nvPr/>
        </p:nvCxnSpPr>
        <p:spPr>
          <a:xfrm flipV="1">
            <a:off x="7639855" y="1704763"/>
            <a:ext cx="0" cy="181894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208D3466-F282-1F4A-8313-D7B8568A68D5}"/>
              </a:ext>
            </a:extLst>
          </p:cNvPr>
          <p:cNvCxnSpPr>
            <a:cxnSpLocks/>
          </p:cNvCxnSpPr>
          <p:nvPr/>
        </p:nvCxnSpPr>
        <p:spPr>
          <a:xfrm flipV="1">
            <a:off x="7905252" y="4126106"/>
            <a:ext cx="0" cy="146864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77B2F82-531A-EA41-941C-17071486B50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113837" y="814498"/>
            <a:ext cx="2743200" cy="365125"/>
          </a:xfrm>
        </p:spPr>
        <p:txBody>
          <a:bodyPr/>
          <a:lstStyle/>
          <a:p>
            <a:fld id="{683A3AC8-7E39-1245-98E2-08D56C5B5689}" type="slidenum">
              <a:rPr kumimoji="1" lang="ko-Kore-KR" altLang="en-US" smtClean="0"/>
              <a:t>7</a:t>
            </a:fld>
            <a:endParaRPr kumimoji="1" lang="ko-Kore-KR" altLang="en-US"/>
          </a:p>
        </p:txBody>
      </p:sp>
      <p:cxnSp>
        <p:nvCxnSpPr>
          <p:cNvPr id="4" name="직선 연결선[R] 3">
            <a:extLst>
              <a:ext uri="{FF2B5EF4-FFF2-40B4-BE49-F238E27FC236}">
                <a16:creationId xmlns:a16="http://schemas.microsoft.com/office/drawing/2014/main" id="{8ACD5E43-4406-0547-9F25-E5BAE9F992AF}"/>
              </a:ext>
            </a:extLst>
          </p:cNvPr>
          <p:cNvCxnSpPr>
            <a:cxnSpLocks/>
          </p:cNvCxnSpPr>
          <p:nvPr/>
        </p:nvCxnSpPr>
        <p:spPr>
          <a:xfrm>
            <a:off x="334963" y="1101344"/>
            <a:ext cx="11522075" cy="0"/>
          </a:xfrm>
          <a:prstGeom prst="line">
            <a:avLst/>
          </a:prstGeom>
          <a:ln w="19050">
            <a:gradFill flip="none" rotWithShape="1">
              <a:gsLst>
                <a:gs pos="0">
                  <a:schemeClr val="bg1"/>
                </a:gs>
                <a:gs pos="39000">
                  <a:srgbClr val="76D6FF"/>
                </a:gs>
                <a:gs pos="99000">
                  <a:schemeClr val="accent5">
                    <a:lumMod val="75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55829DB6-98BD-614C-82C4-EEC75995F310}"/>
              </a:ext>
            </a:extLst>
          </p:cNvPr>
          <p:cNvSpPr txBox="1"/>
          <p:nvPr/>
        </p:nvSpPr>
        <p:spPr>
          <a:xfrm>
            <a:off x="1146580" y="266600"/>
            <a:ext cx="6015582" cy="3282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en-US" altLang="ko-KR" sz="1400" spc="-70" dirty="0">
                <a:solidFill>
                  <a:schemeClr val="tx1">
                    <a:lumMod val="95000"/>
                    <a:lumOff val="5000"/>
                  </a:schemeClr>
                </a:solidFill>
                <a:latin typeface="Helvetica Neue Medium" panose="02000503000000020004" pitchFamily="2" charset="0"/>
                <a:cs typeface="Helvetica Neue Medium" panose="02000503000000020004" pitchFamily="2" charset="0"/>
              </a:rPr>
              <a:t>JANUS Design &amp; Architecture</a:t>
            </a:r>
            <a:endParaRPr kumimoji="1" lang="ko-KR" altLang="en-US" sz="1400" spc="-70" dirty="0">
              <a:solidFill>
                <a:schemeClr val="tx1">
                  <a:lumMod val="95000"/>
                  <a:lumOff val="5000"/>
                </a:schemeClr>
              </a:solidFill>
              <a:latin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D321DE3-6BA4-1343-8CC3-8A9CB74C1965}"/>
              </a:ext>
            </a:extLst>
          </p:cNvPr>
          <p:cNvSpPr/>
          <p:nvPr/>
        </p:nvSpPr>
        <p:spPr>
          <a:xfrm>
            <a:off x="334963" y="294833"/>
            <a:ext cx="811617" cy="811617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5000"/>
                  <a:alpha val="95051"/>
                </a:schemeClr>
              </a:gs>
              <a:gs pos="23000">
                <a:schemeClr val="accent5">
                  <a:lumMod val="40000"/>
                  <a:lumOff val="60000"/>
                </a:schemeClr>
              </a:gs>
              <a:gs pos="49000">
                <a:srgbClr val="76A6D2"/>
              </a:gs>
              <a:gs pos="76000">
                <a:schemeClr val="accent5">
                  <a:lumMod val="7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2800" b="1" dirty="0">
                <a:solidFill>
                  <a:schemeClr val="bg1">
                    <a:lumMod val="9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04</a:t>
            </a:r>
            <a:endParaRPr kumimoji="1" lang="ko-KR" altLang="en-US" sz="2800" b="1" dirty="0">
              <a:solidFill>
                <a:schemeClr val="bg1">
                  <a:lumMod val="95000"/>
                </a:schemeClr>
              </a:solidFill>
              <a:latin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26EDAB15-C1FA-C246-A081-04E2DF2AFDCD}"/>
              </a:ext>
            </a:extLst>
          </p:cNvPr>
          <p:cNvSpPr txBox="1">
            <a:spLocks/>
          </p:cNvSpPr>
          <p:nvPr/>
        </p:nvSpPr>
        <p:spPr>
          <a:xfrm>
            <a:off x="1146580" y="509396"/>
            <a:ext cx="9898840" cy="631869"/>
          </a:xfrm>
          <a:prstGeom prst="rect">
            <a:avLst/>
          </a:prstGeom>
        </p:spPr>
        <p:txBody>
          <a:bodyPr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en-US" sz="5000" b="1" spc="-15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JANUS Architecture &amp; Dataset</a:t>
            </a:r>
            <a:endParaRPr kumimoji="1" lang="ko-Kore-KR" altLang="en-US" sz="5000" b="1" spc="-150" dirty="0">
              <a:latin typeface="Helvetica Neue" panose="02000503000000020004" pitchFamily="2" charset="0"/>
              <a:cs typeface="Helvetica Neue" panose="02000503000000020004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7C6FE30-9831-514A-B6AB-CD3237766A51}"/>
                  </a:ext>
                </a:extLst>
              </p:cNvPr>
              <p:cNvSpPr txBox="1"/>
              <p:nvPr/>
            </p:nvSpPr>
            <p:spPr>
              <a:xfrm>
                <a:off x="454559" y="1223801"/>
                <a:ext cx="11373847" cy="19132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altLang="ko-KR" spc="-7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JANUS mainly follows </a:t>
                </a:r>
                <a:r>
                  <a:rPr lang="en-US" altLang="ko-KR" spc="-70" dirty="0" err="1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DiT</a:t>
                </a:r>
                <a:r>
                  <a:rPr lang="en-US" altLang="ko-KR" spc="-7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with </a:t>
                </a:r>
                <a:r>
                  <a:rPr lang="en-US" altLang="ko-KR" spc="-70" dirty="0" err="1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AdaLN</a:t>
                </a:r>
                <a:r>
                  <a:rPr lang="en-US" altLang="ko-KR" spc="-7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-Zero Architecture</a:t>
                </a:r>
                <a:r>
                  <a:rPr lang="ko-KR" altLang="en-US" spc="-7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US" altLang="ko-KR" spc="-7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20000"/>
                  </a:lnSpc>
                </a:pPr>
                <a:r>
                  <a:rPr lang="en-US" altLang="ko-KR" spc="-7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Used detector geometry as position embedding</a:t>
                </a:r>
              </a:p>
              <a:p>
                <a:pPr marL="285750" indent="-285750">
                  <a:lnSpc>
                    <a:spcPct val="120000"/>
                  </a:lnSpc>
                  <a:buFont typeface="Wingdings" pitchFamily="2" charset="2"/>
                  <a:buChar char="§"/>
                </a:pPr>
                <a:r>
                  <a:rPr lang="en-US" altLang="ko-KR" sz="1600" spc="-7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Input :</a:t>
                </a:r>
                <a:r>
                  <a:rPr lang="ko-KR" altLang="en-US" sz="1600" spc="-7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ko-KR" sz="1600" b="0" i="1" spc="-7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𝑡</m:t>
                    </m:r>
                    <m:sSub>
                      <m:sSubPr>
                        <m:ctrlPr>
                          <a:rPr kumimoji="1" lang="en-US" altLang="ko-KR" sz="1600" b="0" i="1" spc="-70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en-US" altLang="ko-KR" sz="1600" b="0" i="1" spc="-70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kumimoji="1" lang="en-US" altLang="ko-KR" sz="1600" b="0" i="1" spc="-70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kumimoji="1" lang="en-US" altLang="ko-KR" sz="1600" b="0" i="1" spc="-7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d>
                      <m:dPr>
                        <m:ctrlPr>
                          <a:rPr kumimoji="1" lang="en-US" altLang="ko-KR" sz="1600" b="0" i="1" spc="-70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kumimoji="1" lang="en-US" altLang="ko-KR" sz="1600" b="0" i="1" spc="-70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1−</m:t>
                        </m:r>
                        <m:r>
                          <a:rPr kumimoji="1" lang="en-US" altLang="ko-KR" sz="1600" b="0" i="1" spc="-70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</m:d>
                    <m:sSub>
                      <m:sSubPr>
                        <m:ctrlPr>
                          <a:rPr kumimoji="1" lang="en-US" altLang="ko-KR" sz="1600" b="0" i="1" spc="-70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en-US" altLang="ko-KR" sz="1600" b="0" i="1" spc="-70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kumimoji="1" lang="en-US" altLang="ko-KR" sz="1600" b="0" i="1" spc="-70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ko-KR" sz="1600" spc="-7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285750" indent="-285750">
                  <a:lnSpc>
                    <a:spcPct val="120000"/>
                  </a:lnSpc>
                  <a:buFont typeface="Wingdings" pitchFamily="2" charset="2"/>
                  <a:buChar char="§"/>
                </a:pPr>
                <a:r>
                  <a:rPr lang="en-US" altLang="ko-KR" sz="1600" spc="-7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Output</a:t>
                </a:r>
                <a:r>
                  <a:rPr lang="ko-KR" altLang="en-US" sz="1600" spc="-7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ko-KR" sz="1600" spc="-7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r>
                  <a:rPr lang="ko-KR" altLang="en-US" sz="1600" spc="-7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600" b="0" i="1" spc="-70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en-US" altLang="ko-KR" sz="1600" b="0" i="1" spc="-70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kumimoji="1" lang="en-US" altLang="ko-KR" sz="1600" b="0" i="1" spc="-70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kumimoji="1" lang="en-US" altLang="ko-KR" sz="1600" b="0" i="1" spc="-7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−</m:t>
                    </m:r>
                    <m:sSub>
                      <m:sSubPr>
                        <m:ctrlPr>
                          <a:rPr kumimoji="1" lang="en-US" altLang="ko-KR" sz="1600" b="0" i="1" spc="-70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en-US" altLang="ko-KR" sz="1600" b="0" i="1" spc="-70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kumimoji="1" lang="en-US" altLang="ko-KR" sz="1600" b="0" i="1" spc="-70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ko-KR" sz="1600" spc="-7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(Vector Field)</a:t>
                </a:r>
              </a:p>
              <a:p>
                <a:pPr marL="285750" indent="-285750">
                  <a:lnSpc>
                    <a:spcPct val="120000"/>
                  </a:lnSpc>
                  <a:buFont typeface="Wingdings" pitchFamily="2" charset="2"/>
                  <a:buChar char="§"/>
                </a:pPr>
                <a:r>
                  <a:rPr lang="en-US" altLang="ko-KR" sz="1600" spc="-7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Condition(</a:t>
                </a:r>
                <a14:m>
                  <m:oMath xmlns:m="http://schemas.openxmlformats.org/officeDocument/2006/math">
                    <m:r>
                      <a:rPr lang="en-US" altLang="ko-KR" sz="1600" b="0" i="1" spc="-7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𝐶</m:t>
                    </m:r>
                  </m:oMath>
                </a14:m>
                <a:r>
                  <a:rPr lang="en-US" altLang="ko-KR" sz="1600" spc="-7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: </a:t>
                </a:r>
                <a:r>
                  <a:rPr lang="ko-KR" altLang="en-US" sz="1600" spc="-7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US" altLang="ko-KR" sz="1600" spc="-7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lnSpc>
                    <a:spcPct val="120000"/>
                  </a:lnSpc>
                  <a:buFont typeface="Wingdings" pitchFamily="2" charset="2"/>
                  <a:buChar char="§"/>
                </a:pPr>
                <a:r>
                  <a:rPr lang="en-US" altLang="ko-KR" sz="1600" spc="-7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Time Step(</a:t>
                </a:r>
                <a14:m>
                  <m:oMath xmlns:m="http://schemas.openxmlformats.org/officeDocument/2006/math">
                    <m:r>
                      <a:rPr lang="en-US" altLang="ko-KR" sz="1600" b="0" i="1" spc="-7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𝑇</m:t>
                    </m:r>
                  </m:oMath>
                </a14:m>
                <a:r>
                  <a:rPr lang="en-US" altLang="ko-KR" sz="1600" spc="-7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: 0 ~ 1</a:t>
                </a: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7C6FE30-9831-514A-B6AB-CD3237766A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559" y="1223801"/>
                <a:ext cx="11373847" cy="1913216"/>
              </a:xfrm>
              <a:prstGeom prst="rect">
                <a:avLst/>
              </a:prstGeom>
              <a:blipFill>
                <a:blip r:embed="rId3"/>
                <a:stretch>
                  <a:fillRect l="-558" b="-263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75D6241C-5C05-E549-B8E9-5D0C4E1DE56A}"/>
              </a:ext>
            </a:extLst>
          </p:cNvPr>
          <p:cNvSpPr txBox="1"/>
          <p:nvPr/>
        </p:nvSpPr>
        <p:spPr>
          <a:xfrm>
            <a:off x="523484" y="3458772"/>
            <a:ext cx="3758796" cy="1543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lnSpc>
                <a:spcPct val="120000"/>
              </a:lnSpc>
              <a:buFont typeface="Wingdings" pitchFamily="2" charset="2"/>
              <a:buChar char="§"/>
            </a:pPr>
            <a:r>
              <a:rPr kumimoji="1" lang="en-US" altLang="ko-KR" sz="1600" spc="-7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Icecube</a:t>
            </a:r>
            <a:r>
              <a:rPr kumimoji="1" lang="en-US" altLang="ko-KR" sz="1600" spc="-7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simulation dataset </a:t>
            </a:r>
          </a:p>
          <a:p>
            <a:pPr marL="285750" indent="-285750" algn="l">
              <a:lnSpc>
                <a:spcPct val="120000"/>
              </a:lnSpc>
              <a:buFont typeface="Wingdings" pitchFamily="2" charset="2"/>
              <a:buChar char="§"/>
            </a:pPr>
            <a:r>
              <a:rPr kumimoji="1" lang="en-US" altLang="ko-KR" sz="1600" spc="-7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Number of training data (events) : 178,056</a:t>
            </a:r>
          </a:p>
          <a:p>
            <a:pPr marL="285750" indent="-285750" algn="l">
              <a:lnSpc>
                <a:spcPct val="120000"/>
              </a:lnSpc>
              <a:buFont typeface="Wingdings" pitchFamily="2" charset="2"/>
              <a:buChar char="§"/>
            </a:pPr>
            <a:r>
              <a:rPr kumimoji="1" lang="en-US" altLang="ko-KR" sz="1600" spc="-7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Energy range : 1~100PeV</a:t>
            </a:r>
          </a:p>
          <a:p>
            <a:pPr marL="285750" indent="-285750" algn="l">
              <a:lnSpc>
                <a:spcPct val="120000"/>
              </a:lnSpc>
              <a:buFont typeface="Wingdings" pitchFamily="2" charset="2"/>
              <a:buChar char="§"/>
            </a:pPr>
            <a:r>
              <a:rPr kumimoji="1" lang="en-US" altLang="ko-KR" sz="1600" spc="-7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 going track only</a:t>
            </a:r>
          </a:p>
          <a:p>
            <a:pPr marL="285750" indent="-285750" algn="l">
              <a:lnSpc>
                <a:spcPct val="120000"/>
              </a:lnSpc>
              <a:buFont typeface="Wingdings" pitchFamily="2" charset="2"/>
              <a:buChar char="§"/>
            </a:pPr>
            <a:endParaRPr kumimoji="1" lang="ko-KR" altLang="en-US" sz="1600" spc="-7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FE83E61B-5C58-9E49-81B4-ADD12707DFFD}"/>
              </a:ext>
            </a:extLst>
          </p:cNvPr>
          <p:cNvCxnSpPr>
            <a:cxnSpLocks/>
          </p:cNvCxnSpPr>
          <p:nvPr/>
        </p:nvCxnSpPr>
        <p:spPr>
          <a:xfrm flipV="1">
            <a:off x="10826555" y="1700262"/>
            <a:ext cx="0" cy="419909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모서리가 둥근 직사각형 29">
                <a:extLst>
                  <a:ext uri="{FF2B5EF4-FFF2-40B4-BE49-F238E27FC236}">
                    <a16:creationId xmlns:a16="http://schemas.microsoft.com/office/drawing/2014/main" id="{61E116D4-1702-9846-9420-2F1ABAE695BB}"/>
                  </a:ext>
                </a:extLst>
              </p:cNvPr>
              <p:cNvSpPr/>
              <p:nvPr/>
            </p:nvSpPr>
            <p:spPr>
              <a:xfrm>
                <a:off x="7297481" y="5859798"/>
                <a:ext cx="1196296" cy="425526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ko-KR" sz="1200" dirty="0">
                    <a:solidFill>
                      <a:schemeClr val="tx1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Input Tokens</a:t>
                </a:r>
              </a:p>
              <a:p>
                <a:pPr algn="ctr"/>
                <a:r>
                  <a:rPr kumimoji="1" lang="en-US" altLang="ko-KR" sz="1200" dirty="0">
                    <a:solidFill>
                      <a:schemeClr val="tx1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2</a:t>
                </a:r>
                <a14:m>
                  <m:oMath xmlns:m="http://schemas.openxmlformats.org/officeDocument/2006/math">
                    <m:r>
                      <a:rPr kumimoji="1" lang="en-US" altLang="ko-KR" sz="12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" panose="02000503000000020004" pitchFamily="2" charset="0"/>
                      </a:rPr>
                      <m:t> </m:t>
                    </m:r>
                    <m:r>
                      <a:rPr kumimoji="1" lang="en-US" altLang="ko-KR" sz="12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" panose="02000503000000020004" pitchFamily="2" charset="0"/>
                      </a:rPr>
                      <m:t>×</m:t>
                    </m:r>
                  </m:oMath>
                </a14:m>
                <a:r>
                  <a:rPr kumimoji="1" lang="en-US" altLang="ko-KR" sz="1200" dirty="0">
                    <a:solidFill>
                      <a:schemeClr val="tx1"/>
                    </a:solidFill>
                    <a:latin typeface="Helvetica Neue" panose="02000503000000020004" pitchFamily="2" charset="0"/>
                    <a:cs typeface="Helvetica Neue" panose="02000503000000020004" pitchFamily="2" charset="0"/>
                  </a:rPr>
                  <a:t> 5160</a:t>
                </a:r>
                <a:endParaRPr kumimoji="1" lang="ko-KR" altLang="en-US" sz="1200" dirty="0">
                  <a:solidFill>
                    <a:schemeClr val="tx1"/>
                  </a:solidFill>
                  <a:latin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</mc:Choice>
        <mc:Fallback xmlns="">
          <p:sp>
            <p:nvSpPr>
              <p:cNvPr id="30" name="모서리가 둥근 직사각형 29">
                <a:extLst>
                  <a:ext uri="{FF2B5EF4-FFF2-40B4-BE49-F238E27FC236}">
                    <a16:creationId xmlns:a16="http://schemas.microsoft.com/office/drawing/2014/main" id="{61E116D4-1702-9846-9420-2F1ABAE695B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7481" y="5859798"/>
                <a:ext cx="1196296" cy="425526"/>
              </a:xfrm>
              <a:prstGeom prst="roundRect">
                <a:avLst/>
              </a:prstGeom>
              <a:blipFill>
                <a:blip r:embed="rId4"/>
                <a:stretch>
                  <a:fillRect t="-2778" b="-1388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모서리가 둥근 직사각형 32">
            <a:extLst>
              <a:ext uri="{FF2B5EF4-FFF2-40B4-BE49-F238E27FC236}">
                <a16:creationId xmlns:a16="http://schemas.microsoft.com/office/drawing/2014/main" id="{0DC4FA74-1EE4-E74A-98EA-C4D57F8749E8}"/>
              </a:ext>
            </a:extLst>
          </p:cNvPr>
          <p:cNvSpPr/>
          <p:nvPr/>
        </p:nvSpPr>
        <p:spPr>
          <a:xfrm>
            <a:off x="10275735" y="5882402"/>
            <a:ext cx="1196296" cy="26212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200" dirty="0">
                <a:solidFill>
                  <a:schemeClr val="tx1"/>
                </a:solidFill>
                <a:latin typeface="Helvetica Neue" panose="02000503000000020004" pitchFamily="2" charset="0"/>
                <a:cs typeface="Helvetica Neue" panose="02000503000000020004" pitchFamily="2" charset="0"/>
              </a:rPr>
              <a:t>Input Tokens</a:t>
            </a:r>
            <a:endParaRPr kumimoji="1" lang="ko-KR" altLang="en-US" sz="1200" dirty="0">
              <a:solidFill>
                <a:schemeClr val="tx1"/>
              </a:solidFill>
              <a:latin typeface="Helvetica Neue" panose="02000503000000020004" pitchFamily="2" charset="0"/>
              <a:cs typeface="Helvetica Neue" panose="02000503000000020004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모서리가 둥근 직사각형 39">
                <a:extLst>
                  <a:ext uri="{FF2B5EF4-FFF2-40B4-BE49-F238E27FC236}">
                    <a16:creationId xmlns:a16="http://schemas.microsoft.com/office/drawing/2014/main" id="{577515FF-D7F7-8745-9778-14D8FD103F75}"/>
                  </a:ext>
                </a:extLst>
              </p:cNvPr>
              <p:cNvSpPr/>
              <p:nvPr/>
            </p:nvSpPr>
            <p:spPr>
              <a:xfrm>
                <a:off x="4853242" y="5853902"/>
                <a:ext cx="432570" cy="425526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200" b="1" i="1" spc="-7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𝑪</m:t>
                      </m:r>
                    </m:oMath>
                  </m:oMathPara>
                </a14:m>
                <a:endParaRPr kumimoji="1" lang="ko-KR" altLang="en-US" sz="1200" b="1" dirty="0">
                  <a:solidFill>
                    <a:schemeClr val="tx1"/>
                  </a:solidFill>
                  <a:latin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</mc:Choice>
        <mc:Fallback xmlns="">
          <p:sp>
            <p:nvSpPr>
              <p:cNvPr id="40" name="모서리가 둥근 직사각형 39">
                <a:extLst>
                  <a:ext uri="{FF2B5EF4-FFF2-40B4-BE49-F238E27FC236}">
                    <a16:creationId xmlns:a16="http://schemas.microsoft.com/office/drawing/2014/main" id="{577515FF-D7F7-8745-9778-14D8FD103F7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3242" y="5853902"/>
                <a:ext cx="432570" cy="425526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모서리가 둥근 직사각형 51">
            <a:extLst>
              <a:ext uri="{FF2B5EF4-FFF2-40B4-BE49-F238E27FC236}">
                <a16:creationId xmlns:a16="http://schemas.microsoft.com/office/drawing/2014/main" id="{823BE036-2D27-9449-BF9A-D3F56C375289}"/>
              </a:ext>
            </a:extLst>
          </p:cNvPr>
          <p:cNvSpPr/>
          <p:nvPr/>
        </p:nvSpPr>
        <p:spPr>
          <a:xfrm>
            <a:off x="4852390" y="5477894"/>
            <a:ext cx="1048707" cy="26212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200" dirty="0">
                <a:solidFill>
                  <a:schemeClr val="tx1"/>
                </a:solidFill>
                <a:latin typeface="Helvetica Neue" panose="02000503000000020004" pitchFamily="2" charset="0"/>
                <a:cs typeface="Helvetica Neue" panose="02000503000000020004" pitchFamily="2" charset="0"/>
              </a:rPr>
              <a:t>MLP</a:t>
            </a:r>
            <a:endParaRPr kumimoji="1" lang="ko-KR" altLang="en-US" sz="1200" dirty="0">
              <a:solidFill>
                <a:schemeClr val="tx1"/>
              </a:solidFill>
              <a:latin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3" name="모서리가 둥근 직사각형 52">
            <a:extLst>
              <a:ext uri="{FF2B5EF4-FFF2-40B4-BE49-F238E27FC236}">
                <a16:creationId xmlns:a16="http://schemas.microsoft.com/office/drawing/2014/main" id="{2A18B708-7492-3644-842B-4BD65D54E4F8}"/>
              </a:ext>
            </a:extLst>
          </p:cNvPr>
          <p:cNvSpPr/>
          <p:nvPr/>
        </p:nvSpPr>
        <p:spPr>
          <a:xfrm>
            <a:off x="7010091" y="2906842"/>
            <a:ext cx="1196296" cy="26212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200" dirty="0">
                <a:solidFill>
                  <a:schemeClr val="tx1"/>
                </a:solidFill>
                <a:latin typeface="Helvetica Neue" panose="02000503000000020004" pitchFamily="2" charset="0"/>
                <a:cs typeface="Helvetica Neue" panose="02000503000000020004" pitchFamily="2" charset="0"/>
              </a:rPr>
              <a:t>MLP</a:t>
            </a:r>
            <a:endParaRPr kumimoji="1" lang="ko-KR" altLang="en-US" sz="1200" dirty="0">
              <a:solidFill>
                <a:schemeClr val="tx1"/>
              </a:solidFill>
              <a:latin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4" name="모서리가 둥근 직사각형 53">
            <a:extLst>
              <a:ext uri="{FF2B5EF4-FFF2-40B4-BE49-F238E27FC236}">
                <a16:creationId xmlns:a16="http://schemas.microsoft.com/office/drawing/2014/main" id="{5AC609F4-C64B-2A4D-94CB-09D5554E3BD9}"/>
              </a:ext>
            </a:extLst>
          </p:cNvPr>
          <p:cNvSpPr/>
          <p:nvPr/>
        </p:nvSpPr>
        <p:spPr>
          <a:xfrm>
            <a:off x="6996180" y="2546033"/>
            <a:ext cx="1196296" cy="26212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200" dirty="0">
                <a:solidFill>
                  <a:schemeClr val="tx1"/>
                </a:solidFill>
                <a:latin typeface="Helvetica Neue" panose="02000503000000020004" pitchFamily="2" charset="0"/>
                <a:cs typeface="Helvetica Neue" panose="02000503000000020004" pitchFamily="2" charset="0"/>
              </a:rPr>
              <a:t>Layer</a:t>
            </a:r>
            <a:r>
              <a:rPr kumimoji="1" lang="ko-KR" altLang="en-US" sz="1200" dirty="0">
                <a:solidFill>
                  <a:schemeClr val="tx1"/>
                </a:solidFill>
                <a:latin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kumimoji="1" lang="en-US" altLang="ko-KR" sz="1200" dirty="0">
                <a:solidFill>
                  <a:schemeClr val="tx1"/>
                </a:solidFill>
                <a:latin typeface="Helvetica Neue" panose="02000503000000020004" pitchFamily="2" charset="0"/>
                <a:cs typeface="Helvetica Neue" panose="02000503000000020004" pitchFamily="2" charset="0"/>
              </a:rPr>
              <a:t>Norm</a:t>
            </a:r>
            <a:endParaRPr kumimoji="1" lang="ko-KR" altLang="en-US" sz="1200" dirty="0">
              <a:solidFill>
                <a:schemeClr val="tx1"/>
              </a:solidFill>
              <a:latin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5" name="모서리가 둥근 직사각형 54">
            <a:extLst>
              <a:ext uri="{FF2B5EF4-FFF2-40B4-BE49-F238E27FC236}">
                <a16:creationId xmlns:a16="http://schemas.microsoft.com/office/drawing/2014/main" id="{59CB61B2-ABFB-E24F-B0CD-F8C978280592}"/>
              </a:ext>
            </a:extLst>
          </p:cNvPr>
          <p:cNvSpPr/>
          <p:nvPr/>
        </p:nvSpPr>
        <p:spPr>
          <a:xfrm>
            <a:off x="7020410" y="2209290"/>
            <a:ext cx="1196296" cy="26212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200" dirty="0">
                <a:solidFill>
                  <a:schemeClr val="tx1"/>
                </a:solidFill>
                <a:latin typeface="Helvetica Neue" panose="02000503000000020004" pitchFamily="2" charset="0"/>
                <a:cs typeface="Helvetica Neue" panose="02000503000000020004" pitchFamily="2" charset="0"/>
              </a:rPr>
              <a:t>Scale, Shift</a:t>
            </a:r>
            <a:endParaRPr kumimoji="1" lang="ko-KR" altLang="en-US" sz="1200" dirty="0">
              <a:solidFill>
                <a:schemeClr val="tx1"/>
              </a:solidFill>
              <a:latin typeface="Helvetica Neue" panose="02000503000000020004" pitchFamily="2" charset="0"/>
              <a:cs typeface="Helvetica Neue" panose="02000503000000020004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모서리가 둥근 직사각형 56">
                <a:extLst>
                  <a:ext uri="{FF2B5EF4-FFF2-40B4-BE49-F238E27FC236}">
                    <a16:creationId xmlns:a16="http://schemas.microsoft.com/office/drawing/2014/main" id="{2FE619FD-8D71-7746-9985-E3471C21F0C9}"/>
                  </a:ext>
                </a:extLst>
              </p:cNvPr>
              <p:cNvSpPr/>
              <p:nvPr/>
            </p:nvSpPr>
            <p:spPr>
              <a:xfrm>
                <a:off x="7068821" y="1487499"/>
                <a:ext cx="1196296" cy="425526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ko-KR" sz="1200" dirty="0">
                    <a:solidFill>
                      <a:schemeClr val="tx1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Vector Field </a:t>
                </a:r>
              </a:p>
              <a:p>
                <a:pPr algn="ctr"/>
                <a:r>
                  <a:rPr kumimoji="1" lang="en-US" altLang="ko-KR" sz="1200" dirty="0">
                    <a:solidFill>
                      <a:schemeClr val="tx1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2</a:t>
                </a:r>
                <a14:m>
                  <m:oMath xmlns:m="http://schemas.openxmlformats.org/officeDocument/2006/math">
                    <m:r>
                      <a:rPr kumimoji="1" lang="en-US" altLang="ko-KR" sz="12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" panose="02000503000000020004" pitchFamily="2" charset="0"/>
                      </a:rPr>
                      <m:t> </m:t>
                    </m:r>
                    <m:r>
                      <a:rPr kumimoji="1" lang="en-US" altLang="ko-KR" sz="12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" panose="02000503000000020004" pitchFamily="2" charset="0"/>
                      </a:rPr>
                      <m:t>×</m:t>
                    </m:r>
                  </m:oMath>
                </a14:m>
                <a:r>
                  <a:rPr kumimoji="1" lang="en-US" altLang="ko-KR" sz="1200" dirty="0">
                    <a:solidFill>
                      <a:schemeClr val="tx1"/>
                    </a:solidFill>
                    <a:latin typeface="Helvetica Neue" panose="02000503000000020004" pitchFamily="2" charset="0"/>
                    <a:cs typeface="Helvetica Neue" panose="02000503000000020004" pitchFamily="2" charset="0"/>
                  </a:rPr>
                  <a:t> 5160</a:t>
                </a:r>
                <a:endParaRPr kumimoji="1" lang="ko-KR" altLang="en-US" sz="1200" dirty="0">
                  <a:solidFill>
                    <a:schemeClr val="tx1"/>
                  </a:solidFill>
                  <a:latin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</mc:Choice>
        <mc:Fallback xmlns="">
          <p:sp>
            <p:nvSpPr>
              <p:cNvPr id="57" name="모서리가 둥근 직사각형 56">
                <a:extLst>
                  <a:ext uri="{FF2B5EF4-FFF2-40B4-BE49-F238E27FC236}">
                    <a16:creationId xmlns:a16="http://schemas.microsoft.com/office/drawing/2014/main" id="{2FE619FD-8D71-7746-9985-E3471C21F0C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8821" y="1487499"/>
                <a:ext cx="1196296" cy="425526"/>
              </a:xfrm>
              <a:prstGeom prst="roundRect">
                <a:avLst/>
              </a:prstGeom>
              <a:blipFill>
                <a:blip r:embed="rId6"/>
                <a:stretch>
                  <a:fillRect t="-2778" b="-11111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2" name="직선 연결선[R] 61">
            <a:extLst>
              <a:ext uri="{FF2B5EF4-FFF2-40B4-BE49-F238E27FC236}">
                <a16:creationId xmlns:a16="http://schemas.microsoft.com/office/drawing/2014/main" id="{3D709BBE-920C-D045-9793-9CE7732077C8}"/>
              </a:ext>
            </a:extLst>
          </p:cNvPr>
          <p:cNvCxnSpPr>
            <a:cxnSpLocks/>
          </p:cNvCxnSpPr>
          <p:nvPr/>
        </p:nvCxnSpPr>
        <p:spPr>
          <a:xfrm flipV="1">
            <a:off x="6573040" y="5164210"/>
            <a:ext cx="0" cy="80745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모서리가 둥근 직사각형 25">
            <a:extLst>
              <a:ext uri="{FF2B5EF4-FFF2-40B4-BE49-F238E27FC236}">
                <a16:creationId xmlns:a16="http://schemas.microsoft.com/office/drawing/2014/main" id="{193237A8-F3C6-FA49-B52B-6D629B98C3AF}"/>
              </a:ext>
            </a:extLst>
          </p:cNvPr>
          <p:cNvSpPr/>
          <p:nvPr/>
        </p:nvSpPr>
        <p:spPr>
          <a:xfrm>
            <a:off x="6867473" y="3371138"/>
            <a:ext cx="1502183" cy="93472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 err="1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DiT</a:t>
            </a:r>
            <a:r>
              <a:rPr kumimoji="1" lang="en-US" altLang="ko-KR" dirty="0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Block</a:t>
            </a:r>
          </a:p>
          <a:p>
            <a:pPr algn="ctr"/>
            <a:r>
              <a:rPr kumimoji="1" lang="en-US" altLang="ko-KR" dirty="0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(N = 8)</a:t>
            </a:r>
            <a:endParaRPr kumimoji="1" lang="ko-KR" altLang="en-US" dirty="0">
              <a:solidFill>
                <a:schemeClr val="tx1"/>
              </a:solidFill>
              <a:latin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1" name="모서리가 둥근 직사각형 30">
            <a:extLst>
              <a:ext uri="{FF2B5EF4-FFF2-40B4-BE49-F238E27FC236}">
                <a16:creationId xmlns:a16="http://schemas.microsoft.com/office/drawing/2014/main" id="{D8F594E1-2D2C-7F40-9D9A-8186E76035BE}"/>
              </a:ext>
            </a:extLst>
          </p:cNvPr>
          <p:cNvSpPr/>
          <p:nvPr/>
        </p:nvSpPr>
        <p:spPr>
          <a:xfrm>
            <a:off x="5974892" y="5846058"/>
            <a:ext cx="1196296" cy="425526"/>
          </a:xfrm>
          <a:prstGeom prst="roundRect">
            <a:avLst/>
          </a:prstGeom>
          <a:solidFill>
            <a:srgbClr val="EDC5B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 dirty="0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Geometry Position Embedding</a:t>
            </a:r>
            <a:endParaRPr kumimoji="1" lang="ko-KR" altLang="en-US" sz="900" dirty="0">
              <a:solidFill>
                <a:schemeClr val="tx1"/>
              </a:solidFill>
              <a:latin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cxnSp>
        <p:nvCxnSpPr>
          <p:cNvPr id="60" name="직선 연결선[R] 59">
            <a:extLst>
              <a:ext uri="{FF2B5EF4-FFF2-40B4-BE49-F238E27FC236}">
                <a16:creationId xmlns:a16="http://schemas.microsoft.com/office/drawing/2014/main" id="{231DE8B8-314A-5A4E-9CD2-94D35346AE34}"/>
              </a:ext>
            </a:extLst>
          </p:cNvPr>
          <p:cNvCxnSpPr>
            <a:cxnSpLocks/>
          </p:cNvCxnSpPr>
          <p:nvPr/>
        </p:nvCxnSpPr>
        <p:spPr>
          <a:xfrm>
            <a:off x="6573040" y="5188106"/>
            <a:ext cx="135856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연결선[R] 70">
            <a:extLst>
              <a:ext uri="{FF2B5EF4-FFF2-40B4-BE49-F238E27FC236}">
                <a16:creationId xmlns:a16="http://schemas.microsoft.com/office/drawing/2014/main" id="{7296557C-A5CE-BC4F-991A-7F2105CC7B79}"/>
              </a:ext>
            </a:extLst>
          </p:cNvPr>
          <p:cNvCxnSpPr>
            <a:cxnSpLocks/>
          </p:cNvCxnSpPr>
          <p:nvPr/>
        </p:nvCxnSpPr>
        <p:spPr>
          <a:xfrm>
            <a:off x="5366485" y="4775088"/>
            <a:ext cx="189792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직선 연결선[R] 77">
            <a:extLst>
              <a:ext uri="{FF2B5EF4-FFF2-40B4-BE49-F238E27FC236}">
                <a16:creationId xmlns:a16="http://schemas.microsoft.com/office/drawing/2014/main" id="{11241950-81B2-6847-A96D-399AE3835360}"/>
              </a:ext>
            </a:extLst>
          </p:cNvPr>
          <p:cNvCxnSpPr>
            <a:cxnSpLocks/>
          </p:cNvCxnSpPr>
          <p:nvPr/>
        </p:nvCxnSpPr>
        <p:spPr>
          <a:xfrm flipV="1">
            <a:off x="8350689" y="1690367"/>
            <a:ext cx="364704" cy="1733680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직선 연결선[R] 79">
            <a:extLst>
              <a:ext uri="{FF2B5EF4-FFF2-40B4-BE49-F238E27FC236}">
                <a16:creationId xmlns:a16="http://schemas.microsoft.com/office/drawing/2014/main" id="{EDBE4241-2F7D-E74A-AFE2-5DE6ED52EA45}"/>
              </a:ext>
            </a:extLst>
          </p:cNvPr>
          <p:cNvCxnSpPr>
            <a:cxnSpLocks/>
          </p:cNvCxnSpPr>
          <p:nvPr/>
        </p:nvCxnSpPr>
        <p:spPr>
          <a:xfrm flipH="1" flipV="1">
            <a:off x="8354929" y="4240677"/>
            <a:ext cx="308280" cy="1847067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0" name="그룹 129">
            <a:extLst>
              <a:ext uri="{FF2B5EF4-FFF2-40B4-BE49-F238E27FC236}">
                <a16:creationId xmlns:a16="http://schemas.microsoft.com/office/drawing/2014/main" id="{4A933E07-FAD9-1848-8500-D8BB16727B7E}"/>
              </a:ext>
            </a:extLst>
          </p:cNvPr>
          <p:cNvGrpSpPr/>
          <p:nvPr/>
        </p:nvGrpSpPr>
        <p:grpSpPr>
          <a:xfrm>
            <a:off x="10261946" y="4257153"/>
            <a:ext cx="1196296" cy="1423653"/>
            <a:chOff x="8776408" y="8055152"/>
            <a:chExt cx="1196296" cy="1423653"/>
          </a:xfrm>
        </p:grpSpPr>
        <p:sp>
          <p:nvSpPr>
            <p:cNvPr id="28" name="모서리가 둥근 직사각형 27">
              <a:extLst>
                <a:ext uri="{FF2B5EF4-FFF2-40B4-BE49-F238E27FC236}">
                  <a16:creationId xmlns:a16="http://schemas.microsoft.com/office/drawing/2014/main" id="{044BFD13-7991-844A-A5E0-BFFCDA7007E8}"/>
                </a:ext>
              </a:extLst>
            </p:cNvPr>
            <p:cNvSpPr/>
            <p:nvPr/>
          </p:nvSpPr>
          <p:spPr>
            <a:xfrm>
              <a:off x="8776408" y="8387861"/>
              <a:ext cx="1196296" cy="425526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200" dirty="0">
                  <a:solidFill>
                    <a:schemeClr val="tx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Multi-Head</a:t>
              </a:r>
            </a:p>
            <a:p>
              <a:pPr algn="ctr"/>
              <a:r>
                <a:rPr kumimoji="1" lang="en-US" altLang="ko-KR" sz="1200" dirty="0">
                  <a:solidFill>
                    <a:schemeClr val="tx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Self-Attention</a:t>
              </a:r>
              <a:endParaRPr kumimoji="1" lang="ko-KR" altLang="en-US" sz="1200" dirty="0">
                <a:solidFill>
                  <a:schemeClr val="tx1"/>
                </a:solidFill>
                <a:latin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4" name="모서리가 둥근 직사각형 33">
              <a:extLst>
                <a:ext uri="{FF2B5EF4-FFF2-40B4-BE49-F238E27FC236}">
                  <a16:creationId xmlns:a16="http://schemas.microsoft.com/office/drawing/2014/main" id="{8A3CC813-C3E9-964B-9F65-FEACE60319B7}"/>
                </a:ext>
              </a:extLst>
            </p:cNvPr>
            <p:cNvSpPr/>
            <p:nvPr/>
          </p:nvSpPr>
          <p:spPr>
            <a:xfrm>
              <a:off x="8776408" y="9216685"/>
              <a:ext cx="1196296" cy="262120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200" dirty="0">
                  <a:solidFill>
                    <a:schemeClr val="tx1"/>
                  </a:solidFill>
                  <a:latin typeface="Helvetica Neue" panose="02000503000000020004" pitchFamily="2" charset="0"/>
                  <a:cs typeface="Helvetica Neue" panose="02000503000000020004" pitchFamily="2" charset="0"/>
                </a:rPr>
                <a:t>Layer</a:t>
              </a:r>
              <a:r>
                <a:rPr kumimoji="1" lang="ko-KR" altLang="en-US" sz="1200" dirty="0">
                  <a:solidFill>
                    <a:schemeClr val="tx1"/>
                  </a:solidFill>
                  <a:latin typeface="Helvetica Neue" panose="02000503000000020004" pitchFamily="2" charset="0"/>
                  <a:cs typeface="Helvetica Neue" panose="02000503000000020004" pitchFamily="2" charset="0"/>
                </a:rPr>
                <a:t> </a:t>
              </a:r>
              <a:r>
                <a:rPr kumimoji="1" lang="en-US" altLang="ko-KR" sz="1200" dirty="0">
                  <a:solidFill>
                    <a:schemeClr val="tx1"/>
                  </a:solidFill>
                  <a:latin typeface="Helvetica Neue" panose="02000503000000020004" pitchFamily="2" charset="0"/>
                  <a:cs typeface="Helvetica Neue" panose="02000503000000020004" pitchFamily="2" charset="0"/>
                </a:rPr>
                <a:t>Norm</a:t>
              </a:r>
              <a:endParaRPr kumimoji="1" lang="ko-KR" altLang="en-US" sz="1200" dirty="0">
                <a:solidFill>
                  <a:schemeClr val="tx1"/>
                </a:solidFill>
                <a:latin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5" name="모서리가 둥근 직사각형 34">
              <a:extLst>
                <a:ext uri="{FF2B5EF4-FFF2-40B4-BE49-F238E27FC236}">
                  <a16:creationId xmlns:a16="http://schemas.microsoft.com/office/drawing/2014/main" id="{9FAB0CE0-B86E-364B-88AA-910F26725AAF}"/>
                </a:ext>
              </a:extLst>
            </p:cNvPr>
            <p:cNvSpPr/>
            <p:nvPr/>
          </p:nvSpPr>
          <p:spPr>
            <a:xfrm>
              <a:off x="8776408" y="8883976"/>
              <a:ext cx="1196296" cy="26212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200" dirty="0">
                  <a:solidFill>
                    <a:schemeClr val="tx1"/>
                  </a:solidFill>
                  <a:latin typeface="Helvetica Neue" panose="02000503000000020004" pitchFamily="2" charset="0"/>
                  <a:cs typeface="Helvetica Neue" panose="02000503000000020004" pitchFamily="2" charset="0"/>
                </a:rPr>
                <a:t>Scale, Shift</a:t>
              </a:r>
              <a:endParaRPr kumimoji="1" lang="ko-KR" altLang="en-US" sz="1200" dirty="0">
                <a:solidFill>
                  <a:schemeClr val="tx1"/>
                </a:solidFill>
                <a:latin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87" name="모서리가 둥근 직사각형 86">
              <a:extLst>
                <a:ext uri="{FF2B5EF4-FFF2-40B4-BE49-F238E27FC236}">
                  <a16:creationId xmlns:a16="http://schemas.microsoft.com/office/drawing/2014/main" id="{C6BFEAA3-5E91-B349-990A-89D52F2AF978}"/>
                </a:ext>
              </a:extLst>
            </p:cNvPr>
            <p:cNvSpPr/>
            <p:nvPr/>
          </p:nvSpPr>
          <p:spPr>
            <a:xfrm>
              <a:off x="8776408" y="8055152"/>
              <a:ext cx="1196296" cy="26212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200" dirty="0">
                  <a:solidFill>
                    <a:schemeClr val="tx1"/>
                  </a:solidFill>
                  <a:latin typeface="Helvetica Neue" panose="02000503000000020004" pitchFamily="2" charset="0"/>
                  <a:cs typeface="Helvetica Neue" panose="02000503000000020004" pitchFamily="2" charset="0"/>
                </a:rPr>
                <a:t>Scale</a:t>
              </a:r>
              <a:endParaRPr kumimoji="1" lang="ko-KR" altLang="en-US" sz="1200" dirty="0">
                <a:solidFill>
                  <a:schemeClr val="tx1"/>
                </a:solidFill>
                <a:latin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3" name="모서리가 둥근 직사각형 92">
                <a:extLst>
                  <a:ext uri="{FF2B5EF4-FFF2-40B4-BE49-F238E27FC236}">
                    <a16:creationId xmlns:a16="http://schemas.microsoft.com/office/drawing/2014/main" id="{68306C42-83D2-5449-860B-69D70FB59BE8}"/>
                  </a:ext>
                </a:extLst>
              </p:cNvPr>
              <p:cNvSpPr/>
              <p:nvPr/>
            </p:nvSpPr>
            <p:spPr>
              <a:xfrm>
                <a:off x="5468527" y="5853902"/>
                <a:ext cx="432570" cy="425526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1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Helvetica Neue" panose="02000503000000020004" pitchFamily="2" charset="0"/>
                        </a:rPr>
                        <m:t>𝑻</m:t>
                      </m:r>
                    </m:oMath>
                  </m:oMathPara>
                </a14:m>
                <a:endParaRPr kumimoji="1" lang="ko-KR" altLang="en-US" sz="1200" b="1" dirty="0">
                  <a:solidFill>
                    <a:schemeClr val="tx1"/>
                  </a:solidFill>
                  <a:latin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</mc:Choice>
        <mc:Fallback xmlns="">
          <p:sp>
            <p:nvSpPr>
              <p:cNvPr id="93" name="모서리가 둥근 직사각형 92">
                <a:extLst>
                  <a:ext uri="{FF2B5EF4-FFF2-40B4-BE49-F238E27FC236}">
                    <a16:creationId xmlns:a16="http://schemas.microsoft.com/office/drawing/2014/main" id="{68306C42-83D2-5449-860B-69D70FB59BE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8527" y="5853902"/>
                <a:ext cx="432570" cy="425526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4" name="모서리가 둥근 직사각형 93">
            <a:extLst>
              <a:ext uri="{FF2B5EF4-FFF2-40B4-BE49-F238E27FC236}">
                <a16:creationId xmlns:a16="http://schemas.microsoft.com/office/drawing/2014/main" id="{2F90AD97-91DA-8043-89FA-2B8C39108878}"/>
              </a:ext>
            </a:extLst>
          </p:cNvPr>
          <p:cNvSpPr/>
          <p:nvPr/>
        </p:nvSpPr>
        <p:spPr>
          <a:xfrm>
            <a:off x="7284636" y="5478086"/>
            <a:ext cx="1196296" cy="26212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200" dirty="0">
                <a:solidFill>
                  <a:schemeClr val="tx1"/>
                </a:solidFill>
                <a:latin typeface="Helvetica Neue" panose="02000503000000020004" pitchFamily="2" charset="0"/>
                <a:cs typeface="Helvetica Neue" panose="02000503000000020004" pitchFamily="2" charset="0"/>
              </a:rPr>
              <a:t>MLP</a:t>
            </a:r>
            <a:endParaRPr kumimoji="1" lang="ko-KR" altLang="en-US" sz="1200" dirty="0">
              <a:solidFill>
                <a:schemeClr val="tx1"/>
              </a:solidFill>
              <a:latin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cxnSp>
        <p:nvCxnSpPr>
          <p:cNvPr id="106" name="직선 연결선[R] 105">
            <a:extLst>
              <a:ext uri="{FF2B5EF4-FFF2-40B4-BE49-F238E27FC236}">
                <a16:creationId xmlns:a16="http://schemas.microsoft.com/office/drawing/2014/main" id="{9CD182E3-3ED0-964C-91B7-C6FE0F8CAC12}"/>
              </a:ext>
            </a:extLst>
          </p:cNvPr>
          <p:cNvCxnSpPr>
            <a:cxnSpLocks/>
          </p:cNvCxnSpPr>
          <p:nvPr/>
        </p:nvCxnSpPr>
        <p:spPr>
          <a:xfrm>
            <a:off x="5376744" y="2340350"/>
            <a:ext cx="164366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직선 연결선[R] 108">
            <a:extLst>
              <a:ext uri="{FF2B5EF4-FFF2-40B4-BE49-F238E27FC236}">
                <a16:creationId xmlns:a16="http://schemas.microsoft.com/office/drawing/2014/main" id="{0204AC62-11DA-5046-9FD9-1D704313C602}"/>
              </a:ext>
            </a:extLst>
          </p:cNvPr>
          <p:cNvCxnSpPr>
            <a:cxnSpLocks/>
          </p:cNvCxnSpPr>
          <p:nvPr/>
        </p:nvCxnSpPr>
        <p:spPr>
          <a:xfrm flipV="1">
            <a:off x="9541401" y="2425152"/>
            <a:ext cx="0" cy="353208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4" name="그룹 123">
            <a:extLst>
              <a:ext uri="{FF2B5EF4-FFF2-40B4-BE49-F238E27FC236}">
                <a16:creationId xmlns:a16="http://schemas.microsoft.com/office/drawing/2014/main" id="{27317EFD-2187-624E-838A-1A8B0539C1FC}"/>
              </a:ext>
            </a:extLst>
          </p:cNvPr>
          <p:cNvGrpSpPr/>
          <p:nvPr/>
        </p:nvGrpSpPr>
        <p:grpSpPr>
          <a:xfrm>
            <a:off x="10826555" y="4071661"/>
            <a:ext cx="953888" cy="1716485"/>
            <a:chOff x="10546804" y="5484151"/>
            <a:chExt cx="953888" cy="1876358"/>
          </a:xfrm>
        </p:grpSpPr>
        <p:grpSp>
          <p:nvGrpSpPr>
            <p:cNvPr id="125" name="그룹 124">
              <a:extLst>
                <a:ext uri="{FF2B5EF4-FFF2-40B4-BE49-F238E27FC236}">
                  <a16:creationId xmlns:a16="http://schemas.microsoft.com/office/drawing/2014/main" id="{8B912CA0-5605-CC46-8DC7-C91E235692A0}"/>
                </a:ext>
              </a:extLst>
            </p:cNvPr>
            <p:cNvGrpSpPr/>
            <p:nvPr/>
          </p:nvGrpSpPr>
          <p:grpSpPr>
            <a:xfrm>
              <a:off x="10546804" y="5484151"/>
              <a:ext cx="948506" cy="1876358"/>
              <a:chOff x="10546804" y="5484151"/>
              <a:chExt cx="948506" cy="1876358"/>
            </a:xfrm>
          </p:grpSpPr>
          <p:cxnSp>
            <p:nvCxnSpPr>
              <p:cNvPr id="127" name="직선 연결선[R] 126">
                <a:extLst>
                  <a:ext uri="{FF2B5EF4-FFF2-40B4-BE49-F238E27FC236}">
                    <a16:creationId xmlns:a16="http://schemas.microsoft.com/office/drawing/2014/main" id="{2164C307-B03B-4446-B825-E47DD273326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46804" y="7347046"/>
                <a:ext cx="948506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8" name="직선 연결선[R] 127">
                <a:extLst>
                  <a:ext uri="{FF2B5EF4-FFF2-40B4-BE49-F238E27FC236}">
                    <a16:creationId xmlns:a16="http://schemas.microsoft.com/office/drawing/2014/main" id="{6DFDC488-B17E-664E-843F-72C8AB8B4A0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491096" y="5484151"/>
                <a:ext cx="0" cy="1876358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26" name="직선 연결선[R] 125">
              <a:extLst>
                <a:ext uri="{FF2B5EF4-FFF2-40B4-BE49-F238E27FC236}">
                  <a16:creationId xmlns:a16="http://schemas.microsoft.com/office/drawing/2014/main" id="{FF6170F9-C4EF-3242-BB5E-51132FDB524B}"/>
                </a:ext>
              </a:extLst>
            </p:cNvPr>
            <p:cNvCxnSpPr>
              <a:cxnSpLocks/>
            </p:cNvCxnSpPr>
            <p:nvPr/>
          </p:nvCxnSpPr>
          <p:spPr>
            <a:xfrm>
              <a:off x="10552186" y="5496495"/>
              <a:ext cx="94850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1" name="그룹 130">
            <a:extLst>
              <a:ext uri="{FF2B5EF4-FFF2-40B4-BE49-F238E27FC236}">
                <a16:creationId xmlns:a16="http://schemas.microsoft.com/office/drawing/2014/main" id="{B995A5D1-ED18-1448-8A38-23500F64C2EF}"/>
              </a:ext>
            </a:extLst>
          </p:cNvPr>
          <p:cNvGrpSpPr/>
          <p:nvPr/>
        </p:nvGrpSpPr>
        <p:grpSpPr>
          <a:xfrm>
            <a:off x="10275735" y="2297239"/>
            <a:ext cx="1196296" cy="1423653"/>
            <a:chOff x="8776408" y="8055152"/>
            <a:chExt cx="1196296" cy="1423653"/>
          </a:xfrm>
        </p:grpSpPr>
        <p:sp>
          <p:nvSpPr>
            <p:cNvPr id="132" name="모서리가 둥근 직사각형 131">
              <a:extLst>
                <a:ext uri="{FF2B5EF4-FFF2-40B4-BE49-F238E27FC236}">
                  <a16:creationId xmlns:a16="http://schemas.microsoft.com/office/drawing/2014/main" id="{33A7EC5F-0CC3-1241-B851-5A89AF3F4FB1}"/>
                </a:ext>
              </a:extLst>
            </p:cNvPr>
            <p:cNvSpPr/>
            <p:nvPr/>
          </p:nvSpPr>
          <p:spPr>
            <a:xfrm>
              <a:off x="8776408" y="8387861"/>
              <a:ext cx="1196296" cy="425526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200" dirty="0">
                  <a:solidFill>
                    <a:schemeClr val="tx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Feedforward</a:t>
              </a:r>
            </a:p>
            <a:p>
              <a:pPr algn="ctr"/>
              <a:r>
                <a:rPr kumimoji="1" lang="en-US" altLang="ko-KR" sz="1200" dirty="0">
                  <a:solidFill>
                    <a:schemeClr val="tx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Network</a:t>
              </a:r>
              <a:endParaRPr kumimoji="1" lang="ko-KR" altLang="en-US" sz="1200" dirty="0">
                <a:solidFill>
                  <a:schemeClr val="tx1"/>
                </a:solidFill>
                <a:latin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33" name="모서리가 둥근 직사각형 132">
              <a:extLst>
                <a:ext uri="{FF2B5EF4-FFF2-40B4-BE49-F238E27FC236}">
                  <a16:creationId xmlns:a16="http://schemas.microsoft.com/office/drawing/2014/main" id="{BCCC3773-89F7-1A45-9B65-4092A8EAC0B1}"/>
                </a:ext>
              </a:extLst>
            </p:cNvPr>
            <p:cNvSpPr/>
            <p:nvPr/>
          </p:nvSpPr>
          <p:spPr>
            <a:xfrm>
              <a:off x="8776408" y="9216685"/>
              <a:ext cx="1196296" cy="262120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200" dirty="0">
                  <a:solidFill>
                    <a:schemeClr val="tx1"/>
                  </a:solidFill>
                  <a:latin typeface="Helvetica Neue" panose="02000503000000020004" pitchFamily="2" charset="0"/>
                  <a:cs typeface="Helvetica Neue" panose="02000503000000020004" pitchFamily="2" charset="0"/>
                </a:rPr>
                <a:t>Layer</a:t>
              </a:r>
              <a:r>
                <a:rPr kumimoji="1" lang="ko-KR" altLang="en-US" sz="1200" dirty="0">
                  <a:solidFill>
                    <a:schemeClr val="tx1"/>
                  </a:solidFill>
                  <a:latin typeface="Helvetica Neue" panose="02000503000000020004" pitchFamily="2" charset="0"/>
                  <a:cs typeface="Helvetica Neue" panose="02000503000000020004" pitchFamily="2" charset="0"/>
                </a:rPr>
                <a:t> </a:t>
              </a:r>
              <a:r>
                <a:rPr kumimoji="1" lang="en-US" altLang="ko-KR" sz="1200" dirty="0">
                  <a:solidFill>
                    <a:schemeClr val="tx1"/>
                  </a:solidFill>
                  <a:latin typeface="Helvetica Neue" panose="02000503000000020004" pitchFamily="2" charset="0"/>
                  <a:cs typeface="Helvetica Neue" panose="02000503000000020004" pitchFamily="2" charset="0"/>
                </a:rPr>
                <a:t>Norm</a:t>
              </a:r>
              <a:endParaRPr kumimoji="1" lang="ko-KR" altLang="en-US" sz="1200" dirty="0">
                <a:solidFill>
                  <a:schemeClr val="tx1"/>
                </a:solidFill>
                <a:latin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34" name="모서리가 둥근 직사각형 133">
              <a:extLst>
                <a:ext uri="{FF2B5EF4-FFF2-40B4-BE49-F238E27FC236}">
                  <a16:creationId xmlns:a16="http://schemas.microsoft.com/office/drawing/2014/main" id="{1FE34AA6-1DB6-D946-B4D1-CD2C2AB83182}"/>
                </a:ext>
              </a:extLst>
            </p:cNvPr>
            <p:cNvSpPr/>
            <p:nvPr/>
          </p:nvSpPr>
          <p:spPr>
            <a:xfrm>
              <a:off x="8776408" y="8883976"/>
              <a:ext cx="1196296" cy="26212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200" dirty="0">
                  <a:solidFill>
                    <a:schemeClr val="tx1"/>
                  </a:solidFill>
                  <a:latin typeface="Helvetica Neue" panose="02000503000000020004" pitchFamily="2" charset="0"/>
                  <a:cs typeface="Helvetica Neue" panose="02000503000000020004" pitchFamily="2" charset="0"/>
                </a:rPr>
                <a:t>Scale, Shift</a:t>
              </a:r>
              <a:endParaRPr kumimoji="1" lang="ko-KR" altLang="en-US" sz="1200" dirty="0">
                <a:solidFill>
                  <a:schemeClr val="tx1"/>
                </a:solidFill>
                <a:latin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35" name="모서리가 둥근 직사각형 134">
              <a:extLst>
                <a:ext uri="{FF2B5EF4-FFF2-40B4-BE49-F238E27FC236}">
                  <a16:creationId xmlns:a16="http://schemas.microsoft.com/office/drawing/2014/main" id="{96B36F10-C077-3A4D-A196-B10C7A39116F}"/>
                </a:ext>
              </a:extLst>
            </p:cNvPr>
            <p:cNvSpPr/>
            <p:nvPr/>
          </p:nvSpPr>
          <p:spPr>
            <a:xfrm>
              <a:off x="8776408" y="8055152"/>
              <a:ext cx="1196296" cy="26212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200" dirty="0">
                  <a:solidFill>
                    <a:schemeClr val="tx1"/>
                  </a:solidFill>
                  <a:latin typeface="Helvetica Neue" panose="02000503000000020004" pitchFamily="2" charset="0"/>
                  <a:cs typeface="Helvetica Neue" panose="02000503000000020004" pitchFamily="2" charset="0"/>
                </a:rPr>
                <a:t>Scale</a:t>
              </a:r>
              <a:endParaRPr kumimoji="1" lang="ko-KR" altLang="en-US" sz="1200" dirty="0">
                <a:solidFill>
                  <a:schemeClr val="tx1"/>
                </a:solidFill>
                <a:latin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</p:grpSp>
      <p:grpSp>
        <p:nvGrpSpPr>
          <p:cNvPr id="77" name="그룹 76">
            <a:extLst>
              <a:ext uri="{FF2B5EF4-FFF2-40B4-BE49-F238E27FC236}">
                <a16:creationId xmlns:a16="http://schemas.microsoft.com/office/drawing/2014/main" id="{CA8AC143-3F1B-2F4D-ACFD-1BC266237D2C}"/>
              </a:ext>
            </a:extLst>
          </p:cNvPr>
          <p:cNvGrpSpPr/>
          <p:nvPr/>
        </p:nvGrpSpPr>
        <p:grpSpPr>
          <a:xfrm>
            <a:off x="10830592" y="2122824"/>
            <a:ext cx="953888" cy="1716485"/>
            <a:chOff x="10546804" y="5484151"/>
            <a:chExt cx="953888" cy="1876358"/>
          </a:xfrm>
        </p:grpSpPr>
        <p:grpSp>
          <p:nvGrpSpPr>
            <p:cNvPr id="79" name="그룹 78">
              <a:extLst>
                <a:ext uri="{FF2B5EF4-FFF2-40B4-BE49-F238E27FC236}">
                  <a16:creationId xmlns:a16="http://schemas.microsoft.com/office/drawing/2014/main" id="{186103AD-6B07-264D-ACE9-4CE82DF529F2}"/>
                </a:ext>
              </a:extLst>
            </p:cNvPr>
            <p:cNvGrpSpPr/>
            <p:nvPr/>
          </p:nvGrpSpPr>
          <p:grpSpPr>
            <a:xfrm>
              <a:off x="10546804" y="5484151"/>
              <a:ext cx="948506" cy="1876358"/>
              <a:chOff x="10546804" y="5484151"/>
              <a:chExt cx="948506" cy="1876358"/>
            </a:xfrm>
          </p:grpSpPr>
          <p:cxnSp>
            <p:nvCxnSpPr>
              <p:cNvPr id="82" name="직선 연결선[R] 81">
                <a:extLst>
                  <a:ext uri="{FF2B5EF4-FFF2-40B4-BE49-F238E27FC236}">
                    <a16:creationId xmlns:a16="http://schemas.microsoft.com/office/drawing/2014/main" id="{9CAF5CEA-2963-6845-B2FE-72CE4CF54D1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46804" y="7347046"/>
                <a:ext cx="948506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직선 연결선[R] 82">
                <a:extLst>
                  <a:ext uri="{FF2B5EF4-FFF2-40B4-BE49-F238E27FC236}">
                    <a16:creationId xmlns:a16="http://schemas.microsoft.com/office/drawing/2014/main" id="{C484CF91-8E82-404F-A11F-29BC80F700D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491096" y="5484151"/>
                <a:ext cx="0" cy="1876358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81" name="직선 연결선[R] 80">
              <a:extLst>
                <a:ext uri="{FF2B5EF4-FFF2-40B4-BE49-F238E27FC236}">
                  <a16:creationId xmlns:a16="http://schemas.microsoft.com/office/drawing/2014/main" id="{10C6FC16-6600-894A-AEFC-6954D6C89880}"/>
                </a:ext>
              </a:extLst>
            </p:cNvPr>
            <p:cNvCxnSpPr>
              <a:cxnSpLocks/>
            </p:cNvCxnSpPr>
            <p:nvPr/>
          </p:nvCxnSpPr>
          <p:spPr>
            <a:xfrm>
              <a:off x="10552186" y="5496495"/>
              <a:ext cx="94850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5" name="타원 84">
            <a:extLst>
              <a:ext uri="{FF2B5EF4-FFF2-40B4-BE49-F238E27FC236}">
                <a16:creationId xmlns:a16="http://schemas.microsoft.com/office/drawing/2014/main" id="{B2CC5809-BAA6-DF4C-89B1-7424B34DDEE0}"/>
              </a:ext>
            </a:extLst>
          </p:cNvPr>
          <p:cNvSpPr/>
          <p:nvPr/>
        </p:nvSpPr>
        <p:spPr>
          <a:xfrm>
            <a:off x="10737560" y="3989924"/>
            <a:ext cx="190793" cy="190793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solidFill>
                <a:schemeClr val="tx1"/>
              </a:solidFill>
            </a:endParaRPr>
          </a:p>
        </p:txBody>
      </p:sp>
      <p:sp>
        <p:nvSpPr>
          <p:cNvPr id="142" name="타원 141">
            <a:extLst>
              <a:ext uri="{FF2B5EF4-FFF2-40B4-BE49-F238E27FC236}">
                <a16:creationId xmlns:a16="http://schemas.microsoft.com/office/drawing/2014/main" id="{2F60CA02-6748-5E44-BC76-48340732B603}"/>
              </a:ext>
            </a:extLst>
          </p:cNvPr>
          <p:cNvSpPr/>
          <p:nvPr/>
        </p:nvSpPr>
        <p:spPr>
          <a:xfrm>
            <a:off x="10733752" y="2031469"/>
            <a:ext cx="190793" cy="190793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solidFill>
                <a:schemeClr val="tx1"/>
              </a:solidFill>
            </a:endParaRPr>
          </a:p>
        </p:txBody>
      </p:sp>
      <p:sp>
        <p:nvSpPr>
          <p:cNvPr id="89" name="타원 88">
            <a:extLst>
              <a:ext uri="{FF2B5EF4-FFF2-40B4-BE49-F238E27FC236}">
                <a16:creationId xmlns:a16="http://schemas.microsoft.com/office/drawing/2014/main" id="{A928B797-1A0B-D04B-B231-0098AB317650}"/>
              </a:ext>
            </a:extLst>
          </p:cNvPr>
          <p:cNvSpPr/>
          <p:nvPr/>
        </p:nvSpPr>
        <p:spPr>
          <a:xfrm>
            <a:off x="7809855" y="5102444"/>
            <a:ext cx="190793" cy="190793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solidFill>
                <a:schemeClr val="tx1"/>
              </a:solidFill>
            </a:endParaRPr>
          </a:p>
        </p:txBody>
      </p:sp>
      <p:sp>
        <p:nvSpPr>
          <p:cNvPr id="36" name="모서리가 둥근 직사각형 35">
            <a:extLst>
              <a:ext uri="{FF2B5EF4-FFF2-40B4-BE49-F238E27FC236}">
                <a16:creationId xmlns:a16="http://schemas.microsoft.com/office/drawing/2014/main" id="{109D4BA5-5731-4247-8A7B-7CE0160CFDB3}"/>
              </a:ext>
            </a:extLst>
          </p:cNvPr>
          <p:cNvSpPr/>
          <p:nvPr/>
        </p:nvSpPr>
        <p:spPr>
          <a:xfrm>
            <a:off x="8931678" y="5881879"/>
            <a:ext cx="1196296" cy="26212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50" dirty="0">
                <a:solidFill>
                  <a:schemeClr val="tx1"/>
                </a:solidFill>
                <a:latin typeface="Helvetica Neue" panose="02000503000000020004" pitchFamily="2" charset="0"/>
                <a:cs typeface="Helvetica Neue" panose="02000503000000020004" pitchFamily="2" charset="0"/>
              </a:rPr>
              <a:t>C +T Imbedding</a:t>
            </a:r>
            <a:endParaRPr kumimoji="1" lang="ko-KR" altLang="en-US" sz="1050" dirty="0">
              <a:solidFill>
                <a:schemeClr val="tx1"/>
              </a:solidFill>
              <a:latin typeface="Helvetica Neue" panose="02000503000000020004" pitchFamily="2" charset="0"/>
              <a:cs typeface="Helvetica Neue" panose="02000503000000020004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A376ED06-BA43-4247-AFC2-565679A8E926}"/>
                  </a:ext>
                </a:extLst>
              </p:cNvPr>
              <p:cNvSpPr txBox="1"/>
              <p:nvPr/>
            </p:nvSpPr>
            <p:spPr>
              <a:xfrm>
                <a:off x="1325817" y="2504157"/>
                <a:ext cx="2471842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ko-KR" sz="16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𝐸</m:t>
                          </m:r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 </m:t>
                          </m:r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𝜃</m:t>
                          </m:r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 </m:t>
                          </m:r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𝜙</m:t>
                          </m:r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 </m:t>
                          </m:r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 </m:t>
                          </m:r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 </m:t>
                          </m:r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𝑧</m:t>
                          </m:r>
                        </m:e>
                      </m:d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A376ED06-BA43-4247-AFC2-565679A8E9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5817" y="2504157"/>
                <a:ext cx="2471842" cy="338554"/>
              </a:xfrm>
              <a:prstGeom prst="rect">
                <a:avLst/>
              </a:prstGeom>
              <a:blipFill>
                <a:blip r:embed="rId8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677035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77B2F82-531A-EA41-941C-17071486B50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113837" y="814498"/>
            <a:ext cx="2743200" cy="365125"/>
          </a:xfrm>
        </p:spPr>
        <p:txBody>
          <a:bodyPr/>
          <a:lstStyle/>
          <a:p>
            <a:fld id="{683A3AC8-7E39-1245-98E2-08D56C5B5689}" type="slidenum">
              <a:rPr kumimoji="1" lang="ko-Kore-KR" altLang="en-US" smtClean="0"/>
              <a:t>8</a:t>
            </a:fld>
            <a:endParaRPr kumimoji="1" lang="ko-Kore-KR" altLang="en-US"/>
          </a:p>
        </p:txBody>
      </p:sp>
      <p:cxnSp>
        <p:nvCxnSpPr>
          <p:cNvPr id="4" name="직선 연결선[R] 3">
            <a:extLst>
              <a:ext uri="{FF2B5EF4-FFF2-40B4-BE49-F238E27FC236}">
                <a16:creationId xmlns:a16="http://schemas.microsoft.com/office/drawing/2014/main" id="{8ACD5E43-4406-0547-9F25-E5BAE9F992AF}"/>
              </a:ext>
            </a:extLst>
          </p:cNvPr>
          <p:cNvCxnSpPr>
            <a:cxnSpLocks/>
          </p:cNvCxnSpPr>
          <p:nvPr/>
        </p:nvCxnSpPr>
        <p:spPr>
          <a:xfrm>
            <a:off x="334963" y="1101344"/>
            <a:ext cx="11522075" cy="0"/>
          </a:xfrm>
          <a:prstGeom prst="line">
            <a:avLst/>
          </a:prstGeom>
          <a:ln w="19050">
            <a:gradFill flip="none" rotWithShape="1">
              <a:gsLst>
                <a:gs pos="0">
                  <a:schemeClr val="bg1"/>
                </a:gs>
                <a:gs pos="39000">
                  <a:srgbClr val="76D6FF"/>
                </a:gs>
                <a:gs pos="99000">
                  <a:schemeClr val="accent5">
                    <a:lumMod val="75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55829DB6-98BD-614C-82C4-EEC75995F310}"/>
              </a:ext>
            </a:extLst>
          </p:cNvPr>
          <p:cNvSpPr txBox="1"/>
          <p:nvPr/>
        </p:nvSpPr>
        <p:spPr>
          <a:xfrm>
            <a:off x="1146580" y="266600"/>
            <a:ext cx="6015582" cy="3282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en-US" altLang="ko-KR" sz="1400" spc="-70" dirty="0">
                <a:solidFill>
                  <a:schemeClr val="tx1">
                    <a:lumMod val="95000"/>
                    <a:lumOff val="5000"/>
                  </a:schemeClr>
                </a:solidFill>
                <a:latin typeface="Helvetica Neue Medium" panose="02000503000000020004" pitchFamily="2" charset="0"/>
                <a:cs typeface="Helvetica Neue Medium" panose="02000503000000020004" pitchFamily="2" charset="0"/>
              </a:rPr>
              <a:t>JANUS Performance</a:t>
            </a:r>
            <a:endParaRPr kumimoji="1" lang="ko-KR" altLang="en-US" sz="1400" spc="-70" dirty="0">
              <a:solidFill>
                <a:schemeClr val="tx1">
                  <a:lumMod val="95000"/>
                  <a:lumOff val="5000"/>
                </a:schemeClr>
              </a:solidFill>
              <a:latin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D321DE3-6BA4-1343-8CC3-8A9CB74C1965}"/>
              </a:ext>
            </a:extLst>
          </p:cNvPr>
          <p:cNvSpPr/>
          <p:nvPr/>
        </p:nvSpPr>
        <p:spPr>
          <a:xfrm>
            <a:off x="334963" y="294833"/>
            <a:ext cx="811617" cy="811617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5000"/>
                  <a:alpha val="95051"/>
                </a:schemeClr>
              </a:gs>
              <a:gs pos="23000">
                <a:schemeClr val="accent5">
                  <a:lumMod val="40000"/>
                  <a:lumOff val="60000"/>
                </a:schemeClr>
              </a:gs>
              <a:gs pos="49000">
                <a:srgbClr val="76A6D2"/>
              </a:gs>
              <a:gs pos="76000">
                <a:schemeClr val="accent5">
                  <a:lumMod val="7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2800" b="1" dirty="0">
                <a:solidFill>
                  <a:schemeClr val="bg1">
                    <a:lumMod val="9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05</a:t>
            </a:r>
            <a:endParaRPr kumimoji="1" lang="ko-KR" altLang="en-US" sz="2800" b="1" dirty="0">
              <a:solidFill>
                <a:schemeClr val="bg1">
                  <a:lumMod val="95000"/>
                </a:schemeClr>
              </a:solidFill>
              <a:latin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26EDAB15-C1FA-C246-A081-04E2DF2AFDCD}"/>
              </a:ext>
            </a:extLst>
          </p:cNvPr>
          <p:cNvSpPr txBox="1">
            <a:spLocks/>
          </p:cNvSpPr>
          <p:nvPr/>
        </p:nvSpPr>
        <p:spPr>
          <a:xfrm>
            <a:off x="1146580" y="509396"/>
            <a:ext cx="8778874" cy="631869"/>
          </a:xfrm>
          <a:prstGeom prst="rect">
            <a:avLst/>
          </a:prstGeom>
        </p:spPr>
        <p:txBody>
          <a:bodyPr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en-US" sz="5000" b="1" spc="-15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Generated Event 1</a:t>
            </a:r>
            <a:endParaRPr kumimoji="1" lang="ko-Kore-KR" altLang="en-US" sz="5000" b="1" spc="-150" dirty="0">
              <a:latin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88A8A660-87AE-5046-BA82-AF5A26CADFA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2305" r="63201"/>
          <a:stretch/>
        </p:blipFill>
        <p:spPr>
          <a:xfrm>
            <a:off x="3208948" y="2175885"/>
            <a:ext cx="4486549" cy="4427827"/>
          </a:xfrm>
          <a:prstGeom prst="rect">
            <a:avLst/>
          </a:prstGeom>
        </p:spPr>
      </p:pic>
      <p:sp>
        <p:nvSpPr>
          <p:cNvPr id="29" name="한쪽 모서리가 둥근 사각형 28">
            <a:extLst>
              <a:ext uri="{FF2B5EF4-FFF2-40B4-BE49-F238E27FC236}">
                <a16:creationId xmlns:a16="http://schemas.microsoft.com/office/drawing/2014/main" id="{00FE2B25-E04E-5F42-BAD6-0D26E022D7CF}"/>
              </a:ext>
            </a:extLst>
          </p:cNvPr>
          <p:cNvSpPr/>
          <p:nvPr/>
        </p:nvSpPr>
        <p:spPr>
          <a:xfrm flipV="1">
            <a:off x="334963" y="1282309"/>
            <a:ext cx="3300866" cy="821968"/>
          </a:xfrm>
          <a:prstGeom prst="round1Rect">
            <a:avLst>
              <a:gd name="adj" fmla="val 7021"/>
            </a:avLst>
          </a:prstGeom>
          <a:solidFill>
            <a:schemeClr val="bg1">
              <a:lumMod val="95000"/>
            </a:schemeClr>
          </a:solidFill>
          <a:ln w="254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FB19F65-DAF1-5242-B103-6A704FB6FACE}"/>
                  </a:ext>
                </a:extLst>
              </p:cNvPr>
              <p:cNvSpPr txBox="1"/>
              <p:nvPr/>
            </p:nvSpPr>
            <p:spPr>
              <a:xfrm>
                <a:off x="411629" y="1327474"/>
                <a:ext cx="3132557" cy="7386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14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𝑬</m:t>
                    </m:r>
                  </m:oMath>
                </a14:m>
                <a:r>
                  <a:rPr lang="en-US" altLang="ko-KR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: 42.224PeV</a:t>
                </a:r>
              </a:p>
              <a:p>
                <a14:m>
                  <m:oMath xmlns:m="http://schemas.openxmlformats.org/officeDocument/2006/math">
                    <m:r>
                      <a:rPr lang="en-US" altLang="ko-KR" sz="1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𝜽</m:t>
                    </m:r>
                    <m:r>
                      <a:rPr lang="en-US" altLang="ko-KR" sz="1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ko-KR" sz="1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𝝓</m:t>
                    </m:r>
                  </m:oMath>
                </a14:m>
                <a:r>
                  <a:rPr lang="en-US" altLang="ko-KR" sz="1400" b="1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: 133.946</a:t>
                </a:r>
                <a14:m>
                  <m:oMath xmlns:m="http://schemas.openxmlformats.org/officeDocument/2006/math">
                    <m:r>
                      <a:rPr lang="en-US" altLang="ko-KR" sz="1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°</m:t>
                    </m:r>
                  </m:oMath>
                </a14:m>
                <a:r>
                  <a:rPr lang="en-US" altLang="ko-KR" sz="14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, 8.633</a:t>
                </a:r>
                <a14:m>
                  <m:oMath xmlns:m="http://schemas.openxmlformats.org/officeDocument/2006/math">
                    <m:r>
                      <a:rPr lang="en-US" altLang="ko-KR" sz="1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°</m:t>
                    </m:r>
                  </m:oMath>
                </a14:m>
                <a:endParaRPr lang="en-US" altLang="ko-KR" sz="1400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altLang="ko-KR" sz="1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𝒙</m:t>
                    </m:r>
                    <m:r>
                      <a:rPr lang="en-US" altLang="ko-KR" sz="1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ko-KR" sz="1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𝒚</m:t>
                    </m:r>
                    <m:r>
                      <a:rPr lang="en-US" altLang="ko-KR" sz="1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altLang="ko-KR" sz="1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𝒛</m:t>
                    </m:r>
                  </m:oMath>
                </a14:m>
                <a:r>
                  <a:rPr lang="en-US" altLang="ko-KR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ko-KR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-248m,-111m,-284m</a:t>
                </a: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FB19F65-DAF1-5242-B103-6A704FB6FA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629" y="1327474"/>
                <a:ext cx="3132557" cy="738664"/>
              </a:xfrm>
              <a:prstGeom prst="rect">
                <a:avLst/>
              </a:prstGeom>
              <a:blipFill>
                <a:blip r:embed="rId4"/>
                <a:stretch>
                  <a:fillRect t="-1667" b="-666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>
            <a:extLst>
              <a:ext uri="{FF2B5EF4-FFF2-40B4-BE49-F238E27FC236}">
                <a16:creationId xmlns:a16="http://schemas.microsoft.com/office/drawing/2014/main" id="{E61A43C6-42D5-CC4B-9736-141C321B0456}"/>
              </a:ext>
            </a:extLst>
          </p:cNvPr>
          <p:cNvSpPr txBox="1"/>
          <p:nvPr/>
        </p:nvSpPr>
        <p:spPr>
          <a:xfrm>
            <a:off x="4240083" y="1721819"/>
            <a:ext cx="3007790" cy="3620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ko-KR" sz="1600" b="1" spc="-7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IceCube</a:t>
            </a:r>
            <a:r>
              <a:rPr lang="en-US" altLang="ko-KR" sz="1600" b="1" spc="-7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Simulation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E59DE3F-5383-5148-81F3-BF70784567D8}"/>
              </a:ext>
            </a:extLst>
          </p:cNvPr>
          <p:cNvSpPr txBox="1"/>
          <p:nvPr/>
        </p:nvSpPr>
        <p:spPr>
          <a:xfrm>
            <a:off x="7736442" y="1726845"/>
            <a:ext cx="3007790" cy="3620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ko-KR" sz="1600" b="1" spc="-7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JANUS Generated</a:t>
            </a:r>
          </a:p>
        </p:txBody>
      </p:sp>
      <p:pic>
        <p:nvPicPr>
          <p:cNvPr id="33" name="그림 32">
            <a:extLst>
              <a:ext uri="{FF2B5EF4-FFF2-40B4-BE49-F238E27FC236}">
                <a16:creationId xmlns:a16="http://schemas.microsoft.com/office/drawing/2014/main" id="{7FE7F280-8BFC-0E4C-993C-E84838741DA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2630" t="20523" r="16663"/>
          <a:stretch/>
        </p:blipFill>
        <p:spPr>
          <a:xfrm>
            <a:off x="7339516" y="2072375"/>
            <a:ext cx="3743812" cy="4529389"/>
          </a:xfrm>
          <a:prstGeom prst="rect">
            <a:avLst/>
          </a:prstGeom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75A1F3E9-885C-6349-AEE0-F615ED60DF8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0075"/>
          <a:stretch/>
        </p:blipFill>
        <p:spPr>
          <a:xfrm>
            <a:off x="10785176" y="907397"/>
            <a:ext cx="1210058" cy="5698981"/>
          </a:xfrm>
          <a:prstGeom prst="rect">
            <a:avLst/>
          </a:prstGeom>
        </p:spPr>
      </p:pic>
      <p:pic>
        <p:nvPicPr>
          <p:cNvPr id="44" name="그림 43">
            <a:extLst>
              <a:ext uri="{FF2B5EF4-FFF2-40B4-BE49-F238E27FC236}">
                <a16:creationId xmlns:a16="http://schemas.microsoft.com/office/drawing/2014/main" id="{F230F359-1AFC-174E-9D20-0FDE0EA0A630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50446"/>
          <a:stretch/>
        </p:blipFill>
        <p:spPr>
          <a:xfrm>
            <a:off x="334963" y="2280136"/>
            <a:ext cx="3098880" cy="2205658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707565DD-5C33-874E-AD53-162006D145E8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49739"/>
          <a:stretch/>
        </p:blipFill>
        <p:spPr>
          <a:xfrm>
            <a:off x="334963" y="4540704"/>
            <a:ext cx="3143100" cy="2205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7990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77B2F82-531A-EA41-941C-17071486B50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113837" y="814498"/>
            <a:ext cx="2743200" cy="365125"/>
          </a:xfrm>
        </p:spPr>
        <p:txBody>
          <a:bodyPr/>
          <a:lstStyle/>
          <a:p>
            <a:fld id="{683A3AC8-7E39-1245-98E2-08D56C5B5689}" type="slidenum">
              <a:rPr kumimoji="1" lang="ko-Kore-KR" altLang="en-US" smtClean="0"/>
              <a:t>9</a:t>
            </a:fld>
            <a:endParaRPr kumimoji="1" lang="ko-Kore-KR" altLang="en-US"/>
          </a:p>
        </p:txBody>
      </p:sp>
      <p:cxnSp>
        <p:nvCxnSpPr>
          <p:cNvPr id="4" name="직선 연결선[R] 3">
            <a:extLst>
              <a:ext uri="{FF2B5EF4-FFF2-40B4-BE49-F238E27FC236}">
                <a16:creationId xmlns:a16="http://schemas.microsoft.com/office/drawing/2014/main" id="{8ACD5E43-4406-0547-9F25-E5BAE9F992AF}"/>
              </a:ext>
            </a:extLst>
          </p:cNvPr>
          <p:cNvCxnSpPr>
            <a:cxnSpLocks/>
          </p:cNvCxnSpPr>
          <p:nvPr/>
        </p:nvCxnSpPr>
        <p:spPr>
          <a:xfrm>
            <a:off x="334963" y="1101344"/>
            <a:ext cx="11522075" cy="0"/>
          </a:xfrm>
          <a:prstGeom prst="line">
            <a:avLst/>
          </a:prstGeom>
          <a:ln w="19050">
            <a:gradFill flip="none" rotWithShape="1">
              <a:gsLst>
                <a:gs pos="0">
                  <a:schemeClr val="bg1"/>
                </a:gs>
                <a:gs pos="39000">
                  <a:srgbClr val="76D6FF"/>
                </a:gs>
                <a:gs pos="99000">
                  <a:schemeClr val="accent5">
                    <a:lumMod val="75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55829DB6-98BD-614C-82C4-EEC75995F310}"/>
              </a:ext>
            </a:extLst>
          </p:cNvPr>
          <p:cNvSpPr txBox="1"/>
          <p:nvPr/>
        </p:nvSpPr>
        <p:spPr>
          <a:xfrm>
            <a:off x="1146580" y="266600"/>
            <a:ext cx="6015582" cy="3282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en-US" altLang="ko-KR" sz="1400" spc="-70" dirty="0">
                <a:solidFill>
                  <a:schemeClr val="tx1">
                    <a:lumMod val="95000"/>
                    <a:lumOff val="5000"/>
                  </a:schemeClr>
                </a:solidFill>
                <a:latin typeface="Helvetica Neue Medium" panose="02000503000000020004" pitchFamily="2" charset="0"/>
                <a:cs typeface="Helvetica Neue Medium" panose="02000503000000020004" pitchFamily="2" charset="0"/>
              </a:rPr>
              <a:t>JANUS Performance</a:t>
            </a:r>
            <a:endParaRPr kumimoji="1" lang="ko-KR" altLang="en-US" sz="1400" spc="-70" dirty="0">
              <a:solidFill>
                <a:schemeClr val="tx1">
                  <a:lumMod val="95000"/>
                  <a:lumOff val="5000"/>
                </a:schemeClr>
              </a:solidFill>
              <a:latin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D321DE3-6BA4-1343-8CC3-8A9CB74C1965}"/>
              </a:ext>
            </a:extLst>
          </p:cNvPr>
          <p:cNvSpPr/>
          <p:nvPr/>
        </p:nvSpPr>
        <p:spPr>
          <a:xfrm>
            <a:off x="334963" y="294833"/>
            <a:ext cx="811617" cy="811617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5000"/>
                  <a:alpha val="95051"/>
                </a:schemeClr>
              </a:gs>
              <a:gs pos="23000">
                <a:schemeClr val="accent5">
                  <a:lumMod val="40000"/>
                  <a:lumOff val="60000"/>
                </a:schemeClr>
              </a:gs>
              <a:gs pos="49000">
                <a:srgbClr val="76A6D2"/>
              </a:gs>
              <a:gs pos="76000">
                <a:schemeClr val="accent5">
                  <a:lumMod val="7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2800" b="1" dirty="0">
                <a:solidFill>
                  <a:schemeClr val="bg1">
                    <a:lumMod val="9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05</a:t>
            </a:r>
            <a:endParaRPr kumimoji="1" lang="ko-KR" altLang="en-US" sz="2800" b="1" dirty="0">
              <a:solidFill>
                <a:schemeClr val="bg1">
                  <a:lumMod val="95000"/>
                </a:schemeClr>
              </a:solidFill>
              <a:latin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26EDAB15-C1FA-C246-A081-04E2DF2AFDCD}"/>
              </a:ext>
            </a:extLst>
          </p:cNvPr>
          <p:cNvSpPr txBox="1">
            <a:spLocks/>
          </p:cNvSpPr>
          <p:nvPr/>
        </p:nvSpPr>
        <p:spPr>
          <a:xfrm>
            <a:off x="1146580" y="509396"/>
            <a:ext cx="8778874" cy="631869"/>
          </a:xfrm>
          <a:prstGeom prst="rect">
            <a:avLst/>
          </a:prstGeom>
        </p:spPr>
        <p:txBody>
          <a:bodyPr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en-US" sz="5000" b="1" spc="-15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Generated Event 1 - Video</a:t>
            </a:r>
            <a:endParaRPr kumimoji="1" lang="ko-Kore-KR" altLang="en-US" sz="5000" b="1" spc="-150" dirty="0">
              <a:latin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pic>
        <p:nvPicPr>
          <p:cNvPr id="8" name="generated_sample_001_ref_121512_denorm.mp4" descr="generated_sample_001_ref_121512_denorm.mp4">
            <a:hlinkClick r:id="" action="ppaction://media"/>
            <a:extLst>
              <a:ext uri="{FF2B5EF4-FFF2-40B4-BE49-F238E27FC236}">
                <a16:creationId xmlns:a16="http://schemas.microsoft.com/office/drawing/2014/main" id="{00A20792-57FE-A143-830D-7CD26C689CF4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3839389" y="1776889"/>
            <a:ext cx="3699156" cy="4969016"/>
          </a:xfrm>
          <a:prstGeom prst="rect">
            <a:avLst/>
          </a:prstGeom>
        </p:spPr>
      </p:pic>
      <p:pic>
        <p:nvPicPr>
          <p:cNvPr id="9" name="real_ref_121512_real_denorm.mp4" descr="real_ref_121512_real_denorm.mp4">
            <a:hlinkClick r:id="" action="ppaction://media"/>
            <a:extLst>
              <a:ext uri="{FF2B5EF4-FFF2-40B4-BE49-F238E27FC236}">
                <a16:creationId xmlns:a16="http://schemas.microsoft.com/office/drawing/2014/main" id="{A9288474-3AE6-9A4E-996E-597C2C36B4AF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8049659" y="1760199"/>
            <a:ext cx="3699156" cy="4969016"/>
          </a:xfrm>
          <a:prstGeom prst="rect">
            <a:avLst/>
          </a:prstGeom>
        </p:spPr>
      </p:pic>
      <p:sp>
        <p:nvSpPr>
          <p:cNvPr id="15" name="한쪽 모서리가 둥근 사각형 14">
            <a:extLst>
              <a:ext uri="{FF2B5EF4-FFF2-40B4-BE49-F238E27FC236}">
                <a16:creationId xmlns:a16="http://schemas.microsoft.com/office/drawing/2014/main" id="{B2474771-9296-CB4D-BC70-7222CD9DB161}"/>
              </a:ext>
            </a:extLst>
          </p:cNvPr>
          <p:cNvSpPr/>
          <p:nvPr/>
        </p:nvSpPr>
        <p:spPr>
          <a:xfrm flipV="1">
            <a:off x="334963" y="1282309"/>
            <a:ext cx="3300866" cy="821968"/>
          </a:xfrm>
          <a:prstGeom prst="round1Rect">
            <a:avLst>
              <a:gd name="adj" fmla="val 7021"/>
            </a:avLst>
          </a:prstGeom>
          <a:solidFill>
            <a:schemeClr val="bg1">
              <a:lumMod val="95000"/>
            </a:schemeClr>
          </a:solidFill>
          <a:ln w="254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2DE1954-1DE4-744B-B75A-86DA71F25805}"/>
                  </a:ext>
                </a:extLst>
              </p:cNvPr>
              <p:cNvSpPr txBox="1"/>
              <p:nvPr/>
            </p:nvSpPr>
            <p:spPr>
              <a:xfrm>
                <a:off x="411629" y="1327474"/>
                <a:ext cx="3132557" cy="7386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14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𝑬</m:t>
                    </m:r>
                  </m:oMath>
                </a14:m>
                <a:r>
                  <a:rPr lang="en-US" altLang="ko-KR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: 42.224PeV</a:t>
                </a:r>
              </a:p>
              <a:p>
                <a14:m>
                  <m:oMath xmlns:m="http://schemas.openxmlformats.org/officeDocument/2006/math">
                    <m:r>
                      <a:rPr lang="en-US" altLang="ko-KR" sz="1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𝜽</m:t>
                    </m:r>
                    <m:r>
                      <a:rPr lang="en-US" altLang="ko-KR" sz="1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ko-KR" sz="1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𝝓</m:t>
                    </m:r>
                  </m:oMath>
                </a14:m>
                <a:r>
                  <a:rPr lang="en-US" altLang="ko-KR" sz="1400" b="1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: 133.946</a:t>
                </a:r>
                <a14:m>
                  <m:oMath xmlns:m="http://schemas.openxmlformats.org/officeDocument/2006/math">
                    <m:r>
                      <a:rPr lang="en-US" altLang="ko-KR" sz="1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°</m:t>
                    </m:r>
                  </m:oMath>
                </a14:m>
                <a:r>
                  <a:rPr lang="en-US" altLang="ko-KR" sz="14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, 8.633</a:t>
                </a:r>
                <a14:m>
                  <m:oMath xmlns:m="http://schemas.openxmlformats.org/officeDocument/2006/math">
                    <m:r>
                      <a:rPr lang="en-US" altLang="ko-KR" sz="1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°</m:t>
                    </m:r>
                  </m:oMath>
                </a14:m>
                <a:endParaRPr lang="en-US" altLang="ko-KR" sz="1400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altLang="ko-KR" sz="1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𝒙</m:t>
                    </m:r>
                    <m:r>
                      <a:rPr lang="en-US" altLang="ko-KR" sz="1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ko-KR" sz="1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𝒚</m:t>
                    </m:r>
                    <m:r>
                      <a:rPr lang="en-US" altLang="ko-KR" sz="1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altLang="ko-KR" sz="1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𝒛</m:t>
                    </m:r>
                  </m:oMath>
                </a14:m>
                <a:r>
                  <a:rPr lang="en-US" altLang="ko-KR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ko-KR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-248m,-111m,-284m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2DE1954-1DE4-744B-B75A-86DA71F258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629" y="1327474"/>
                <a:ext cx="3132557" cy="738664"/>
              </a:xfrm>
              <a:prstGeom prst="rect">
                <a:avLst/>
              </a:prstGeom>
              <a:blipFill>
                <a:blip r:embed="rId9"/>
                <a:stretch>
                  <a:fillRect t="-1667" b="-666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19074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467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9467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11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video>
              <p:cMediaNode vol="80000" mute="1">
                <p:cTn id="17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2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77B2F82-531A-EA41-941C-17071486B50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113837" y="814498"/>
            <a:ext cx="2743200" cy="365125"/>
          </a:xfrm>
        </p:spPr>
        <p:txBody>
          <a:bodyPr/>
          <a:lstStyle/>
          <a:p>
            <a:fld id="{683A3AC8-7E39-1245-98E2-08D56C5B5689}" type="slidenum">
              <a:rPr kumimoji="1" lang="ko-Kore-KR" altLang="en-US" smtClean="0"/>
              <a:t>10</a:t>
            </a:fld>
            <a:endParaRPr kumimoji="1" lang="ko-Kore-KR" altLang="en-US"/>
          </a:p>
        </p:txBody>
      </p:sp>
      <p:cxnSp>
        <p:nvCxnSpPr>
          <p:cNvPr id="4" name="직선 연결선[R] 3">
            <a:extLst>
              <a:ext uri="{FF2B5EF4-FFF2-40B4-BE49-F238E27FC236}">
                <a16:creationId xmlns:a16="http://schemas.microsoft.com/office/drawing/2014/main" id="{8ACD5E43-4406-0547-9F25-E5BAE9F992AF}"/>
              </a:ext>
            </a:extLst>
          </p:cNvPr>
          <p:cNvCxnSpPr>
            <a:cxnSpLocks/>
          </p:cNvCxnSpPr>
          <p:nvPr/>
        </p:nvCxnSpPr>
        <p:spPr>
          <a:xfrm>
            <a:off x="334963" y="1101344"/>
            <a:ext cx="11522075" cy="0"/>
          </a:xfrm>
          <a:prstGeom prst="line">
            <a:avLst/>
          </a:prstGeom>
          <a:ln w="19050">
            <a:gradFill flip="none" rotWithShape="1">
              <a:gsLst>
                <a:gs pos="0">
                  <a:schemeClr val="bg1"/>
                </a:gs>
                <a:gs pos="39000">
                  <a:srgbClr val="76D6FF"/>
                </a:gs>
                <a:gs pos="99000">
                  <a:schemeClr val="accent5">
                    <a:lumMod val="75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55829DB6-98BD-614C-82C4-EEC75995F310}"/>
              </a:ext>
            </a:extLst>
          </p:cNvPr>
          <p:cNvSpPr txBox="1"/>
          <p:nvPr/>
        </p:nvSpPr>
        <p:spPr>
          <a:xfrm>
            <a:off x="1146580" y="266600"/>
            <a:ext cx="6015582" cy="3282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en-US" altLang="ko-KR" sz="1400" spc="-70" dirty="0">
                <a:solidFill>
                  <a:schemeClr val="tx1">
                    <a:lumMod val="95000"/>
                    <a:lumOff val="5000"/>
                  </a:schemeClr>
                </a:solidFill>
                <a:latin typeface="Helvetica Neue Medium" panose="02000503000000020004" pitchFamily="2" charset="0"/>
                <a:cs typeface="Helvetica Neue Medium" panose="02000503000000020004" pitchFamily="2" charset="0"/>
              </a:rPr>
              <a:t>JANUS Performance</a:t>
            </a:r>
            <a:endParaRPr kumimoji="1" lang="ko-KR" altLang="en-US" sz="1400" spc="-70" dirty="0">
              <a:solidFill>
                <a:schemeClr val="tx1">
                  <a:lumMod val="95000"/>
                  <a:lumOff val="5000"/>
                </a:schemeClr>
              </a:solidFill>
              <a:latin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D321DE3-6BA4-1343-8CC3-8A9CB74C1965}"/>
              </a:ext>
            </a:extLst>
          </p:cNvPr>
          <p:cNvSpPr/>
          <p:nvPr/>
        </p:nvSpPr>
        <p:spPr>
          <a:xfrm>
            <a:off x="334963" y="294833"/>
            <a:ext cx="811617" cy="811617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5000"/>
                  <a:alpha val="95051"/>
                </a:schemeClr>
              </a:gs>
              <a:gs pos="23000">
                <a:schemeClr val="accent5">
                  <a:lumMod val="40000"/>
                  <a:lumOff val="60000"/>
                </a:schemeClr>
              </a:gs>
              <a:gs pos="49000">
                <a:srgbClr val="76A6D2"/>
              </a:gs>
              <a:gs pos="76000">
                <a:schemeClr val="accent5">
                  <a:lumMod val="7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2800" b="1" dirty="0">
                <a:solidFill>
                  <a:schemeClr val="bg1">
                    <a:lumMod val="9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05</a:t>
            </a:r>
            <a:endParaRPr kumimoji="1" lang="ko-KR" altLang="en-US" sz="2800" b="1" dirty="0">
              <a:solidFill>
                <a:schemeClr val="bg1">
                  <a:lumMod val="95000"/>
                </a:schemeClr>
              </a:solidFill>
              <a:latin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26EDAB15-C1FA-C246-A081-04E2DF2AFDCD}"/>
              </a:ext>
            </a:extLst>
          </p:cNvPr>
          <p:cNvSpPr txBox="1">
            <a:spLocks/>
          </p:cNvSpPr>
          <p:nvPr/>
        </p:nvSpPr>
        <p:spPr>
          <a:xfrm>
            <a:off x="1146580" y="509396"/>
            <a:ext cx="8778874" cy="631869"/>
          </a:xfrm>
          <a:prstGeom prst="rect">
            <a:avLst/>
          </a:prstGeom>
        </p:spPr>
        <p:txBody>
          <a:bodyPr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en-US" sz="5000" b="1" spc="-15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Generated Event 2</a:t>
            </a:r>
            <a:endParaRPr kumimoji="1" lang="ko-Kore-KR" altLang="en-US" sz="5000" b="1" spc="-150" dirty="0">
              <a:latin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A70D2A6A-10A1-3E4B-86EC-265D208484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4371" y="16623125"/>
            <a:ext cx="10089274" cy="4529389"/>
          </a:xfrm>
          <a:prstGeom prst="rect">
            <a:avLst/>
          </a:prstGeom>
        </p:spPr>
      </p:pic>
      <p:sp>
        <p:nvSpPr>
          <p:cNvPr id="14" name="한쪽 모서리가 둥근 사각형 13">
            <a:extLst>
              <a:ext uri="{FF2B5EF4-FFF2-40B4-BE49-F238E27FC236}">
                <a16:creationId xmlns:a16="http://schemas.microsoft.com/office/drawing/2014/main" id="{FE35D1C0-13AF-B849-976F-3D241C375F86}"/>
              </a:ext>
            </a:extLst>
          </p:cNvPr>
          <p:cNvSpPr/>
          <p:nvPr/>
        </p:nvSpPr>
        <p:spPr>
          <a:xfrm flipV="1">
            <a:off x="334963" y="1282309"/>
            <a:ext cx="3300866" cy="821968"/>
          </a:xfrm>
          <a:prstGeom prst="round1Rect">
            <a:avLst>
              <a:gd name="adj" fmla="val 7021"/>
            </a:avLst>
          </a:prstGeom>
          <a:solidFill>
            <a:schemeClr val="bg1">
              <a:lumMod val="95000"/>
            </a:schemeClr>
          </a:solidFill>
          <a:ln w="254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DE1E19C-D5EC-8E4C-BD09-5B8E7AA6F423}"/>
                  </a:ext>
                </a:extLst>
              </p:cNvPr>
              <p:cNvSpPr txBox="1"/>
              <p:nvPr/>
            </p:nvSpPr>
            <p:spPr>
              <a:xfrm>
                <a:off x="411629" y="1327474"/>
                <a:ext cx="3132557" cy="7386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14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𝑬</m:t>
                    </m:r>
                  </m:oMath>
                </a14:m>
                <a:r>
                  <a:rPr lang="en-US" altLang="ko-KR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: 19.960PeV</a:t>
                </a:r>
              </a:p>
              <a:p>
                <a14:m>
                  <m:oMath xmlns:m="http://schemas.openxmlformats.org/officeDocument/2006/math">
                    <m:r>
                      <a:rPr lang="en-US" altLang="ko-KR" sz="1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𝜽</m:t>
                    </m:r>
                    <m:r>
                      <a:rPr lang="en-US" altLang="ko-KR" sz="1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ko-KR" sz="1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𝝓</m:t>
                    </m:r>
                  </m:oMath>
                </a14:m>
                <a:r>
                  <a:rPr lang="en-US" altLang="ko-KR" sz="1400" b="1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: 123.965, 233,903</a:t>
                </a:r>
                <a:endParaRPr lang="en-US" altLang="ko-KR" sz="1400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altLang="ko-KR" sz="1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𝒙</m:t>
                    </m:r>
                    <m:r>
                      <a:rPr lang="en-US" altLang="ko-KR" sz="1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ko-KR" sz="1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𝒚</m:t>
                    </m:r>
                    <m:r>
                      <a:rPr lang="en-US" altLang="ko-KR" sz="1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altLang="ko-KR" sz="1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𝒛</m:t>
                    </m:r>
                  </m:oMath>
                </a14:m>
                <a:r>
                  <a:rPr lang="en-US" altLang="ko-KR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ko-KR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-215,-514,-499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DE1E19C-D5EC-8E4C-BD09-5B8E7AA6F4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629" y="1327474"/>
                <a:ext cx="3132557" cy="738664"/>
              </a:xfrm>
              <a:prstGeom prst="rect">
                <a:avLst/>
              </a:prstGeom>
              <a:blipFill>
                <a:blip r:embed="rId4"/>
                <a:stretch>
                  <a:fillRect t="-1667" b="-666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그림 11">
            <a:extLst>
              <a:ext uri="{FF2B5EF4-FFF2-40B4-BE49-F238E27FC236}">
                <a16:creationId xmlns:a16="http://schemas.microsoft.com/office/drawing/2014/main" id="{E92D7A53-1711-EF42-AD6E-27E050D271E8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8273" t="16898" r="60447"/>
          <a:stretch/>
        </p:blipFill>
        <p:spPr>
          <a:xfrm>
            <a:off x="4124398" y="2066138"/>
            <a:ext cx="3813717" cy="4735969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41E45A4C-4493-194F-AF62-645F97CD10A8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52192" t="20848" r="14333" b="11059"/>
          <a:stretch/>
        </p:blipFill>
        <p:spPr>
          <a:xfrm>
            <a:off x="7476763" y="2152047"/>
            <a:ext cx="4081348" cy="3880623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D8C09426-B4DF-C245-8B87-D50FD00D0F3B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88635"/>
          <a:stretch/>
        </p:blipFill>
        <p:spPr>
          <a:xfrm>
            <a:off x="10865307" y="1159019"/>
            <a:ext cx="1385607" cy="569898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4D53740D-2F0B-6145-B1DC-324623ABE6D6}"/>
              </a:ext>
            </a:extLst>
          </p:cNvPr>
          <p:cNvSpPr txBox="1"/>
          <p:nvPr/>
        </p:nvSpPr>
        <p:spPr>
          <a:xfrm>
            <a:off x="4240083" y="1721819"/>
            <a:ext cx="3007790" cy="3620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ko-KR" sz="1600" b="1" spc="-7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IceCube</a:t>
            </a:r>
            <a:r>
              <a:rPr lang="en-US" altLang="ko-KR" sz="1600" b="1" spc="-7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Simulation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CB83BAF-8832-3A44-BC55-B7E8261698DE}"/>
              </a:ext>
            </a:extLst>
          </p:cNvPr>
          <p:cNvSpPr txBox="1"/>
          <p:nvPr/>
        </p:nvSpPr>
        <p:spPr>
          <a:xfrm>
            <a:off x="7736442" y="1726845"/>
            <a:ext cx="3007790" cy="3620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ko-KR" sz="1600" b="1" spc="-7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JANUS Generated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C8F9809-26DB-AC47-83E4-36FF6CE0DC12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48938"/>
          <a:stretch/>
        </p:blipFill>
        <p:spPr>
          <a:xfrm>
            <a:off x="281170" y="2277797"/>
            <a:ext cx="3144744" cy="2174385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61215447-413F-4D40-8903-6CF7B9DA9397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49603"/>
          <a:stretch/>
        </p:blipFill>
        <p:spPr>
          <a:xfrm>
            <a:off x="322145" y="4488498"/>
            <a:ext cx="3103769" cy="2174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34261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77B2F82-531A-EA41-941C-17071486B50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113837" y="814498"/>
            <a:ext cx="2743200" cy="365125"/>
          </a:xfrm>
        </p:spPr>
        <p:txBody>
          <a:bodyPr/>
          <a:lstStyle/>
          <a:p>
            <a:fld id="{683A3AC8-7E39-1245-98E2-08D56C5B5689}" type="slidenum">
              <a:rPr kumimoji="1" lang="ko-Kore-KR" altLang="en-US" smtClean="0"/>
              <a:t>11</a:t>
            </a:fld>
            <a:endParaRPr kumimoji="1" lang="ko-Kore-KR" altLang="en-US"/>
          </a:p>
        </p:txBody>
      </p:sp>
      <p:cxnSp>
        <p:nvCxnSpPr>
          <p:cNvPr id="4" name="직선 연결선[R] 3">
            <a:extLst>
              <a:ext uri="{FF2B5EF4-FFF2-40B4-BE49-F238E27FC236}">
                <a16:creationId xmlns:a16="http://schemas.microsoft.com/office/drawing/2014/main" id="{8ACD5E43-4406-0547-9F25-E5BAE9F992AF}"/>
              </a:ext>
            </a:extLst>
          </p:cNvPr>
          <p:cNvCxnSpPr>
            <a:cxnSpLocks/>
          </p:cNvCxnSpPr>
          <p:nvPr/>
        </p:nvCxnSpPr>
        <p:spPr>
          <a:xfrm>
            <a:off x="334963" y="1101344"/>
            <a:ext cx="11522075" cy="0"/>
          </a:xfrm>
          <a:prstGeom prst="line">
            <a:avLst/>
          </a:prstGeom>
          <a:ln w="19050">
            <a:gradFill flip="none" rotWithShape="1">
              <a:gsLst>
                <a:gs pos="0">
                  <a:schemeClr val="bg1"/>
                </a:gs>
                <a:gs pos="39000">
                  <a:srgbClr val="76D6FF"/>
                </a:gs>
                <a:gs pos="99000">
                  <a:schemeClr val="accent5">
                    <a:lumMod val="75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55829DB6-98BD-614C-82C4-EEC75995F310}"/>
              </a:ext>
            </a:extLst>
          </p:cNvPr>
          <p:cNvSpPr txBox="1"/>
          <p:nvPr/>
        </p:nvSpPr>
        <p:spPr>
          <a:xfrm>
            <a:off x="1146580" y="266600"/>
            <a:ext cx="6015582" cy="3282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en-US" altLang="ko-KR" sz="1400" spc="-70" dirty="0">
                <a:solidFill>
                  <a:schemeClr val="tx1">
                    <a:lumMod val="95000"/>
                    <a:lumOff val="5000"/>
                  </a:schemeClr>
                </a:solidFill>
                <a:latin typeface="Helvetica Neue Medium" panose="02000503000000020004" pitchFamily="2" charset="0"/>
                <a:cs typeface="Helvetica Neue Medium" panose="02000503000000020004" pitchFamily="2" charset="0"/>
              </a:rPr>
              <a:t>Summary</a:t>
            </a:r>
            <a:endParaRPr kumimoji="1" lang="ko-KR" altLang="en-US" sz="1400" spc="-70" dirty="0">
              <a:solidFill>
                <a:schemeClr val="tx1">
                  <a:lumMod val="95000"/>
                  <a:lumOff val="5000"/>
                </a:schemeClr>
              </a:solidFill>
              <a:latin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D321DE3-6BA4-1343-8CC3-8A9CB74C1965}"/>
              </a:ext>
            </a:extLst>
          </p:cNvPr>
          <p:cNvSpPr/>
          <p:nvPr/>
        </p:nvSpPr>
        <p:spPr>
          <a:xfrm>
            <a:off x="334963" y="294833"/>
            <a:ext cx="811617" cy="811617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5000"/>
                  <a:alpha val="95051"/>
                </a:schemeClr>
              </a:gs>
              <a:gs pos="23000">
                <a:schemeClr val="accent5">
                  <a:lumMod val="40000"/>
                  <a:lumOff val="60000"/>
                </a:schemeClr>
              </a:gs>
              <a:gs pos="49000">
                <a:srgbClr val="76A6D2"/>
              </a:gs>
              <a:gs pos="76000">
                <a:schemeClr val="accent5">
                  <a:lumMod val="7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2800" b="1" dirty="0">
                <a:solidFill>
                  <a:schemeClr val="bg1">
                    <a:lumMod val="9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05</a:t>
            </a:r>
            <a:endParaRPr kumimoji="1" lang="ko-KR" altLang="en-US" sz="2800" b="1" dirty="0">
              <a:solidFill>
                <a:schemeClr val="bg1">
                  <a:lumMod val="95000"/>
                </a:schemeClr>
              </a:solidFill>
              <a:latin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26EDAB15-C1FA-C246-A081-04E2DF2AFDCD}"/>
              </a:ext>
            </a:extLst>
          </p:cNvPr>
          <p:cNvSpPr txBox="1">
            <a:spLocks/>
          </p:cNvSpPr>
          <p:nvPr/>
        </p:nvSpPr>
        <p:spPr>
          <a:xfrm>
            <a:off x="1146580" y="509396"/>
            <a:ext cx="10505093" cy="631869"/>
          </a:xfrm>
          <a:prstGeom prst="rect">
            <a:avLst/>
          </a:prstGeom>
        </p:spPr>
        <p:txBody>
          <a:bodyPr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en-US" sz="5000" b="1" spc="-15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Summary </a:t>
            </a:r>
            <a:r>
              <a:rPr kumimoji="1" lang="en-US" altLang="en-US" sz="5000" b="1" spc="-150" dirty="0">
                <a:solidFill>
                  <a:schemeClr val="bg2">
                    <a:lumMod val="50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&amp; Future Work</a:t>
            </a:r>
            <a:endParaRPr kumimoji="1" lang="ko-Kore-KR" altLang="en-US" sz="5000" b="1" spc="-150" dirty="0">
              <a:solidFill>
                <a:schemeClr val="bg2">
                  <a:lumMod val="50000"/>
                </a:schemeClr>
              </a:solidFill>
              <a:latin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94C88A0-7AB3-3944-826F-213D54413F06}"/>
              </a:ext>
            </a:extLst>
          </p:cNvPr>
          <p:cNvSpPr txBox="1"/>
          <p:nvPr/>
        </p:nvSpPr>
        <p:spPr>
          <a:xfrm>
            <a:off x="753712" y="1767469"/>
            <a:ext cx="11438288" cy="10604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0000"/>
              </a:lnSpc>
              <a:buFont typeface="Wingdings" pitchFamily="2" charset="2"/>
              <a:buChar char="§"/>
            </a:pP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trained JANUS using a optimal transport flow matching.</a:t>
            </a:r>
            <a:endParaRPr lang="en-US" altLang="ko-KR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20000"/>
              </a:lnSpc>
              <a:buFont typeface="Wingdings" pitchFamily="2" charset="2"/>
              <a:buChar char="§"/>
            </a:pP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the best of our knowledge, this is the first application of generative AI to </a:t>
            </a:r>
            <a:r>
              <a:rPr lang="en-US" altLang="ko-K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Icecube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neutrino event</a:t>
            </a:r>
            <a:endParaRPr lang="en-US" altLang="ko-KR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20000"/>
              </a:lnSpc>
              <a:buFont typeface="Wingdings" pitchFamily="2" charset="2"/>
              <a:buChar char="§"/>
            </a:pP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JANUS captures the overall trends of track events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B21B40-281B-FD4E-87CC-E43E0618C9F9}"/>
              </a:ext>
            </a:extLst>
          </p:cNvPr>
          <p:cNvSpPr txBox="1"/>
          <p:nvPr/>
        </p:nvSpPr>
        <p:spPr>
          <a:xfrm>
            <a:off x="740771" y="3367772"/>
            <a:ext cx="9040044" cy="10604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0000"/>
              </a:lnSpc>
              <a:buFont typeface="Wingdings" pitchFamily="2" charset="2"/>
              <a:buChar char="§"/>
            </a:pP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 summary statistic for the JANUS generated events</a:t>
            </a:r>
          </a:p>
          <a:p>
            <a:pPr marL="285750" indent="-285750">
              <a:lnSpc>
                <a:spcPct val="120000"/>
              </a:lnSpc>
              <a:buFont typeface="Wingdings" pitchFamily="2" charset="2"/>
              <a:buChar char="§"/>
            </a:pP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Likelihood evaluation and parameter inference with JANUS</a:t>
            </a:r>
          </a:p>
          <a:p>
            <a:pPr>
              <a:lnSpc>
                <a:spcPct val="120000"/>
              </a:lnSpc>
            </a:pPr>
            <a:endParaRPr lang="en-US" altLang="ko-K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DA2FCFE-E189-7047-992D-E9CF77218796}"/>
              </a:ext>
            </a:extLst>
          </p:cNvPr>
          <p:cNvSpPr txBox="1"/>
          <p:nvPr/>
        </p:nvSpPr>
        <p:spPr>
          <a:xfrm>
            <a:off x="-357315" y="1389592"/>
            <a:ext cx="3007790" cy="3956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ko-KR" b="1" spc="-7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Summary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D7AA363-63B1-7B4E-B5E8-94D6FFF28FC8}"/>
              </a:ext>
            </a:extLst>
          </p:cNvPr>
          <p:cNvSpPr txBox="1"/>
          <p:nvPr/>
        </p:nvSpPr>
        <p:spPr>
          <a:xfrm>
            <a:off x="-352552" y="3034006"/>
            <a:ext cx="3007790" cy="3956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ko-KR" b="1" spc="-7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Work</a:t>
            </a:r>
          </a:p>
        </p:txBody>
      </p:sp>
    </p:spTree>
    <p:extLst>
      <p:ext uri="{BB962C8B-B14F-4D97-AF65-F5344CB8AC3E}">
        <p14:creationId xmlns:p14="http://schemas.microsoft.com/office/powerpoint/2010/main" val="35851323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83000" b="-8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FFBE95E6-AE85-B64A-BC67-9D5D0A806D5C}"/>
              </a:ext>
            </a:extLst>
          </p:cNvPr>
          <p:cNvSpPr/>
          <p:nvPr/>
        </p:nvSpPr>
        <p:spPr>
          <a:xfrm>
            <a:off x="-1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1000">
                <a:schemeClr val="tx1">
                  <a:alpha val="849"/>
                </a:schemeClr>
              </a:gs>
              <a:gs pos="41000">
                <a:schemeClr val="tx1">
                  <a:alpha val="36000"/>
                </a:schemeClr>
              </a:gs>
              <a:gs pos="88000">
                <a:schemeClr val="tx1">
                  <a:alpha val="82000"/>
                </a:schemeClr>
              </a:gs>
            </a:gsLst>
            <a:lin ang="6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797BE1-7BCA-2943-89C1-80D86DB4B87C}"/>
              </a:ext>
            </a:extLst>
          </p:cNvPr>
          <p:cNvSpPr txBox="1"/>
          <p:nvPr/>
        </p:nvSpPr>
        <p:spPr>
          <a:xfrm>
            <a:off x="254242" y="4182083"/>
            <a:ext cx="114682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en-US" sz="5400" b="1" spc="-150" dirty="0">
                <a:gradFill>
                  <a:gsLst>
                    <a:gs pos="0">
                      <a:schemeClr val="accent5">
                        <a:lumMod val="20000"/>
                        <a:lumOff val="80000"/>
                      </a:schemeClr>
                    </a:gs>
                    <a:gs pos="53000">
                      <a:srgbClr val="76D6FF">
                        <a:lumMod val="46000"/>
                        <a:lumOff val="54000"/>
                      </a:srgbClr>
                    </a:gs>
                    <a:gs pos="98000">
                      <a:srgbClr val="0096FF">
                        <a:lumMod val="89828"/>
                        <a:lumOff val="10172"/>
                      </a:srgbClr>
                    </a:gs>
                  </a:gsLst>
                  <a:lin ang="7200000" scaled="0"/>
                </a:gra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Thank you for your Attention</a:t>
            </a:r>
          </a:p>
        </p:txBody>
      </p:sp>
      <p:cxnSp>
        <p:nvCxnSpPr>
          <p:cNvPr id="4" name="직선 연결선[R] 3">
            <a:extLst>
              <a:ext uri="{FF2B5EF4-FFF2-40B4-BE49-F238E27FC236}">
                <a16:creationId xmlns:a16="http://schemas.microsoft.com/office/drawing/2014/main" id="{D7CCF5E1-2FAE-6A4E-992B-8811A22CDEBD}"/>
              </a:ext>
            </a:extLst>
          </p:cNvPr>
          <p:cNvCxnSpPr>
            <a:cxnSpLocks/>
          </p:cNvCxnSpPr>
          <p:nvPr/>
        </p:nvCxnSpPr>
        <p:spPr>
          <a:xfrm>
            <a:off x="334962" y="4903998"/>
            <a:ext cx="11522075" cy="0"/>
          </a:xfrm>
          <a:prstGeom prst="line">
            <a:avLst/>
          </a:prstGeom>
          <a:ln w="19050">
            <a:gradFill flip="none" rotWithShape="1">
              <a:gsLst>
                <a:gs pos="0">
                  <a:schemeClr val="accent5">
                    <a:lumMod val="20000"/>
                    <a:lumOff val="80000"/>
                  </a:schemeClr>
                </a:gs>
                <a:gs pos="58000">
                  <a:srgbClr val="76D6FF"/>
                </a:gs>
                <a:gs pos="100000">
                  <a:srgbClr val="0096FF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291F34AF-4DFB-584E-9B5D-687750CE026C}"/>
              </a:ext>
            </a:extLst>
          </p:cNvPr>
          <p:cNvSpPr txBox="1"/>
          <p:nvPr/>
        </p:nvSpPr>
        <p:spPr>
          <a:xfrm>
            <a:off x="8502160" y="5150709"/>
            <a:ext cx="64405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en-US" sz="1200" b="1" dirty="0">
                <a:gradFill flip="none" rotWithShape="1">
                  <a:gsLst>
                    <a:gs pos="10000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chemeClr val="accent1"/>
                    </a:gs>
                  </a:gsLst>
                  <a:lin ang="10800000" scaled="1"/>
                  <a:tileRect/>
                </a:gradFill>
                <a:latin typeface="Georgia" panose="02040502050405020303" pitchFamily="18" charset="0"/>
                <a:ea typeface="Helvetica Neue" panose="02000503000000020004" pitchFamily="2" charset="0"/>
                <a:cs typeface="Times New Roman" panose="02020603050405020304" pitchFamily="18" charset="0"/>
              </a:rPr>
              <a:t>Fell free to contact me at :</a:t>
            </a:r>
          </a:p>
          <a:p>
            <a:pPr marL="171450" indent="-171450">
              <a:buFont typeface="Wingdings" pitchFamily="2" charset="2"/>
              <a:buChar char="§"/>
            </a:pPr>
            <a:r>
              <a:rPr kumimoji="1" lang="en-US" altLang="en-US" sz="1200" b="1" u="sng" dirty="0">
                <a:solidFill>
                  <a:schemeClr val="bg1"/>
                </a:solidFill>
                <a:latin typeface="Georgia" panose="02040502050405020303" pitchFamily="18" charset="0"/>
                <a:ea typeface="Helvetica Neue" panose="02000503000000020004" pitchFamily="2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pmj0324@g.skku.edu</a:t>
            </a:r>
            <a:endParaRPr kumimoji="1" lang="en-US" altLang="en-US" sz="1200" b="1" u="sng" dirty="0">
              <a:solidFill>
                <a:schemeClr val="bg1"/>
              </a:solidFill>
              <a:latin typeface="Georgia" panose="02040502050405020303" pitchFamily="18" charset="0"/>
              <a:ea typeface="Helvetica Neue" panose="02000503000000020004" pitchFamily="2" charset="0"/>
              <a:cs typeface="Times New Roman" panose="02020603050405020304" pitchFamily="18" charset="0"/>
            </a:endParaRPr>
          </a:p>
          <a:p>
            <a:pPr marL="171450" indent="-171450">
              <a:buFont typeface="Wingdings" pitchFamily="2" charset="2"/>
              <a:buChar char="§"/>
            </a:pPr>
            <a:r>
              <a:rPr kumimoji="1" lang="en-US" altLang="en-US" sz="1200" b="1" u="sng" dirty="0">
                <a:solidFill>
                  <a:schemeClr val="bg1"/>
                </a:solidFill>
                <a:latin typeface="Georgia" panose="02040502050405020303" pitchFamily="18" charset="0"/>
                <a:ea typeface="Helvetica Neue" panose="02000503000000020004" pitchFamily="2" charset="0"/>
                <a:cs typeface="Times New Roman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pmj032400@naver.com</a:t>
            </a:r>
            <a:endParaRPr kumimoji="1" lang="en-US" altLang="en-US" sz="1200" b="1" u="sng" dirty="0">
              <a:solidFill>
                <a:schemeClr val="bg1"/>
              </a:solidFill>
              <a:latin typeface="Georgia" panose="02040502050405020303" pitchFamily="18" charset="0"/>
              <a:ea typeface="Helvetica Neue" panose="02000503000000020004" pitchFamily="2" charset="0"/>
              <a:cs typeface="Times New Roman" panose="02020603050405020304" pitchFamily="18" charset="0"/>
            </a:endParaRPr>
          </a:p>
          <a:p>
            <a:r>
              <a:rPr kumimoji="1" lang="en-US" altLang="en-US" sz="1200" b="1" dirty="0">
                <a:gradFill flip="none" rotWithShape="1">
                  <a:gsLst>
                    <a:gs pos="10000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chemeClr val="accent1"/>
                    </a:gs>
                  </a:gsLst>
                  <a:lin ang="10800000" scaled="1"/>
                  <a:tileRect/>
                </a:gradFill>
                <a:latin typeface="Georgia" panose="02040502050405020303" pitchFamily="18" charset="0"/>
                <a:ea typeface="Helvetica Neue" panose="02000503000000020004" pitchFamily="2" charset="0"/>
                <a:cs typeface="Times New Roman" panose="02020603050405020304" pitchFamily="18" charset="0"/>
              </a:rPr>
              <a:t>Any questions or discussion is welcome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69799C-5DEC-B04A-A2D3-1ADA82374539}"/>
              </a:ext>
            </a:extLst>
          </p:cNvPr>
          <p:cNvSpPr txBox="1"/>
          <p:nvPr/>
        </p:nvSpPr>
        <p:spPr>
          <a:xfrm>
            <a:off x="0" y="7877540"/>
            <a:ext cx="11438288" cy="10604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endParaRPr lang="en-US" altLang="ko-KR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</a:pPr>
            <a:r>
              <a:rPr lang="en" altLang="ko-K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“What I cannot create, I do not understand.” – Richard Feynman</a:t>
            </a:r>
            <a:endParaRPr lang="en-US" altLang="ko-KR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ctr">
              <a:lnSpc>
                <a:spcPct val="120000"/>
              </a:lnSpc>
              <a:buFont typeface="Wingdings" pitchFamily="2" charset="2"/>
              <a:buChar char="§"/>
            </a:pPr>
            <a:endParaRPr lang="en-US" altLang="ko-KR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B7B0957-8A16-0F44-BA71-396A5527CE7A}"/>
              </a:ext>
            </a:extLst>
          </p:cNvPr>
          <p:cNvSpPr txBox="1"/>
          <p:nvPr/>
        </p:nvSpPr>
        <p:spPr>
          <a:xfrm>
            <a:off x="0" y="8802850"/>
            <a:ext cx="11438288" cy="10051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endParaRPr lang="en-US" altLang="ko-KR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" altLang="ko-K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model understands if it can generate.</a:t>
            </a:r>
          </a:p>
          <a:p>
            <a:pPr marL="285750" indent="-285750" algn="ctr">
              <a:lnSpc>
                <a:spcPct val="120000"/>
              </a:lnSpc>
              <a:buFont typeface="Wingdings" pitchFamily="2" charset="2"/>
              <a:buChar char="§"/>
            </a:pPr>
            <a:endParaRPr lang="en-US" altLang="ko-KR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98576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그림 22">
            <a:extLst>
              <a:ext uri="{FF2B5EF4-FFF2-40B4-BE49-F238E27FC236}">
                <a16:creationId xmlns:a16="http://schemas.microsoft.com/office/drawing/2014/main" id="{44046ABF-EC2F-374A-9877-4CE9565E8A2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4205" b="17448"/>
          <a:stretch/>
        </p:blipFill>
        <p:spPr bwMode="auto">
          <a:xfrm>
            <a:off x="997213" y="1454342"/>
            <a:ext cx="2918263" cy="2105787"/>
          </a:xfrm>
          <a:prstGeom prst="rect">
            <a:avLst/>
          </a:prstGeom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77B2F82-531A-EA41-941C-17071486B50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113837" y="814498"/>
            <a:ext cx="2743200" cy="365125"/>
          </a:xfrm>
        </p:spPr>
        <p:txBody>
          <a:bodyPr/>
          <a:lstStyle/>
          <a:p>
            <a:fld id="{683A3AC8-7E39-1245-98E2-08D56C5B5689}" type="slidenum">
              <a:rPr kumimoji="1" lang="ko-Kore-KR" altLang="en-US" smtClean="0"/>
              <a:t>13</a:t>
            </a:fld>
            <a:endParaRPr kumimoji="1" lang="ko-Kore-KR" altLang="en-US"/>
          </a:p>
        </p:txBody>
      </p:sp>
      <p:cxnSp>
        <p:nvCxnSpPr>
          <p:cNvPr id="4" name="직선 연결선[R] 3">
            <a:extLst>
              <a:ext uri="{FF2B5EF4-FFF2-40B4-BE49-F238E27FC236}">
                <a16:creationId xmlns:a16="http://schemas.microsoft.com/office/drawing/2014/main" id="{8ACD5E43-4406-0547-9F25-E5BAE9F992AF}"/>
              </a:ext>
            </a:extLst>
          </p:cNvPr>
          <p:cNvCxnSpPr>
            <a:cxnSpLocks/>
          </p:cNvCxnSpPr>
          <p:nvPr/>
        </p:nvCxnSpPr>
        <p:spPr>
          <a:xfrm>
            <a:off x="334963" y="1101344"/>
            <a:ext cx="11522075" cy="0"/>
          </a:xfrm>
          <a:prstGeom prst="line">
            <a:avLst/>
          </a:prstGeom>
          <a:ln w="19050">
            <a:gradFill flip="none" rotWithShape="1">
              <a:gsLst>
                <a:gs pos="0">
                  <a:schemeClr val="bg1"/>
                </a:gs>
                <a:gs pos="39000">
                  <a:srgbClr val="76D6FF"/>
                </a:gs>
                <a:gs pos="99000">
                  <a:schemeClr val="accent5">
                    <a:lumMod val="75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55829DB6-98BD-614C-82C4-EEC75995F310}"/>
              </a:ext>
            </a:extLst>
          </p:cNvPr>
          <p:cNvSpPr txBox="1"/>
          <p:nvPr/>
        </p:nvSpPr>
        <p:spPr>
          <a:xfrm>
            <a:off x="1146580" y="266600"/>
            <a:ext cx="6015582" cy="3282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en-US" altLang="ko-KR" sz="1400" spc="-70" dirty="0">
                <a:solidFill>
                  <a:schemeClr val="tx1">
                    <a:lumMod val="95000"/>
                    <a:lumOff val="5000"/>
                  </a:schemeClr>
                </a:solidFill>
                <a:latin typeface="Helvetica Neue Medium" panose="02000503000000020004" pitchFamily="2" charset="0"/>
                <a:cs typeface="Helvetica Neue Medium" panose="02000503000000020004" pitchFamily="2" charset="0"/>
              </a:rPr>
              <a:t>Motivation for JANUS</a:t>
            </a:r>
            <a:endParaRPr kumimoji="1" lang="ko-KR" altLang="en-US" sz="1400" spc="-70" dirty="0">
              <a:solidFill>
                <a:schemeClr val="tx1">
                  <a:lumMod val="95000"/>
                  <a:lumOff val="5000"/>
                </a:schemeClr>
              </a:solidFill>
              <a:latin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D321DE3-6BA4-1343-8CC3-8A9CB74C1965}"/>
              </a:ext>
            </a:extLst>
          </p:cNvPr>
          <p:cNvSpPr/>
          <p:nvPr/>
        </p:nvSpPr>
        <p:spPr>
          <a:xfrm>
            <a:off x="334963" y="294833"/>
            <a:ext cx="811617" cy="811617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5000"/>
                  <a:alpha val="95051"/>
                </a:schemeClr>
              </a:gs>
              <a:gs pos="23000">
                <a:schemeClr val="accent5">
                  <a:lumMod val="40000"/>
                  <a:lumOff val="60000"/>
                </a:schemeClr>
              </a:gs>
              <a:gs pos="49000">
                <a:srgbClr val="76A6D2"/>
              </a:gs>
              <a:gs pos="76000">
                <a:schemeClr val="accent5">
                  <a:lumMod val="7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2800" b="1" dirty="0">
                <a:solidFill>
                  <a:schemeClr val="bg1">
                    <a:lumMod val="9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</a:t>
            </a:r>
            <a:endParaRPr kumimoji="1" lang="ko-KR" altLang="en-US" sz="2800" b="1" dirty="0">
              <a:solidFill>
                <a:schemeClr val="bg1">
                  <a:lumMod val="95000"/>
                </a:schemeClr>
              </a:solidFill>
              <a:latin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26EDAB15-C1FA-C246-A081-04E2DF2AFDCD}"/>
              </a:ext>
            </a:extLst>
          </p:cNvPr>
          <p:cNvSpPr txBox="1">
            <a:spLocks/>
          </p:cNvSpPr>
          <p:nvPr/>
        </p:nvSpPr>
        <p:spPr>
          <a:xfrm>
            <a:off x="1146580" y="509396"/>
            <a:ext cx="9898840" cy="631869"/>
          </a:xfrm>
          <a:prstGeom prst="rect">
            <a:avLst/>
          </a:prstGeom>
        </p:spPr>
        <p:txBody>
          <a:bodyPr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5000" b="1" spc="-15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Why Generative AI</a:t>
            </a:r>
            <a:endParaRPr kumimoji="1" lang="ko-Kore-KR" altLang="en-US" sz="5000" b="1" spc="-150" dirty="0">
              <a:latin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7C6FE30-9831-514A-B6AB-CD3237766A51}"/>
              </a:ext>
            </a:extLst>
          </p:cNvPr>
          <p:cNvSpPr txBox="1"/>
          <p:nvPr/>
        </p:nvSpPr>
        <p:spPr>
          <a:xfrm>
            <a:off x="393543" y="1147987"/>
            <a:ext cx="5595406" cy="3956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0000"/>
              </a:lnSpc>
              <a:buFont typeface="Wingdings" pitchFamily="2" charset="2"/>
              <a:buChar char="§"/>
            </a:pPr>
            <a:r>
              <a:rPr lang="en-US" altLang="ko-KR" b="1" spc="-7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</a:t>
            </a:r>
            <a:r>
              <a:rPr lang="en-US" altLang="ko-KR" spc="-7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can we infer from just training to sample the event 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F9BF11B-9F58-3D48-9726-1159F8FA630A}"/>
              </a:ext>
            </a:extLst>
          </p:cNvPr>
          <p:cNvSpPr txBox="1"/>
          <p:nvPr/>
        </p:nvSpPr>
        <p:spPr>
          <a:xfrm>
            <a:off x="393543" y="3701002"/>
            <a:ext cx="5595406" cy="3956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0000"/>
              </a:lnSpc>
              <a:buFont typeface="Wingdings" pitchFamily="2" charset="2"/>
              <a:buChar char="§"/>
            </a:pPr>
            <a:r>
              <a:rPr lang="en-US" altLang="ko-KR" b="1" spc="-7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</a:t>
            </a:r>
            <a:r>
              <a:rPr lang="en-US" altLang="ko-KR" spc="-7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should we use it rather than basic regression model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6BD74B15-6928-6B49-95B8-29D48B6753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775" y="4185919"/>
            <a:ext cx="2561471" cy="2575545"/>
          </a:xfrm>
          <a:prstGeom prst="rect">
            <a:avLst/>
          </a:prstGeom>
        </p:spPr>
      </p:pic>
      <p:cxnSp>
        <p:nvCxnSpPr>
          <p:cNvPr id="26" name="직선 연결선[R] 25">
            <a:extLst>
              <a:ext uri="{FF2B5EF4-FFF2-40B4-BE49-F238E27FC236}">
                <a16:creationId xmlns:a16="http://schemas.microsoft.com/office/drawing/2014/main" id="{E1B70A7D-DADD-724E-BBEF-22D7796931CB}"/>
              </a:ext>
            </a:extLst>
          </p:cNvPr>
          <p:cNvCxnSpPr>
            <a:cxnSpLocks/>
          </p:cNvCxnSpPr>
          <p:nvPr/>
        </p:nvCxnSpPr>
        <p:spPr>
          <a:xfrm>
            <a:off x="334963" y="3650469"/>
            <a:ext cx="11522075" cy="0"/>
          </a:xfrm>
          <a:prstGeom prst="line">
            <a:avLst/>
          </a:prstGeom>
          <a:ln w="19050">
            <a:gradFill flip="none" rotWithShape="1">
              <a:gsLst>
                <a:gs pos="0">
                  <a:schemeClr val="bg1"/>
                </a:gs>
                <a:gs pos="39000">
                  <a:srgbClr val="76D6FF"/>
                </a:gs>
                <a:gs pos="99000">
                  <a:schemeClr val="accent5">
                    <a:lumMod val="75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2BB51B3-623B-9A49-953F-A4279549F171}"/>
                  </a:ext>
                </a:extLst>
              </p:cNvPr>
              <p:cNvSpPr txBox="1"/>
              <p:nvPr/>
            </p:nvSpPr>
            <p:spPr>
              <a:xfrm>
                <a:off x="3509325" y="4509917"/>
                <a:ext cx="8229600" cy="15438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 algn="l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kumimoji="1" lang="en" altLang="ko-KR" sz="1600" i="1" spc="-7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Manifold hypothesis</a:t>
                </a:r>
                <a:r>
                  <a:rPr kumimoji="1" lang="en" altLang="ko-KR" sz="1600" spc="-7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 data lie on a low-dimensional manifold(</a:t>
                </a:r>
                <a14:m>
                  <m:oMath xmlns:m="http://schemas.openxmlformats.org/officeDocument/2006/math">
                    <m:r>
                      <a:rPr kumimoji="1" lang="en-US" altLang="ko-KR" sz="1600" b="0" i="1" spc="-7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𝑞</m:t>
                    </m:r>
                  </m:oMath>
                </a14:m>
                <a:r>
                  <a:rPr kumimoji="1" lang="en" altLang="ko-KR" sz="1600" spc="-7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</a:p>
              <a:p>
                <a:pPr marL="285750" indent="-285750" algn="l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endParaRPr kumimoji="1" lang="en" altLang="ko-KR" sz="800" spc="-7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 algn="l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" altLang="ko-K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Events from the same underlying muon cluster around the same manifold.</a:t>
                </a:r>
                <a:endParaRPr kumimoji="1" lang="en" altLang="ko-KR" sz="1600" spc="-7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 algn="l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endParaRPr kumimoji="1" lang="en" altLang="ko-KR" sz="800" spc="-7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 algn="l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kumimoji="1" lang="en" altLang="ko-KR" sz="1600" spc="-7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generative model learns </a:t>
                </a:r>
                <a14:m>
                  <m:oMath xmlns:m="http://schemas.openxmlformats.org/officeDocument/2006/math">
                    <m:r>
                      <a:rPr kumimoji="1" lang="en-US" altLang="ko-KR" sz="1600" b="0" i="1" spc="-7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𝑞</m:t>
                    </m:r>
                  </m:oMath>
                </a14:m>
                <a:r>
                  <a:rPr kumimoji="1" lang="en" altLang="ko-KR" sz="1600" spc="-7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itself, enabling manifold-consistent, likelihood-based inference that is more robust to stochastic variability.</a:t>
                </a:r>
                <a:endParaRPr kumimoji="1" lang="ko-KR" altLang="en-US" sz="1600" spc="-7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2BB51B3-623B-9A49-953F-A4279549F1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9325" y="4509917"/>
                <a:ext cx="8229600" cy="1543884"/>
              </a:xfrm>
              <a:prstGeom prst="rect">
                <a:avLst/>
              </a:prstGeom>
              <a:blipFill>
                <a:blip r:embed="rId4"/>
                <a:stretch>
                  <a:fillRect l="-308" b="-409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AFB14846-F0E9-1B4B-9D7D-1D4F5C501A2D}"/>
                  </a:ext>
                </a:extLst>
              </p:cNvPr>
              <p:cNvSpPr txBox="1"/>
              <p:nvPr/>
            </p:nvSpPr>
            <p:spPr>
              <a:xfrm>
                <a:off x="4122101" y="1519084"/>
                <a:ext cx="7901286" cy="2022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20000"/>
                  </a:lnSpc>
                  <a:buAutoNum type="alphaLcParenBoth"/>
                </a:pPr>
                <a:r>
                  <a:rPr lang="en-US" altLang="ko-KR" spc="-7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Flow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" altLang="ko-K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Deterministic transport (ODE):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pc="-70" dirty="0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en-US" altLang="ko-KR" sz="1600" b="0" i="1" spc="-70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sz="1600" b="0" i="1" spc="-70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altLang="ko-KR" b="0" i="1" spc="-70" dirty="0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ko-KR" b="0" i="1" spc="-7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sz="1600" i="1" spc="-7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7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ko-KR" sz="1600" i="1" spc="-7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sub>
                    </m:sSub>
                    <m:r>
                      <a:rPr lang="en-US" altLang="ko-KR" sz="1600" i="1" spc="-7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sz="1600" i="1" spc="-7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7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600" i="1" spc="-7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ko-KR" sz="1600" i="1" spc="-7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altLang="ko-KR" sz="1600" i="1" spc="-7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𝑡</m:t>
                    </m:r>
                    <m:r>
                      <a:rPr lang="en-US" altLang="ko-KR" sz="1600" i="1" spc="-7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" altLang="ko-KR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US" altLang="ko-KR" sz="1400" b="0" i="1" spc="-70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1400" b="0" i="0" spc="-70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log</m:t>
                        </m:r>
                      </m:fName>
                      <m:e>
                        <m:sSub>
                          <m:sSubPr>
                            <m:ctrlPr>
                              <a:rPr lang="en-US" altLang="ko-KR" sz="1400" b="0" i="1" spc="-70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b="0" i="1" spc="-70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ko-KR" sz="1400" b="0" i="1" spc="-70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endChr m:val="|"/>
                            <m:ctrlPr>
                              <a:rPr lang="en-US" altLang="ko-KR" sz="1400" b="0" i="1" spc="-70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1400" b="0" i="1" spc="-70" smtClean="0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400" b="0" i="1" spc="-70" smtClean="0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sz="1400" b="0" i="1" spc="-70" smtClean="0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ko-KR" sz="1400" b="0" i="1" spc="-70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</m:e>
                        </m:d>
                        <m:r>
                          <a:rPr lang="en-US" altLang="ko-KR" sz="1400" b="0" i="1" spc="-70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  <m:r>
                          <a:rPr lang="en-US" altLang="ko-KR" sz="1400" b="0" i="1" spc="-70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)=</m:t>
                        </m:r>
                        <m:func>
                          <m:funcPr>
                            <m:ctrlPr>
                              <a:rPr lang="en-US" altLang="ko-KR" sz="1400" b="0" i="1" spc="-70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ko-KR" sz="1400" b="0" i="0" spc="-70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log</m:t>
                            </m:r>
                          </m:fName>
                          <m:e>
                            <m:sSub>
                              <m:sSubPr>
                                <m:ctrlPr>
                                  <a:rPr lang="en-US" altLang="ko-KR" sz="1400" b="0" i="1" spc="-70" smtClean="0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400" b="0" i="1" spc="-70" smtClean="0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ko-KR" sz="1400" b="0" i="1" spc="-70" smtClean="0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ko-KR" sz="1400" b="0" i="1" spc="-70" smtClean="0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ko-KR" sz="1400" b="0" i="1" spc="-7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 spc="-7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ko-KR" sz="1400" b="0" i="1" spc="-7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altLang="ko-KR" sz="1400" b="0" i="1" spc="-70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 </m:t>
                            </m:r>
                            <m:nary>
                              <m:naryPr>
                                <m:limLoc m:val="undOvr"/>
                                <m:subHide m:val="on"/>
                                <m:supHide m:val="on"/>
                                <m:ctrlPr>
                                  <a:rPr lang="en-US" altLang="ko-KR" sz="1400" b="0" i="1" spc="-70" smtClean="0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naryPr>
                              <m:sub/>
                              <m:sup/>
                              <m:e>
                                <m:sSub>
                                  <m:sSubPr>
                                    <m:ctrlPr>
                                      <a:rPr lang="en-US" altLang="ko-KR" sz="1400" b="0" i="1" spc="-7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1400" b="0" i="0" spc="-7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∇</m:t>
                                    </m:r>
                                  </m:e>
                                  <m:sub>
                                    <m:r>
                                      <a:rPr lang="en-US" altLang="ko-KR" sz="1400" b="0" i="1" spc="-7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  <m:r>
                                  <a:rPr lang="en-US" altLang="ko-KR" sz="1400" b="0" i="1" spc="-70" smtClean="0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US" altLang="ko-KR" sz="1400" b="0" i="1" spc="-7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 spc="-7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altLang="ko-KR" sz="1400" b="0" i="1" spc="-7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𝜃</m:t>
                                    </m:r>
                                  </m:sub>
                                </m:sSub>
                                <m:d>
                                  <m:dPr>
                                    <m:endChr m:val="|"/>
                                    <m:ctrlPr>
                                      <a:rPr lang="en-US" altLang="ko-KR" sz="1400" b="0" i="1" spc="-7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ko-KR" sz="1400" b="0" i="1" spc="-70" smtClean="0">
                                            <a:solidFill>
                                              <a:schemeClr val="tx1">
                                                <a:lumMod val="95000"/>
                                                <a:lumOff val="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400" b="0" i="1" spc="-70" smtClean="0">
                                            <a:solidFill>
                                              <a:schemeClr val="tx1">
                                                <a:lumMod val="95000"/>
                                                <a:lumOff val="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ko-KR" sz="1400" b="0" i="1" spc="-70" smtClean="0">
                                            <a:solidFill>
                                              <a:schemeClr val="tx1">
                                                <a:lumMod val="95000"/>
                                                <a:lumOff val="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  <m:r>
                                      <a:rPr lang="en-US" altLang="ko-KR" sz="1400" b="0" i="1" spc="-7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, </m:t>
                                    </m:r>
                                    <m:r>
                                      <a:rPr lang="en-US" altLang="ko-KR" sz="1400" b="0" i="1" spc="-7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𝑡</m:t>
                                    </m:r>
                                    <m:r>
                                      <a:rPr lang="en-US" altLang="ko-KR" sz="1400" b="0" i="1" spc="-7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 </m:t>
                                    </m:r>
                                  </m:e>
                                </m:d>
                                <m:r>
                                  <a:rPr lang="en-US" altLang="ko-KR" sz="1400" b="0" i="1" spc="-70" smtClean="0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𝑐</m:t>
                                </m:r>
                                <m:r>
                                  <a:rPr lang="en-US" altLang="ko-KR" sz="1400" b="0" i="1" spc="-70" smtClean="0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)</m:t>
                                </m:r>
                                <m:r>
                                  <a:rPr lang="en-US" altLang="ko-KR" sz="1400" b="0" i="1" spc="-70" smtClean="0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𝑑𝑡</m:t>
                                </m:r>
                                <m:r>
                                  <a:rPr lang="en-US" altLang="ko-KR" sz="1400" b="0" i="1" spc="-70" smtClean="0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</m:e>
                            </m:nary>
                          </m:e>
                        </m:func>
                      </m:e>
                    </m:func>
                  </m:oMath>
                </a14:m>
                <a:endParaRPr lang="en-US" altLang="ko-KR" sz="1400" spc="-7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endParaRPr lang="en-US" altLang="ko-KR" sz="1400" spc="-7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20000"/>
                  </a:lnSpc>
                  <a:buAutoNum type="alphaLcParenBoth"/>
                </a:pPr>
                <a:r>
                  <a:rPr lang="en-US" altLang="ko-KR" spc="-7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Diffusion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" altLang="ko-K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Stochastic noising / denoising (SDE / reverse process)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b="0" i="1" spc="-70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func>
                          <m:funcPr>
                            <m:ctrlPr>
                              <a:rPr lang="en-US" altLang="ko-KR" sz="1400" b="0" i="1" spc="-70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ko-KR" sz="1400" b="0" i="0" spc="-70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log</m:t>
                            </m:r>
                          </m:fName>
                          <m:e>
                            <m:sSub>
                              <m:sSubPr>
                                <m:ctrlPr>
                                  <a:rPr lang="en-US" altLang="ko-KR" sz="1400" b="0" i="1" spc="-70" smtClean="0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400" b="0" i="1" spc="-70" smtClean="0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ko-KR" sz="1400" b="0" i="1" spc="-70" smtClean="0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𝜃</m:t>
                                </m:r>
                              </m:sub>
                            </m:sSub>
                            <m:d>
                              <m:dPr>
                                <m:endChr m:val="|"/>
                                <m:ctrlPr>
                                  <a:rPr lang="en-US" altLang="ko-KR" sz="1400" b="0" i="1" spc="-70" smtClean="0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ko-KR" sz="1400" b="0" i="1" spc="-7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 spc="-7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ko-KR" sz="1400" b="0" i="1" spc="-7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ko-KR" sz="1400" b="0" i="1" spc="-70" smtClean="0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</m:e>
                            </m:d>
                            <m:r>
                              <a:rPr lang="en-US" altLang="ko-KR" sz="1400" b="0" i="1" spc="-70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𝑐</m:t>
                            </m:r>
                            <m:r>
                              <a:rPr lang="en-US" altLang="ko-KR" sz="1400" b="0" i="1" spc="-70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 )≥</m:t>
                            </m:r>
                            <m:r>
                              <m:rPr>
                                <m:sty m:val="p"/>
                              </m:rPr>
                              <a:rPr lang="el-GR" altLang="ko-KR" sz="1400" b="0" i="1" spc="-70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Ε</m:t>
                            </m:r>
                          </m:e>
                        </m:func>
                      </m:e>
                      <m:sub>
                        <m:r>
                          <a:rPr lang="en-US" altLang="ko-KR" sz="1400" b="0" i="1" spc="-70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𝑞</m:t>
                        </m:r>
                        <m:d>
                          <m:dPr>
                            <m:ctrlPr>
                              <a:rPr lang="en-US" altLang="ko-KR" sz="1400" b="0" i="1" spc="-70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1400" b="0" i="1" spc="-70" smtClean="0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400" b="0" i="1" spc="-70" smtClean="0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sz="1400" b="0" i="1" spc="-70" smtClean="0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0:1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US" altLang="ko-KR" sz="1400" b="0" i="1" spc="-70" smtClean="0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400" b="0" i="1" spc="-70" smtClean="0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sz="1400" b="0" i="1" spc="-70" smtClean="0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sub>
                    </m:sSub>
                    <m:r>
                      <a:rPr lang="en-US" altLang="ko-KR" sz="1400" b="0" i="1" spc="-7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[</m:t>
                    </m:r>
                    <m:func>
                      <m:funcPr>
                        <m:ctrlPr>
                          <a:rPr lang="en-US" altLang="ko-KR" sz="1400" b="0" i="1" spc="-70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1400" b="0" i="0" spc="-70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log</m:t>
                        </m:r>
                      </m:fName>
                      <m:e>
                        <m:sSub>
                          <m:sSubPr>
                            <m:ctrlPr>
                              <a:rPr lang="en-US" altLang="ko-KR" sz="1400" b="0" i="1" spc="-70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b="0" i="1" spc="-70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ko-KR" sz="1400" b="0" i="1" spc="-70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1400" b="0" i="1" spc="-70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1400" b="0" i="1" spc="-70" smtClean="0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400" b="0" i="1" spc="-70" smtClean="0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sz="1400" b="0" i="1" spc="-70" smtClean="0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  <m:r>
                          <a:rPr lang="en-US" altLang="ko-KR" sz="1400" b="0" i="1" spc="-70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 </m:t>
                        </m:r>
                        <m:nary>
                          <m:naryPr>
                            <m:ctrlPr>
                              <a:rPr lang="en-US" altLang="ko-KR" sz="1400" b="0" i="1" spc="-70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ko-KR" sz="1400" b="0" i="1" spc="-70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altLang="ko-KR" sz="1400" b="0" i="1" spc="-70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p>
                          <m:e>
                            <m:func>
                              <m:funcPr>
                                <m:ctrlPr>
                                  <a:rPr lang="en-US" altLang="ko-KR" sz="1400" i="1" spc="-70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ko-KR" sz="1400" spc="-70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log</m:t>
                                </m:r>
                              </m:fName>
                              <m:e>
                                <m:sSub>
                                  <m:sSubPr>
                                    <m:ctrlPr>
                                      <a:rPr lang="en-US" altLang="ko-KR" sz="1400" i="1" spc="-7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i="1" spc="-7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altLang="ko-KR" sz="1400" i="1" spc="-7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𝜃</m:t>
                                    </m:r>
                                  </m:sub>
                                </m:sSub>
                                <m:d>
                                  <m:dPr>
                                    <m:endChr m:val="|"/>
                                    <m:ctrlPr>
                                      <a:rPr lang="en-US" altLang="ko-KR" sz="1400" i="1" spc="-7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ko-KR" sz="1400" i="1" spc="-70">
                                            <a:solidFill>
                                              <a:schemeClr val="tx1">
                                                <a:lumMod val="95000"/>
                                                <a:lumOff val="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400" i="1" spc="-70">
                                            <a:solidFill>
                                              <a:schemeClr val="tx1">
                                                <a:lumMod val="95000"/>
                                                <a:lumOff val="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ko-KR" sz="1400" i="1" spc="-70">
                                            <a:solidFill>
                                              <a:schemeClr val="tx1">
                                                <a:lumMod val="95000"/>
                                                <a:lumOff val="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</m:e>
                                </m:d>
                                <m:sSub>
                                  <m:sSubPr>
                                    <m:ctrlPr>
                                      <a:rPr lang="en-US" altLang="ko-KR" sz="1400" i="1" spc="-7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i="1" spc="-7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ko-KR" sz="1400" i="1" spc="-7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𝑡</m:t>
                                    </m:r>
                                    <m:r>
                                      <a:rPr lang="en-US" altLang="ko-KR" sz="1400" i="1" spc="-7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+</m:t>
                                    </m:r>
                                    <m:r>
                                      <a:rPr lang="en-US" altLang="ko-KR" sz="1400" i="1" spc="-7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𝑑𝑡</m:t>
                                    </m:r>
                                    <m:r>
                                      <a:rPr lang="en-US" altLang="ko-KR" sz="1400" i="1" spc="-7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 </m:t>
                                    </m:r>
                                  </m:sub>
                                </m:sSub>
                                <m:r>
                                  <a:rPr lang="en-US" altLang="ko-KR" sz="1400" i="1" spc="-70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, </m:t>
                                </m:r>
                                <m:r>
                                  <a:rPr lang="en-US" altLang="ko-KR" sz="1400" i="1" spc="-70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𝑐</m:t>
                                </m:r>
                                <m:r>
                                  <a:rPr lang="en-US" altLang="ko-KR" sz="1400" i="1" spc="-70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)</m:t>
                                </m:r>
                                <m:r>
                                  <a:rPr lang="en-US" altLang="ko-KR" sz="1400" i="1" spc="-70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𝑑𝑡</m:t>
                                </m:r>
                                <m:r>
                                  <a:rPr lang="en-US" altLang="ko-KR" sz="1400" i="1" spc="-70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− </m:t>
                                </m:r>
                                <m:nary>
                                  <m:naryPr>
                                    <m:ctrlPr>
                                      <a:rPr lang="en-US" altLang="ko-KR" sz="1400" b="0" i="1" spc="-7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altLang="ko-KR" sz="1400" b="0" i="1" spc="-7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sub>
                                  <m:sup>
                                    <m:r>
                                      <a:rPr lang="en-US" altLang="ko-KR" sz="1400" b="0" i="1" spc="-7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sup>
                                  <m:e>
                                    <m:func>
                                      <m:funcPr>
                                        <m:ctrlPr>
                                          <a:rPr lang="en-US" altLang="ko-KR" sz="1400" b="0" i="1" spc="-70" smtClean="0">
                                            <a:solidFill>
                                              <a:schemeClr val="tx1">
                                                <a:lumMod val="95000"/>
                                                <a:lumOff val="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sz="1400" b="0" i="0" spc="-70" smtClean="0">
                                            <a:solidFill>
                                              <a:schemeClr val="tx1">
                                                <a:lumMod val="95000"/>
                                                <a:lumOff val="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log</m:t>
                                        </m:r>
                                      </m:fName>
                                      <m:e>
                                        <m:r>
                                          <a:rPr lang="en-US" altLang="ko-KR" sz="1400" b="0" i="1" spc="-70" smtClean="0">
                                            <a:solidFill>
                                              <a:schemeClr val="tx1">
                                                <a:lumMod val="95000"/>
                                                <a:lumOff val="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𝑞</m:t>
                                        </m:r>
                                        <m:d>
                                          <m:dPr>
                                            <m:endChr m:val="|"/>
                                            <m:ctrlPr>
                                              <a:rPr lang="en-US" altLang="ko-KR" sz="1400" b="0" i="1" spc="-70" smtClean="0">
                                                <a:solidFill>
                                                  <a:schemeClr val="tx1">
                                                    <a:lumMod val="95000"/>
                                                    <a:lumOff val="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altLang="ko-KR" sz="1400" b="0" i="1" spc="-70" smtClean="0">
                                                    <a:solidFill>
                                                      <a:schemeClr val="tx1">
                                                        <a:lumMod val="95000"/>
                                                        <a:lumOff val="5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ko-KR" sz="1400" b="0" i="1" spc="-70" smtClean="0">
                                                    <a:solidFill>
                                                      <a:schemeClr val="tx1">
                                                        <a:lumMod val="95000"/>
                                                        <a:lumOff val="5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ko-KR" sz="1400" b="0" i="1" spc="-70" smtClean="0">
                                                    <a:solidFill>
                                                      <a:schemeClr val="tx1">
                                                        <a:lumMod val="95000"/>
                                                        <a:lumOff val="5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𝑡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  <m:sSub>
                                          <m:sSubPr>
                                            <m:ctrlPr>
                                              <a:rPr lang="en-US" altLang="ko-KR" sz="1400" b="0" i="1" spc="-70" smtClean="0">
                                                <a:solidFill>
                                                  <a:schemeClr val="tx1">
                                                    <a:lumMod val="95000"/>
                                                    <a:lumOff val="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400" b="0" i="1" spc="-70" smtClean="0">
                                                <a:solidFill>
                                                  <a:schemeClr val="tx1">
                                                    <a:lumMod val="95000"/>
                                                    <a:lumOff val="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400" b="0" i="1" spc="-70" smtClean="0">
                                                <a:solidFill>
                                                  <a:schemeClr val="tx1">
                                                    <a:lumMod val="95000"/>
                                                    <a:lumOff val="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𝑡</m:t>
                                            </m:r>
                                            <m:r>
                                              <a:rPr lang="en-US" altLang="ko-KR" sz="1400" b="0" i="1" spc="-70" smtClean="0">
                                                <a:solidFill>
                                                  <a:schemeClr val="tx1">
                                                    <a:lumMod val="95000"/>
                                                    <a:lumOff val="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+</m:t>
                                            </m:r>
                                            <m:r>
                                              <a:rPr lang="en-US" altLang="ko-KR" sz="1400" b="0" i="1" spc="-70" smtClean="0">
                                                <a:solidFill>
                                                  <a:schemeClr val="tx1">
                                                    <a:lumMod val="95000"/>
                                                    <a:lumOff val="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𝑑𝑡</m:t>
                                            </m:r>
                                            <m:r>
                                              <a:rPr lang="en-US" altLang="ko-KR" sz="1400" b="0" i="1" spc="-70" smtClean="0">
                                                <a:solidFill>
                                                  <a:schemeClr val="tx1">
                                                    <a:lumMod val="95000"/>
                                                    <a:lumOff val="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 </m:t>
                                            </m:r>
                                          </m:sub>
                                        </m:sSub>
                                        <m:r>
                                          <a:rPr lang="en-US" altLang="ko-KR" sz="1400" b="0" i="1" spc="-70" smtClean="0">
                                            <a:solidFill>
                                              <a:schemeClr val="tx1">
                                                <a:lumMod val="95000"/>
                                                <a:lumOff val="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)</m:t>
                                        </m:r>
                                        <m:r>
                                          <a:rPr lang="en-US" altLang="ko-KR" sz="1400" b="0" i="1" spc="-70" smtClean="0">
                                            <a:solidFill>
                                              <a:schemeClr val="tx1">
                                                <a:lumMod val="95000"/>
                                                <a:lumOff val="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𝑑𝑡</m:t>
                                        </m:r>
                                      </m:e>
                                    </m:func>
                                    <m:r>
                                      <a:rPr lang="en-US" altLang="ko-KR" sz="1400" b="0" i="1" spc="-7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]</m:t>
                                    </m:r>
                                  </m:e>
                                </m:nary>
                              </m:e>
                            </m:func>
                          </m:e>
                        </m:nary>
                      </m:e>
                    </m:func>
                  </m:oMath>
                </a14:m>
                <a:r>
                  <a:rPr lang="en" altLang="ko-K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AFB14846-F0E9-1B4B-9D7D-1D4F5C501A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2101" y="1519084"/>
                <a:ext cx="7901286" cy="2022220"/>
              </a:xfrm>
              <a:prstGeom prst="rect">
                <a:avLst/>
              </a:prstGeom>
              <a:blipFill>
                <a:blip r:embed="rId5"/>
                <a:stretch>
                  <a:fillRect l="-482" b="-2812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011319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77B2F82-531A-EA41-941C-17071486B50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113837" y="814498"/>
            <a:ext cx="2743200" cy="365125"/>
          </a:xfrm>
        </p:spPr>
        <p:txBody>
          <a:bodyPr/>
          <a:lstStyle/>
          <a:p>
            <a:fld id="{683A3AC8-7E39-1245-98E2-08D56C5B5689}" type="slidenum">
              <a:rPr kumimoji="1" lang="ko-Kore-KR" altLang="en-US" smtClean="0"/>
              <a:t>14</a:t>
            </a:fld>
            <a:endParaRPr kumimoji="1" lang="ko-Kore-KR" altLang="en-US"/>
          </a:p>
        </p:txBody>
      </p:sp>
      <p:cxnSp>
        <p:nvCxnSpPr>
          <p:cNvPr id="4" name="직선 연결선[R] 3">
            <a:extLst>
              <a:ext uri="{FF2B5EF4-FFF2-40B4-BE49-F238E27FC236}">
                <a16:creationId xmlns:a16="http://schemas.microsoft.com/office/drawing/2014/main" id="{8ACD5E43-4406-0547-9F25-E5BAE9F992AF}"/>
              </a:ext>
            </a:extLst>
          </p:cNvPr>
          <p:cNvCxnSpPr>
            <a:cxnSpLocks/>
          </p:cNvCxnSpPr>
          <p:nvPr/>
        </p:nvCxnSpPr>
        <p:spPr>
          <a:xfrm>
            <a:off x="334963" y="1101344"/>
            <a:ext cx="11522075" cy="0"/>
          </a:xfrm>
          <a:prstGeom prst="line">
            <a:avLst/>
          </a:prstGeom>
          <a:ln w="19050">
            <a:gradFill flip="none" rotWithShape="1">
              <a:gsLst>
                <a:gs pos="0">
                  <a:schemeClr val="bg1"/>
                </a:gs>
                <a:gs pos="39000">
                  <a:srgbClr val="76D6FF"/>
                </a:gs>
                <a:gs pos="99000">
                  <a:schemeClr val="accent5">
                    <a:lumMod val="75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55829DB6-98BD-614C-82C4-EEC75995F310}"/>
              </a:ext>
            </a:extLst>
          </p:cNvPr>
          <p:cNvSpPr txBox="1"/>
          <p:nvPr/>
        </p:nvSpPr>
        <p:spPr>
          <a:xfrm>
            <a:off x="1146580" y="266600"/>
            <a:ext cx="6015582" cy="3282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en-US" altLang="ko-KR" sz="1400" spc="-70" dirty="0">
                <a:solidFill>
                  <a:schemeClr val="tx1">
                    <a:lumMod val="95000"/>
                    <a:lumOff val="5000"/>
                  </a:schemeClr>
                </a:solidFill>
                <a:latin typeface="Helvetica Neue Medium" panose="02000503000000020004" pitchFamily="2" charset="0"/>
                <a:cs typeface="Helvetica Neue Medium" panose="02000503000000020004" pitchFamily="2" charset="0"/>
              </a:rPr>
              <a:t>Diffusion &amp; Flow Models</a:t>
            </a:r>
            <a:endParaRPr kumimoji="1" lang="ko-KR" altLang="en-US" sz="1400" spc="-70" dirty="0">
              <a:solidFill>
                <a:schemeClr val="tx1">
                  <a:lumMod val="95000"/>
                  <a:lumOff val="5000"/>
                </a:schemeClr>
              </a:solidFill>
              <a:latin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D321DE3-6BA4-1343-8CC3-8A9CB74C1965}"/>
              </a:ext>
            </a:extLst>
          </p:cNvPr>
          <p:cNvSpPr/>
          <p:nvPr/>
        </p:nvSpPr>
        <p:spPr>
          <a:xfrm>
            <a:off x="334963" y="294833"/>
            <a:ext cx="811617" cy="811617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5000"/>
                  <a:alpha val="95051"/>
                </a:schemeClr>
              </a:gs>
              <a:gs pos="23000">
                <a:schemeClr val="accent5">
                  <a:lumMod val="40000"/>
                  <a:lumOff val="60000"/>
                </a:schemeClr>
              </a:gs>
              <a:gs pos="49000">
                <a:srgbClr val="76A6D2"/>
              </a:gs>
              <a:gs pos="76000">
                <a:schemeClr val="accent5">
                  <a:lumMod val="7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2800" b="1" dirty="0">
                <a:solidFill>
                  <a:schemeClr val="bg1">
                    <a:lumMod val="9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01</a:t>
            </a:r>
            <a:endParaRPr kumimoji="1" lang="ko-KR" altLang="en-US" sz="2800" b="1" dirty="0">
              <a:solidFill>
                <a:schemeClr val="bg1">
                  <a:lumMod val="95000"/>
                </a:schemeClr>
              </a:solidFill>
              <a:latin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26EDAB15-C1FA-C246-A081-04E2DF2AFDCD}"/>
              </a:ext>
            </a:extLst>
          </p:cNvPr>
          <p:cNvSpPr txBox="1">
            <a:spLocks/>
          </p:cNvSpPr>
          <p:nvPr/>
        </p:nvSpPr>
        <p:spPr>
          <a:xfrm>
            <a:off x="1146580" y="509396"/>
            <a:ext cx="6809513" cy="631869"/>
          </a:xfrm>
          <a:prstGeom prst="rect">
            <a:avLst/>
          </a:prstGeom>
        </p:spPr>
        <p:txBody>
          <a:bodyPr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en-US" sz="5000" b="1" spc="-15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Reference</a:t>
            </a:r>
            <a:endParaRPr kumimoji="1" lang="ko-Kore-KR" altLang="en-US" sz="5000" b="1" spc="-150" dirty="0">
              <a:latin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55F4CA-45CB-C345-B43A-79A1DB8186EC}"/>
              </a:ext>
            </a:extLst>
          </p:cNvPr>
          <p:cNvSpPr txBox="1"/>
          <p:nvPr/>
        </p:nvSpPr>
        <p:spPr>
          <a:xfrm>
            <a:off x="334963" y="1307939"/>
            <a:ext cx="11522074" cy="3956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en-US" altLang="ko-KR" spc="-7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[1] </a:t>
            </a:r>
            <a:endParaRPr kumimoji="1" lang="ko-KR" altLang="en-US" spc="-7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0F7E790-9AF8-2947-AF64-B5B82670F0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2718" y="181435"/>
            <a:ext cx="6472719" cy="685800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0F17DAEF-CB27-0D40-924B-7DD19709E85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46544"/>
          <a:stretch/>
        </p:blipFill>
        <p:spPr>
          <a:xfrm>
            <a:off x="-120167" y="3052147"/>
            <a:ext cx="4588016" cy="1379576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FC05B555-A1DF-4049-BF8A-C7835863965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073" r="13579" b="18349"/>
          <a:stretch/>
        </p:blipFill>
        <p:spPr>
          <a:xfrm>
            <a:off x="525042" y="2598352"/>
            <a:ext cx="3198668" cy="2183857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614918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F93F7093-B52E-0847-B99E-DEC1CFC4927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3176" b="18096"/>
          <a:stretch/>
        </p:blipFill>
        <p:spPr bwMode="auto">
          <a:xfrm>
            <a:off x="7429795" y="1084359"/>
            <a:ext cx="3810778" cy="2623515"/>
          </a:xfrm>
          <a:prstGeom prst="rect">
            <a:avLst/>
          </a:prstGeom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77B2F82-531A-EA41-941C-17071486B50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113837" y="814498"/>
            <a:ext cx="2743200" cy="365125"/>
          </a:xfrm>
        </p:spPr>
        <p:txBody>
          <a:bodyPr/>
          <a:lstStyle/>
          <a:p>
            <a:fld id="{683A3AC8-7E39-1245-98E2-08D56C5B5689}" type="slidenum">
              <a:rPr kumimoji="1" lang="ko-Kore-KR" altLang="en-US" smtClean="0"/>
              <a:t>15</a:t>
            </a:fld>
            <a:endParaRPr kumimoji="1" lang="ko-Kore-KR" altLang="en-US"/>
          </a:p>
        </p:txBody>
      </p:sp>
      <p:cxnSp>
        <p:nvCxnSpPr>
          <p:cNvPr id="4" name="직선 연결선[R] 3">
            <a:extLst>
              <a:ext uri="{FF2B5EF4-FFF2-40B4-BE49-F238E27FC236}">
                <a16:creationId xmlns:a16="http://schemas.microsoft.com/office/drawing/2014/main" id="{8ACD5E43-4406-0547-9F25-E5BAE9F992AF}"/>
              </a:ext>
            </a:extLst>
          </p:cNvPr>
          <p:cNvCxnSpPr>
            <a:cxnSpLocks/>
          </p:cNvCxnSpPr>
          <p:nvPr/>
        </p:nvCxnSpPr>
        <p:spPr>
          <a:xfrm>
            <a:off x="334963" y="1101344"/>
            <a:ext cx="11522075" cy="0"/>
          </a:xfrm>
          <a:prstGeom prst="line">
            <a:avLst/>
          </a:prstGeom>
          <a:ln w="19050">
            <a:gradFill flip="none" rotWithShape="1">
              <a:gsLst>
                <a:gs pos="0">
                  <a:schemeClr val="bg1"/>
                </a:gs>
                <a:gs pos="39000">
                  <a:srgbClr val="76D6FF"/>
                </a:gs>
                <a:gs pos="99000">
                  <a:schemeClr val="accent5">
                    <a:lumMod val="75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55829DB6-98BD-614C-82C4-EEC75995F310}"/>
              </a:ext>
            </a:extLst>
          </p:cNvPr>
          <p:cNvSpPr txBox="1"/>
          <p:nvPr/>
        </p:nvSpPr>
        <p:spPr>
          <a:xfrm>
            <a:off x="1146580" y="266600"/>
            <a:ext cx="6015582" cy="3282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en-US" altLang="ko-KR" sz="1400" spc="-70" dirty="0">
                <a:solidFill>
                  <a:schemeClr val="tx1">
                    <a:lumMod val="95000"/>
                    <a:lumOff val="5000"/>
                  </a:schemeClr>
                </a:solidFill>
                <a:latin typeface="Helvetica Neue Medium" panose="02000503000000020004" pitchFamily="2" charset="0"/>
                <a:cs typeface="Helvetica Neue Medium" panose="02000503000000020004" pitchFamily="2" charset="0"/>
              </a:rPr>
              <a:t>JANUS Design &amp; Architecture</a:t>
            </a:r>
            <a:endParaRPr kumimoji="1" lang="ko-KR" altLang="en-US" sz="1400" spc="-70" dirty="0">
              <a:solidFill>
                <a:schemeClr val="tx1">
                  <a:lumMod val="95000"/>
                  <a:lumOff val="5000"/>
                </a:schemeClr>
              </a:solidFill>
              <a:latin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D321DE3-6BA4-1343-8CC3-8A9CB74C1965}"/>
              </a:ext>
            </a:extLst>
          </p:cNvPr>
          <p:cNvSpPr/>
          <p:nvPr/>
        </p:nvSpPr>
        <p:spPr>
          <a:xfrm>
            <a:off x="334963" y="294833"/>
            <a:ext cx="811617" cy="811617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5000"/>
                  <a:alpha val="95051"/>
                </a:schemeClr>
              </a:gs>
              <a:gs pos="23000">
                <a:schemeClr val="accent5">
                  <a:lumMod val="40000"/>
                  <a:lumOff val="60000"/>
                </a:schemeClr>
              </a:gs>
              <a:gs pos="49000">
                <a:srgbClr val="76A6D2"/>
              </a:gs>
              <a:gs pos="76000">
                <a:schemeClr val="accent5">
                  <a:lumMod val="7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2800" b="1" dirty="0">
                <a:solidFill>
                  <a:schemeClr val="bg1">
                    <a:lumMod val="9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04</a:t>
            </a:r>
            <a:endParaRPr kumimoji="1" lang="ko-KR" altLang="en-US" sz="2800" b="1" dirty="0">
              <a:solidFill>
                <a:schemeClr val="bg1">
                  <a:lumMod val="95000"/>
                </a:schemeClr>
              </a:solidFill>
              <a:latin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26EDAB15-C1FA-C246-A081-04E2DF2AFDCD}"/>
              </a:ext>
            </a:extLst>
          </p:cNvPr>
          <p:cNvSpPr txBox="1">
            <a:spLocks/>
          </p:cNvSpPr>
          <p:nvPr/>
        </p:nvSpPr>
        <p:spPr>
          <a:xfrm>
            <a:off x="1146580" y="497673"/>
            <a:ext cx="9898840" cy="631869"/>
          </a:xfrm>
          <a:prstGeom prst="rect">
            <a:avLst/>
          </a:prstGeom>
        </p:spPr>
        <p:txBody>
          <a:bodyPr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en-US" sz="5000" b="1" spc="-15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Flow Matching </a:t>
            </a:r>
            <a:r>
              <a:rPr kumimoji="1" lang="en-US" altLang="ko-KR" sz="5000" b="1" spc="-15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&amp;</a:t>
            </a:r>
            <a:r>
              <a:rPr kumimoji="1" lang="ko-KR" altLang="en-US" sz="5000" b="1" spc="-15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kumimoji="1" lang="en-US" altLang="en-US" sz="5000" b="1" spc="-15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Generative AI</a:t>
            </a:r>
            <a:endParaRPr kumimoji="1" lang="ko-Kore-KR" altLang="en-US" sz="5000" b="1" spc="-150" dirty="0">
              <a:latin typeface="Helvetica Neue" panose="02000503000000020004" pitchFamily="2" charset="0"/>
              <a:cs typeface="Helvetica Neue" panose="02000503000000020004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7C6FE30-9831-514A-B6AB-CD3237766A51}"/>
                  </a:ext>
                </a:extLst>
              </p:cNvPr>
              <p:cNvSpPr txBox="1"/>
              <p:nvPr/>
            </p:nvSpPr>
            <p:spPr>
              <a:xfrm>
                <a:off x="334963" y="1542882"/>
                <a:ext cx="9898839" cy="3957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altLang="ko-KR" spc="-7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Objective of Generative AI is to model the data distribution (</a:t>
                </a:r>
                <a14:m>
                  <m:oMath xmlns:m="http://schemas.openxmlformats.org/officeDocument/2006/math">
                    <m:r>
                      <a:rPr lang="en-US" altLang="ko-KR" b="0" i="1" spc="-7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𝑞</m:t>
                    </m:r>
                  </m:oMath>
                </a14:m>
                <a:r>
                  <a:rPr lang="en-US" altLang="ko-KR" spc="-7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7C6FE30-9831-514A-B6AB-CD3237766A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963" y="1542882"/>
                <a:ext cx="9898839" cy="395749"/>
              </a:xfrm>
              <a:prstGeom prst="rect">
                <a:avLst/>
              </a:prstGeom>
              <a:blipFill>
                <a:blip r:embed="rId4"/>
                <a:stretch>
                  <a:fillRect l="-513" b="-2187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35149B4-3171-1C41-A843-F0AE17C794E8}"/>
                  </a:ext>
                </a:extLst>
              </p:cNvPr>
              <p:cNvSpPr txBox="1"/>
              <p:nvPr/>
            </p:nvSpPr>
            <p:spPr>
              <a:xfrm>
                <a:off x="2834462" y="-1868430"/>
                <a:ext cx="1103425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itchFamily="2" charset="2"/>
                  <a:buChar char="§"/>
                </a:pPr>
                <a:r>
                  <a:rPr lang="en" altLang="ko-K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Model ;earns to transport simple distribution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</m:oMath>
                </a14:m>
                <a:r>
                  <a:rPr lang="en" altLang="ko-K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to </a:t>
                </a:r>
                <a14:m>
                  <m:oMath xmlns:m="http://schemas.openxmlformats.org/officeDocument/2006/math">
                    <m:r>
                      <a:rPr lang="en-US" altLang="ko-KR" b="0" i="1" spc="-7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𝑞</m:t>
                    </m:r>
                  </m:oMath>
                </a14:m>
                <a:r>
                  <a:rPr lang="en" altLang="ko-K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35149B4-3171-1C41-A843-F0AE17C794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4462" y="-1868430"/>
                <a:ext cx="11034256" cy="369332"/>
              </a:xfrm>
              <a:prstGeom prst="rect">
                <a:avLst/>
              </a:prstGeom>
              <a:blipFill>
                <a:blip r:embed="rId5"/>
                <a:stretch>
                  <a:fillRect l="-345" t="-6667" b="-23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lbl1">
                <a:extLst>
                  <a:ext uri="{FF2B5EF4-FFF2-40B4-BE49-F238E27FC236}">
                    <a16:creationId xmlns:a16="http://schemas.microsoft.com/office/drawing/2014/main" id="{C925984F-B472-214A-A191-260B42DC20E9}"/>
                  </a:ext>
                </a:extLst>
              </p:cNvPr>
              <p:cNvSpPr txBox="1"/>
              <p:nvPr/>
            </p:nvSpPr>
            <p:spPr>
              <a:xfrm>
                <a:off x="997662" y="2311779"/>
                <a:ext cx="685106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b="0" dirty="0">
                    <a:latin typeface="Times New Roman" panose="02020603050405020304" pitchFamily="18" charset="0"/>
                  </a:rPr>
                  <a:t>learns a flow,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600" b="0" dirty="0">
                    <a:latin typeface="Times New Roman" panose="02020603050405020304" pitchFamily="18" charset="0"/>
                  </a:rPr>
                  <a:t>, that the pushforward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sz="1600" i="1" spc="-7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  <m:r>
                      <a:rPr lang="en-US" altLang="ko-KR" sz="1600" b="0" i="1" spc="-7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ko-KR" sz="1600" i="1" spc="-7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𝑞</m:t>
                    </m:r>
                  </m:oMath>
                </a14:m>
                <a:endParaRPr lang="en-US" sz="1600" b="0" dirty="0">
                  <a:solidFill>
                    <a:srgbClr val="404040"/>
                  </a:solidFill>
                  <a:latin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6" name="lbl1">
                <a:extLst>
                  <a:ext uri="{FF2B5EF4-FFF2-40B4-BE49-F238E27FC236}">
                    <a16:creationId xmlns:a16="http://schemas.microsoft.com/office/drawing/2014/main" id="{C925984F-B472-214A-A191-260B42DC20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7662" y="2311779"/>
                <a:ext cx="6851066" cy="338554"/>
              </a:xfrm>
              <a:prstGeom prst="rect">
                <a:avLst/>
              </a:prstGeom>
              <a:blipFill>
                <a:blip r:embed="rId6"/>
                <a:stretch>
                  <a:fillRect l="-555" t="-3571" b="-214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f1">
                <a:extLst>
                  <a:ext uri="{FF2B5EF4-FFF2-40B4-BE49-F238E27FC236}">
                    <a16:creationId xmlns:a16="http://schemas.microsoft.com/office/drawing/2014/main" id="{F28B3094-5C0C-1F41-95F6-E04DD0BBFE14}"/>
                  </a:ext>
                </a:extLst>
              </p:cNvPr>
              <p:cNvSpPr txBox="1"/>
              <p:nvPr/>
            </p:nvSpPr>
            <p:spPr>
              <a:xfrm>
                <a:off x="-4290414" y="3987419"/>
                <a:ext cx="1192186" cy="2954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sz="1600" b="0" i="1" spc="-70" smtClean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kumimoji="1" lang="en-US" sz="1600" b="0" i="1" spc="-70" smtClean="0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1" lang="en-US" sz="1600" b="0" i="1" spc="-70" smtClean="0">
                                      <a:solidFill>
                                        <a:srgbClr val="1A1A1A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sz="1600" b="0" i="1" spc="-70" smtClean="0">
                                      <a:solidFill>
                                        <a:srgbClr val="1A1A1A"/>
                                      </a:solidFill>
                                      <a:latin typeface="Cambria Math" panose="02040503050406030204" pitchFamily="18" charset="0"/>
                                    </a:rPr>
                                    <m:t>𝜓</m:t>
                                  </m:r>
                                </m:e>
                                <m:sub>
                                  <m:r>
                                    <a:rPr kumimoji="1" lang="en-US" sz="1600" b="0" i="1" spc="-70" smtClean="0">
                                      <a:solidFill>
                                        <a:srgbClr val="1A1A1A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r>
                            <a:rPr kumimoji="1" lang="en-US" sz="1600" b="0" i="1" spc="-70" smtClean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#</m:t>
                          </m:r>
                        </m:sub>
                      </m:sSub>
                      <m:r>
                        <a:rPr kumimoji="1" lang="en-US" sz="1600" b="0" i="1" spc="-70" smtClean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kumimoji="1" lang="en-US" sz="1600" b="0" i="1" spc="-70" smtClean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sz="1600" b="0" i="1" spc="-70" smtClean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kumimoji="1" lang="en-US" sz="1600" b="0" i="1" spc="-70" smtClean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kumimoji="1" lang="en-US" sz="1600" b="0" i="1" spc="-70" smtClean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kumimoji="1" lang="en-US" sz="1600" b="0" i="1" spc="-70" smtClean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27" name="f1">
                <a:extLst>
                  <a:ext uri="{FF2B5EF4-FFF2-40B4-BE49-F238E27FC236}">
                    <a16:creationId xmlns:a16="http://schemas.microsoft.com/office/drawing/2014/main" id="{F28B3094-5C0C-1F41-95F6-E04DD0BBFE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290414" y="3987419"/>
                <a:ext cx="1192186" cy="295466"/>
              </a:xfrm>
              <a:prstGeom prst="rect">
                <a:avLst/>
              </a:prstGeom>
              <a:blipFill>
                <a:blip r:embed="rId7"/>
                <a:stretch>
                  <a:fillRect l="-1053" b="-2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lbl2">
            <a:extLst>
              <a:ext uri="{FF2B5EF4-FFF2-40B4-BE49-F238E27FC236}">
                <a16:creationId xmlns:a16="http://schemas.microsoft.com/office/drawing/2014/main" id="{62C073B8-3F82-0E49-B52A-2670E099547E}"/>
              </a:ext>
            </a:extLst>
          </p:cNvPr>
          <p:cNvSpPr txBox="1"/>
          <p:nvPr/>
        </p:nvSpPr>
        <p:spPr>
          <a:xfrm>
            <a:off x="12074758" y="7115958"/>
            <a:ext cx="51035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0" i="1" dirty="0">
                <a:solidFill>
                  <a:srgbClr val="404040"/>
                </a:solidFill>
                <a:latin typeface="Times New Roman" panose="02020603050405020304" pitchFamily="18" charset="0"/>
              </a:rPr>
              <a:t>the velocity field uₜ drives the flow ψₜ: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f2">
                <a:extLst>
                  <a:ext uri="{FF2B5EF4-FFF2-40B4-BE49-F238E27FC236}">
                    <a16:creationId xmlns:a16="http://schemas.microsoft.com/office/drawing/2014/main" id="{ABA53ADA-E9AC-FC4D-996A-7FB1C8C0E66A}"/>
                  </a:ext>
                </a:extLst>
              </p:cNvPr>
              <p:cNvSpPr txBox="1"/>
              <p:nvPr/>
            </p:nvSpPr>
            <p:spPr>
              <a:xfrm>
                <a:off x="1196429" y="2735747"/>
                <a:ext cx="3169073" cy="5609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en-US" sz="1600" b="0" i="1" spc="-70" smtClean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sz="1600" b="0" i="1" spc="-70" smtClean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kumimoji="1" lang="en-US" sz="1600" b="0" i="1" spc="-70" smtClean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sSub>
                        <m:sSubPr>
                          <m:ctrlPr>
                            <a:rPr kumimoji="1" lang="en-US" sz="1600" b="0" i="1" spc="-70" smtClean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sz="1600" b="0" i="1" spc="-70" smtClean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kumimoji="1" lang="en-US" sz="1600" b="0" i="1" spc="-70" smtClean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d>
                        <m:dPr>
                          <m:ctrlPr>
                            <a:rPr kumimoji="1" lang="en-US" sz="1600" b="0" i="1" spc="-70" smtClean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sz="1600" b="0" i="1" spc="-70" smtClean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kumimoji="1" lang="en-US" sz="1600" b="0" i="1" spc="-70" smtClean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sSub>
                        <m:sSubPr>
                          <m:ctrlPr>
                            <a:rPr kumimoji="1" lang="en-US" sz="1600" b="0" i="1" spc="-70" smtClean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sz="1600" b="0" i="1" spc="-70" smtClean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kumimoji="1" lang="en-US" sz="1600" b="0" i="1" spc="-70" smtClean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d>
                        <m:dPr>
                          <m:ctrlPr>
                            <a:rPr kumimoji="1" lang="en-US" sz="1600" b="0" i="1" spc="-70" smtClean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sz="1600" b="0" i="1" spc="-70" smtClean="0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sz="1600" b="0" i="1" spc="-70" smtClean="0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kumimoji="1" lang="en-US" sz="1600" b="0" i="1" spc="-70" smtClean="0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d>
                            <m:dPr>
                              <m:ctrlPr>
                                <a:rPr kumimoji="1" lang="en-US" sz="1600" b="0" i="1" spc="-70" smtClean="0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sz="1600" b="0" i="1" spc="-70" smtClean="0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kumimoji="1" lang="en-US" sz="1600" b="0" i="1" spc="-70" smtClean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, </m:t>
                      </m:r>
                      <m:sSub>
                        <m:sSubPr>
                          <m:ctrlPr>
                            <a:rPr kumimoji="1" lang="en-US" sz="1600" b="0" i="1" spc="-70" smtClean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sz="1600" b="0" i="1" spc="-70" smtClean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kumimoji="1" lang="en-US" sz="1600" b="0" i="1" spc="-70" smtClean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kumimoji="1" lang="en-US" sz="1600" b="0" i="1" spc="-70" smtClean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sz="1600" b="0" i="1" spc="-70" smtClean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kumimoji="1" lang="en-US" sz="1600" b="0" i="1" spc="-70" smtClean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kumimoji="1" lang="en-US" sz="1600" b="0" i="1" spc="-70" smtClean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sz="2000" dirty="0"/>
              </a:p>
            </p:txBody>
          </p:sp>
        </mc:Choice>
        <mc:Fallback xmlns="">
          <p:sp>
            <p:nvSpPr>
              <p:cNvPr id="29" name="f2">
                <a:extLst>
                  <a:ext uri="{FF2B5EF4-FFF2-40B4-BE49-F238E27FC236}">
                    <a16:creationId xmlns:a16="http://schemas.microsoft.com/office/drawing/2014/main" id="{ABA53ADA-E9AC-FC4D-996A-7FB1C8C0E6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6429" y="2735747"/>
                <a:ext cx="3169073" cy="560987"/>
              </a:xfrm>
              <a:prstGeom prst="rect">
                <a:avLst/>
              </a:prstGeom>
              <a:blipFill>
                <a:blip r:embed="rId8"/>
                <a:stretch>
                  <a:fillRect l="-2400" b="-888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lbl4">
            <a:extLst>
              <a:ext uri="{FF2B5EF4-FFF2-40B4-BE49-F238E27FC236}">
                <a16:creationId xmlns:a16="http://schemas.microsoft.com/office/drawing/2014/main" id="{EADD69E5-1771-2646-A708-A480B248B628}"/>
              </a:ext>
            </a:extLst>
          </p:cNvPr>
          <p:cNvSpPr txBox="1"/>
          <p:nvPr/>
        </p:nvSpPr>
        <p:spPr>
          <a:xfrm>
            <a:off x="12103555" y="8469218"/>
            <a:ext cx="56424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0" i="1" dirty="0">
                <a:solidFill>
                  <a:srgbClr val="404040"/>
                </a:solidFill>
                <a:latin typeface="Times New Roman" panose="02020603050405020304" pitchFamily="18" charset="0"/>
              </a:rPr>
              <a:t>pushforward gives exact log-likelihood:</a:t>
            </a:r>
          </a:p>
        </p:txBody>
      </p:sp>
      <p:sp>
        <p:nvSpPr>
          <p:cNvPr id="34" name="lbl5">
            <a:extLst>
              <a:ext uri="{FF2B5EF4-FFF2-40B4-BE49-F238E27FC236}">
                <a16:creationId xmlns:a16="http://schemas.microsoft.com/office/drawing/2014/main" id="{B8ECDF84-BE64-8346-888F-3D829B4D9CA7}"/>
              </a:ext>
            </a:extLst>
          </p:cNvPr>
          <p:cNvSpPr txBox="1"/>
          <p:nvPr/>
        </p:nvSpPr>
        <p:spPr>
          <a:xfrm>
            <a:off x="12065657" y="7596301"/>
            <a:ext cx="51035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>
                <a:solidFill>
                  <a:srgbClr val="404040"/>
                </a:solidFill>
                <a:latin typeface="Times New Roman" panose="02020603050405020304" pitchFamily="18" charset="0"/>
              </a:rPr>
              <a:t>Training objective becomes find the vector field that satisfy</a:t>
            </a:r>
            <a:endParaRPr lang="en-US" sz="1400" b="0" i="1" dirty="0">
              <a:solidFill>
                <a:srgbClr val="404040"/>
              </a:solidFill>
              <a:latin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f5">
                <a:extLst>
                  <a:ext uri="{FF2B5EF4-FFF2-40B4-BE49-F238E27FC236}">
                    <a16:creationId xmlns:a16="http://schemas.microsoft.com/office/drawing/2014/main" id="{4DCE5A5B-4C89-FE44-BF9D-F63096152925}"/>
                  </a:ext>
                </a:extLst>
              </p:cNvPr>
              <p:cNvSpPr txBox="1"/>
              <p:nvPr/>
            </p:nvSpPr>
            <p:spPr>
              <a:xfrm>
                <a:off x="5973728" y="6768230"/>
                <a:ext cx="3750000" cy="31000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sz="1400" b="0" i="1" spc="-70" smtClean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en-US" sz="1400" b="0" i="1" spc="-70" smtClean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kumimoji="1" lang="en-US" sz="1400" b="0" i="1" spc="-70" smtClean="0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kumimoji="1" lang="en-US" sz="1400" b="0" i="1" spc="-70" smtClean="0">
                                      <a:solidFill>
                                        <a:srgbClr val="1A1A1A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kumimoji="1" lang="en-US" sz="1400" b="0" i="1" spc="-70" smtClean="0">
                                          <a:solidFill>
                                            <a:srgbClr val="1A1A1A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sz="1400" b="0" i="1" spc="-70" smtClean="0">
                                          <a:solidFill>
                                            <a:srgbClr val="1A1A1A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kumimoji="1" lang="en-US" sz="1400" b="0" i="1" spc="-70" smtClean="0">
                                          <a:solidFill>
                                            <a:srgbClr val="1A1A1A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kumimoji="1" lang="en-US" sz="1400" b="0" i="1" spc="-70" smtClean="0">
                                          <a:solidFill>
                                            <a:srgbClr val="1A1A1A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kumimoji="1" lang="en-US" sz="1400" b="0" i="1" spc="-70" smtClean="0">
                                              <a:solidFill>
                                                <a:srgbClr val="1A1A1A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1" lang="en-US" sz="1400" b="0" i="1" spc="-70" smtClean="0">
                                              <a:solidFill>
                                                <a:srgbClr val="1A1A1A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kumimoji="1" lang="en-US" sz="1400" b="0" i="1" spc="-70" smtClean="0">
                                              <a:solidFill>
                                                <a:srgbClr val="1A1A1A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  <m:r>
                                        <a:rPr kumimoji="1" lang="en-US" sz="1400" b="0" i="1" spc="-70" smtClean="0">
                                          <a:solidFill>
                                            <a:srgbClr val="1A1A1A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 </m:t>
                                      </m:r>
                                      <m:r>
                                        <a:rPr kumimoji="1" lang="en-US" sz="1400" b="0" i="1" spc="-70" smtClean="0">
                                          <a:solidFill>
                                            <a:srgbClr val="1A1A1A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  <m:r>
                                    <a:rPr kumimoji="1" lang="en-US" sz="1400" b="0" i="1" spc="-70" smtClean="0">
                                      <a:solidFill>
                                        <a:srgbClr val="1A1A1A"/>
                                      </a:solidFill>
                                      <a:latin typeface="Cambria Math" panose="02040503050406030204" pitchFamily="18" charset="0"/>
                                    </a:rPr>
                                    <m:t> − </m:t>
                                  </m:r>
                                  <m:sSub>
                                    <m:sSubPr>
                                      <m:ctrlPr>
                                        <a:rPr kumimoji="1" lang="en-US" sz="1400" b="0" i="1" spc="-70" smtClean="0">
                                          <a:solidFill>
                                            <a:srgbClr val="1A1A1A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sz="1400" b="0" i="1" spc="-70" smtClean="0">
                                          <a:solidFill>
                                            <a:srgbClr val="1A1A1A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kumimoji="1" lang="en-US" sz="1400" b="0" i="1" spc="-70" smtClean="0">
                                          <a:solidFill>
                                            <a:srgbClr val="1A1A1A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kumimoji="1" lang="en-US" sz="1400" b="0" i="1" spc="-70" smtClean="0">
                                          <a:solidFill>
                                            <a:srgbClr val="1A1A1A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kumimoji="1" lang="en-US" sz="1400" b="0" i="1" spc="-70" smtClean="0">
                                              <a:solidFill>
                                                <a:srgbClr val="1A1A1A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1" lang="en-US" sz="1400" b="0" i="1" spc="-70" smtClean="0">
                                              <a:solidFill>
                                                <a:srgbClr val="1A1A1A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kumimoji="1" lang="en-US" sz="1400" b="0" i="1" spc="-70" smtClean="0">
                                              <a:solidFill>
                                                <a:srgbClr val="1A1A1A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kumimoji="1" lang="en-US" sz="1400" b="0" i="1" spc="-70" smtClean="0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35" name="f5">
                <a:extLst>
                  <a:ext uri="{FF2B5EF4-FFF2-40B4-BE49-F238E27FC236}">
                    <a16:creationId xmlns:a16="http://schemas.microsoft.com/office/drawing/2014/main" id="{4DCE5A5B-4C89-FE44-BF9D-F630961529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3728" y="6768230"/>
                <a:ext cx="3750000" cy="310000"/>
              </a:xfrm>
              <a:prstGeom prst="rect">
                <a:avLst/>
              </a:prstGeom>
              <a:blipFill>
                <a:blip r:embed="rId9"/>
                <a:stretch>
                  <a:fillRect l="-1689" b="-384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TextBox 38">
            <a:extLst>
              <a:ext uri="{FF2B5EF4-FFF2-40B4-BE49-F238E27FC236}">
                <a16:creationId xmlns:a16="http://schemas.microsoft.com/office/drawing/2014/main" id="{D7E44FE3-C9E9-D84A-BD59-3AF337ED0D14}"/>
              </a:ext>
            </a:extLst>
          </p:cNvPr>
          <p:cNvSpPr txBox="1"/>
          <p:nvPr/>
        </p:nvSpPr>
        <p:spPr>
          <a:xfrm>
            <a:off x="334963" y="1166987"/>
            <a:ext cx="9898839" cy="395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pc="-7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general, Generative AI is model that can generate data ; such as image or video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2B491EF0-0112-294E-B4B8-540AF1A59F43}"/>
                  </a:ext>
                </a:extLst>
              </p:cNvPr>
              <p:cNvSpPr txBox="1"/>
              <p:nvPr/>
            </p:nvSpPr>
            <p:spPr>
              <a:xfrm>
                <a:off x="317270" y="8010951"/>
                <a:ext cx="1103425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itchFamily="2" charset="2"/>
                  <a:buChar char="§"/>
                </a:pPr>
                <a:r>
                  <a:rPr lang="en" altLang="ko-K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Start from a simple source distribution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</m:oMath>
                </a14:m>
                <a:r>
                  <a:rPr lang="en" altLang="ko-K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learn a transformation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</m:oMath>
                </a14:m>
                <a:r>
                  <a:rPr lang="en" altLang="ko-K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→ </a:t>
                </a:r>
                <a14:m>
                  <m:oMath xmlns:m="http://schemas.openxmlformats.org/officeDocument/2006/math">
                    <m:r>
                      <a:rPr lang="en-US" altLang="ko-KR" b="0" i="1" spc="-7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𝑞</m:t>
                    </m:r>
                  </m:oMath>
                </a14:m>
                <a:r>
                  <a:rPr lang="en" altLang="ko-K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: defined as a </a:t>
                </a:r>
                <a:r>
                  <a:rPr lang="en" altLang="ko-KR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time-dependent path</a:t>
                </a:r>
                <a:r>
                  <a:rPr lang="en" altLang="ko-K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" altLang="ko-KR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2B491EF0-0112-294E-B4B8-540AF1A59F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270" y="8010951"/>
                <a:ext cx="11034256" cy="369332"/>
              </a:xfrm>
              <a:prstGeom prst="rect">
                <a:avLst/>
              </a:prstGeom>
              <a:blipFill>
                <a:blip r:embed="rId12"/>
                <a:stretch>
                  <a:fillRect l="-230" t="-6667" b="-23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TextBox 40">
            <a:extLst>
              <a:ext uri="{FF2B5EF4-FFF2-40B4-BE49-F238E27FC236}">
                <a16:creationId xmlns:a16="http://schemas.microsoft.com/office/drawing/2014/main" id="{9C0004FD-2521-B545-B199-E90F682C3AB0}"/>
              </a:ext>
            </a:extLst>
          </p:cNvPr>
          <p:cNvSpPr txBox="1"/>
          <p:nvPr/>
        </p:nvSpPr>
        <p:spPr>
          <a:xfrm>
            <a:off x="2843129" y="-1454708"/>
            <a:ext cx="11034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§"/>
            </a:pP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 </a:t>
            </a:r>
            <a:r>
              <a:rPr lang="en-US" altLang="ko-K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Mathing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to using flow defined by vector field</a:t>
            </a:r>
            <a:endParaRPr lang="en" altLang="ko-K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FFED6DC7-5E37-3E45-B5FC-3B9A3C230869}"/>
                  </a:ext>
                </a:extLst>
              </p:cNvPr>
              <p:cNvSpPr txBox="1"/>
              <p:nvPr/>
            </p:nvSpPr>
            <p:spPr>
              <a:xfrm>
                <a:off x="-4031777" y="5441815"/>
                <a:ext cx="2643288" cy="2954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600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600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𝑝</m:t>
                          </m:r>
                        </m:e>
                        <m:sub>
                          <m:r>
                            <a:rPr kumimoji="1" lang="en-US" altLang="ko-KR" sz="1600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</m:sSub>
                      <m:d>
                        <m:dPr>
                          <m:endChr m:val="|"/>
                          <m:ctrlPr>
                            <a:rPr kumimoji="1" lang="en-US" altLang="ko-KR" sz="1600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kumimoji="1" lang="en-US" altLang="ko-KR" sz="1600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kumimoji="1" lang="en-US" altLang="ko-KR" sz="1600" b="0" i="1" spc="-70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1600" b="0" i="1" spc="-70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en-US" altLang="ko-KR" sz="1600" b="0" i="1" spc="-70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kumimoji="1" lang="en-US" altLang="ko-KR" sz="1600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e>
                      </m:d>
                      <m:sSub>
                        <m:sSubPr>
                          <m:ctrlPr>
                            <a:rPr kumimoji="1" lang="en-US" altLang="ko-KR" sz="1600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600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ko-KR" sz="1600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ko-KR" sz="1600" b="0" i="1" spc="-7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)=</m:t>
                      </m:r>
                      <m:r>
                        <a:rPr kumimoji="1" lang="en-US" altLang="ko-KR" sz="1600" b="0" i="1" spc="-7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𝑁</m:t>
                      </m:r>
                      <m:r>
                        <a:rPr kumimoji="1" lang="en-US" altLang="ko-KR" sz="1600" b="0" i="1" spc="-7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 </m:t>
                      </m:r>
                      <m:r>
                        <a:rPr kumimoji="1" lang="en-US" altLang="ko-KR" sz="1600" b="0" i="1" spc="-7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𝑡</m:t>
                      </m:r>
                      <m:sSub>
                        <m:sSubPr>
                          <m:ctrlPr>
                            <a:rPr kumimoji="1" lang="en-US" altLang="ko-KR" sz="1600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600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ko-KR" sz="1600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ko-KR" sz="1600" b="0" i="1" spc="-7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, </m:t>
                      </m:r>
                      <m:sSup>
                        <m:sSupPr>
                          <m:ctrlPr>
                            <a:rPr kumimoji="1" lang="en-US" altLang="ko-KR" sz="1600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1" lang="en-US" altLang="ko-KR" sz="1600" b="0" i="1" spc="-70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ko-KR" sz="1600" b="0" i="1" spc="-70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1−</m:t>
                              </m:r>
                              <m:r>
                                <a:rPr kumimoji="1" lang="en-US" altLang="ko-KR" sz="1600" b="0" i="1" spc="-70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  <m:sup>
                          <m:r>
                            <a:rPr kumimoji="1" lang="en-US" altLang="ko-KR" sz="1600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kumimoji="1" lang="en-US" altLang="ko-KR" sz="1600" b="0" i="1" spc="-7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𝐼</m:t>
                      </m:r>
                      <m:r>
                        <a:rPr kumimoji="1" lang="en-US" altLang="ko-KR" sz="1600" b="0" i="1" spc="-7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)</m:t>
                      </m:r>
                    </m:oMath>
                  </m:oMathPara>
                </a14:m>
                <a:endParaRPr kumimoji="1" lang="ko-KR" altLang="en-US" sz="1600" spc="-7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FFED6DC7-5E37-3E45-B5FC-3B9A3C2308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031777" y="5441815"/>
                <a:ext cx="2643288" cy="295466"/>
              </a:xfrm>
              <a:prstGeom prst="rect">
                <a:avLst/>
              </a:prstGeom>
              <a:blipFill>
                <a:blip r:embed="rId13"/>
                <a:stretch>
                  <a:fillRect l="-1435" r="-2392" b="-25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31285691-2EAE-6B45-AFF4-BA9E95D25825}"/>
                  </a:ext>
                </a:extLst>
              </p:cNvPr>
              <p:cNvSpPr txBox="1"/>
              <p:nvPr/>
            </p:nvSpPr>
            <p:spPr>
              <a:xfrm>
                <a:off x="-4511667" y="5103959"/>
                <a:ext cx="3582263" cy="2954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600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600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ko-KR" sz="1600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</m:sSub>
                      <m:r>
                        <a:rPr kumimoji="1" lang="en-US" altLang="ko-KR" sz="1600" b="0" i="1" spc="-7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kumimoji="1" lang="en-US" altLang="ko-KR" sz="1600" b="0" i="1" spc="-7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𝑡</m:t>
                      </m:r>
                      <m:sSub>
                        <m:sSubPr>
                          <m:ctrlPr>
                            <a:rPr kumimoji="1" lang="en-US" altLang="ko-KR" sz="1600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600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ko-KR" sz="1600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ko-KR" sz="1600" b="0" i="1" spc="-7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d>
                        <m:dPr>
                          <m:ctrlPr>
                            <a:rPr kumimoji="1" lang="en-US" altLang="ko-KR" sz="1600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kumimoji="1" lang="en-US" altLang="ko-KR" sz="1600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1−</m:t>
                          </m:r>
                          <m:r>
                            <a:rPr kumimoji="1" lang="en-US" altLang="ko-KR" sz="1600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</m:d>
                      <m:sSub>
                        <m:sSubPr>
                          <m:ctrlPr>
                            <a:rPr kumimoji="1" lang="en-US" altLang="ko-KR" sz="1600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600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ko-KR" sz="1600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kumimoji="1" lang="en-US" altLang="ko-KR" sz="1600" b="0" i="1" spc="-7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~ </m:t>
                      </m:r>
                      <m:r>
                        <a:rPr kumimoji="1" lang="en-US" altLang="ko-KR" sz="1600" b="0" i="1" spc="-7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𝑡</m:t>
                      </m:r>
                      <m:sSub>
                        <m:sSubPr>
                          <m:ctrlPr>
                            <a:rPr kumimoji="1" lang="en-US" altLang="ko-KR" sz="1600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600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ko-KR" sz="1600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ko-KR" sz="1600" b="0" i="1" spc="-7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d>
                        <m:dPr>
                          <m:ctrlPr>
                            <a:rPr kumimoji="1" lang="en-US" altLang="ko-KR" sz="1600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kumimoji="1" lang="en-US" altLang="ko-KR" sz="1600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1−</m:t>
                          </m:r>
                          <m:r>
                            <a:rPr kumimoji="1" lang="en-US" altLang="ko-KR" sz="1600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</m:d>
                      <m:r>
                        <a:rPr kumimoji="1" lang="en-US" altLang="ko-KR" sz="1600" b="0" i="1" spc="-7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𝑁</m:t>
                      </m:r>
                      <m:r>
                        <a:rPr kumimoji="1" lang="en-US" altLang="ko-KR" sz="1600" b="0" i="1" spc="-7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(0, </m:t>
                      </m:r>
                      <m:r>
                        <a:rPr kumimoji="1" lang="en-US" altLang="ko-KR" sz="1600" b="0" i="1" spc="-7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𝐼</m:t>
                      </m:r>
                      <m:r>
                        <a:rPr kumimoji="1" lang="en-US" altLang="ko-KR" sz="1600" b="0" i="1" spc="-7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kumimoji="1" lang="ko-KR" altLang="en-US" sz="1600" spc="-7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31285691-2EAE-6B45-AFF4-BA9E95D258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511667" y="5103959"/>
                <a:ext cx="3582263" cy="295466"/>
              </a:xfrm>
              <a:prstGeom prst="rect">
                <a:avLst/>
              </a:prstGeom>
              <a:blipFill>
                <a:blip r:embed="rId14"/>
                <a:stretch>
                  <a:fillRect l="-352" r="-1408" b="-2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3C89CA81-96D3-B54D-9B3A-D7ECC2B4B68C}"/>
                  </a:ext>
                </a:extLst>
              </p:cNvPr>
              <p:cNvSpPr txBox="1"/>
              <p:nvPr/>
            </p:nvSpPr>
            <p:spPr>
              <a:xfrm>
                <a:off x="-4003964" y="4397956"/>
                <a:ext cx="2091983" cy="2954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kumimoji="1" lang="en-US" altLang="ko-KR" sz="1600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kumimoji="1" lang="en-US" altLang="ko-KR" sz="1600" b="0" i="1" spc="-70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1600" b="0" i="1" spc="-70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en-US" altLang="ko-KR" sz="1600" b="0" i="1" spc="-70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acc>
                      <m:r>
                        <a:rPr kumimoji="1" lang="en-US" altLang="ko-KR" sz="1600" b="0" i="1" spc="-7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ko-KR" sz="1600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600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ko-KR" sz="1600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ko-KR" sz="1600" b="0" i="1" spc="-7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kumimoji="1" lang="en-US" altLang="ko-KR" sz="1600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600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ko-KR" sz="1600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kumimoji="1" lang="en-US" altLang="ko-KR" sz="1600" b="0" i="1" spc="-7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ko-KR" sz="1600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600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𝑢</m:t>
                          </m:r>
                        </m:e>
                        <m:sub>
                          <m:r>
                            <a:rPr kumimoji="1" lang="en-US" altLang="ko-KR" sz="1600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</m:sSub>
                      <m:d>
                        <m:dPr>
                          <m:endChr m:val="|"/>
                          <m:ctrlPr>
                            <a:rPr kumimoji="1" lang="en-US" altLang="ko-KR" sz="1600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ko-KR" sz="1600" b="0" i="1" spc="-70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1600" b="0" i="1" spc="-70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en-US" altLang="ko-KR" sz="1600" b="0" i="1" spc="-70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kumimoji="1" lang="en-US" altLang="ko-KR" sz="1600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600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ko-KR" sz="1600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ko-KR" sz="1600" b="0" i="1" spc="-7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kumimoji="1" lang="ko-KR" altLang="en-US" sz="1600" spc="-7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3C89CA81-96D3-B54D-9B3A-D7ECC2B4B6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003964" y="4397956"/>
                <a:ext cx="2091983" cy="295466"/>
              </a:xfrm>
              <a:prstGeom prst="rect">
                <a:avLst/>
              </a:prstGeom>
              <a:blipFill>
                <a:blip r:embed="rId15"/>
                <a:stretch>
                  <a:fillRect l="-1205" r="-3012" b="-208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TextBox 36">
            <a:extLst>
              <a:ext uri="{FF2B5EF4-FFF2-40B4-BE49-F238E27FC236}">
                <a16:creationId xmlns:a16="http://schemas.microsoft.com/office/drawing/2014/main" id="{17AFE9C3-9254-8C46-BA31-40376265F93D}"/>
              </a:ext>
            </a:extLst>
          </p:cNvPr>
          <p:cNvSpPr txBox="1"/>
          <p:nvPr/>
        </p:nvSpPr>
        <p:spPr>
          <a:xfrm>
            <a:off x="317270" y="1968264"/>
            <a:ext cx="9898839" cy="395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b="1" spc="-7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Flow Matching </a:t>
            </a:r>
            <a:r>
              <a:rPr lang="en-US" altLang="ko-KR" sz="1600" spc="-7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subset of Generative AI</a:t>
            </a:r>
            <a:endParaRPr lang="en-US" altLang="ko-KR" spc="-7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4" name="그림 53">
            <a:extLst>
              <a:ext uri="{FF2B5EF4-FFF2-40B4-BE49-F238E27FC236}">
                <a16:creationId xmlns:a16="http://schemas.microsoft.com/office/drawing/2014/main" id="{15E13B61-3BA5-4141-92DD-03E543DE2032}"/>
              </a:ext>
            </a:extLst>
          </p:cNvPr>
          <p:cNvPicPr>
            <a:picLocks noChangeAspect="1"/>
          </p:cNvPicPr>
          <p:nvPr/>
        </p:nvPicPr>
        <p:blipFill rotWithShape="1"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948" b="17801"/>
          <a:stretch/>
        </p:blipFill>
        <p:spPr bwMode="auto">
          <a:xfrm>
            <a:off x="7648334" y="3706330"/>
            <a:ext cx="3424040" cy="2623515"/>
          </a:xfrm>
          <a:prstGeom prst="rect">
            <a:avLst/>
          </a:prstGeom>
          <a:ln w="28575"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BEFC585-865F-D44D-838F-E7B10297817C}"/>
                  </a:ext>
                </a:extLst>
              </p:cNvPr>
              <p:cNvSpPr txBox="1"/>
              <p:nvPr/>
            </p:nvSpPr>
            <p:spPr>
              <a:xfrm>
                <a:off x="1173838" y="3440833"/>
                <a:ext cx="3141116" cy="36170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600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600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ℒ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ko-KR" sz="1600" b="0" i="0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fm</m:t>
                          </m:r>
                        </m:sub>
                      </m:sSub>
                      <m:r>
                        <a:rPr kumimoji="1" lang="en-US" altLang="ko-KR" sz="1600" b="0" i="1" spc="-7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ko-KR" sz="1600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600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𝔼</m:t>
                          </m:r>
                        </m:e>
                        <m:sub>
                          <m:sSub>
                            <m:sSubPr>
                              <m:ctrlPr>
                                <a:rPr kumimoji="1" lang="en-US" altLang="ko-KR" sz="1600" b="0" i="1" spc="-70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1600" b="0" i="1" spc="-70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en-US" altLang="ko-KR" sz="1600" b="0" i="1" spc="-70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kumimoji="1" lang="en-US" altLang="ko-KR" sz="1600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   </m:t>
                          </m:r>
                          <m:r>
                            <a:rPr kumimoji="1" lang="en-US" altLang="ko-KR" sz="1600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kumimoji="1" lang="en-US" altLang="ko-KR" sz="1600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kumimoji="1" lang="en-US" altLang="ko-KR" sz="1600" b="0" i="1" spc="-70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ko-KR" sz="1600" b="0" i="1" spc="-70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kumimoji="1" lang="en-US" altLang="ko-KR" sz="1600" b="0" i="1" spc="-70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kumimoji="1" lang="en-US" altLang="ko-KR" sz="1600" b="0" i="1" spc="-70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𝑚𝑜𝑑𝑒𝑙</m:t>
                              </m:r>
                            </m:sup>
                          </m:sSubSup>
                          <m:r>
                            <a:rPr kumimoji="1" lang="en-US" altLang="ko-KR" sz="1600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kumimoji="1" lang="en-US" altLang="ko-KR" sz="1600" b="0" i="1" spc="-70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1600" b="0" i="1" spc="-70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en-US" altLang="ko-KR" sz="1600" b="0" i="1" spc="-70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kumimoji="1" lang="en-US" altLang="ko-KR" sz="1600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)−</m:t>
                          </m:r>
                          <m:sSubSup>
                            <m:sSubSupPr>
                              <m:ctrlPr>
                                <a:rPr kumimoji="1" lang="en-US" altLang="ko-KR" sz="1600" b="0" i="1" spc="-70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ko-KR" sz="1600" b="0" i="1" spc="-70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kumimoji="1" lang="en-US" altLang="ko-KR" sz="1600" b="0" i="1" spc="-70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kumimoji="1" lang="en-US" altLang="ko-KR" sz="1600" b="0" i="1" spc="-70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𝑡𝑟𝑎𝑔𝑒𝑡</m:t>
                              </m:r>
                            </m:sup>
                          </m:sSubSup>
                          <m:r>
                            <a:rPr kumimoji="1" lang="en-US" altLang="ko-KR" sz="1600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kumimoji="1" lang="en-US" altLang="ko-KR" sz="1600" b="0" i="1" spc="-70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1600" b="0" i="1" spc="-70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en-US" altLang="ko-KR" sz="1600" b="0" i="1" spc="-70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kumimoji="1" lang="en-US" altLang="ko-KR" sz="1600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kumimoji="1" lang="ko-KR" altLang="en-US" sz="1600" spc="-7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BEFC585-865F-D44D-838F-E7B1029781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3838" y="3440833"/>
                <a:ext cx="3141116" cy="361702"/>
              </a:xfrm>
              <a:prstGeom prst="rect">
                <a:avLst/>
              </a:prstGeom>
              <a:blipFill>
                <a:blip r:embed="rId17"/>
                <a:stretch>
                  <a:fillRect l="-1210" b="-16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8316E60D-95BB-9E4F-A6EE-ABC39606CCAE}"/>
                  </a:ext>
                </a:extLst>
              </p:cNvPr>
              <p:cNvSpPr txBox="1"/>
              <p:nvPr/>
            </p:nvSpPr>
            <p:spPr>
              <a:xfrm>
                <a:off x="1203791" y="3987819"/>
                <a:ext cx="3261342" cy="3436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600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600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ℒ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ko-KR" sz="1600" b="0" i="0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cfm</m:t>
                          </m:r>
                        </m:sub>
                      </m:sSub>
                      <m:r>
                        <a:rPr kumimoji="1" lang="en-US" altLang="ko-KR" sz="1600" b="0" i="1" spc="-7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ko-KR" sz="1600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600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𝔼</m:t>
                          </m:r>
                        </m:e>
                        <m:sub>
                          <m:sSub>
                            <m:sSubPr>
                              <m:ctrlPr>
                                <a:rPr kumimoji="1" lang="en-US" altLang="ko-KR" sz="1600" b="0" i="1" spc="-70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1600" b="0" i="1" spc="-70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en-US" altLang="ko-KR" sz="1600" b="0" i="1" spc="-70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kumimoji="1" lang="en-US" altLang="ko-KR" sz="1600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  </m:t>
                          </m:r>
                          <m:sSub>
                            <m:sSubPr>
                              <m:ctrlPr>
                                <a:rPr kumimoji="1" lang="en-US" altLang="ko-KR" sz="1600" b="0" i="1" spc="-70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1600" b="0" i="1" spc="-70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en-US" altLang="ko-KR" sz="1600" b="0" i="1" spc="-70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kumimoji="1" lang="en-US" altLang="ko-KR" sz="1600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kumimoji="1" lang="en-US" altLang="ko-KR" sz="1600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kumimoji="1" lang="en-US" altLang="ko-KR" sz="1600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kumimoji="1" lang="en-US" altLang="ko-KR" sz="1600" b="0" i="1" spc="-70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ko-KR" sz="1600" b="0" i="1" spc="-70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kumimoji="1" lang="en-US" altLang="ko-KR" sz="1600" b="0" i="1" spc="-70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kumimoji="1" lang="en-US" altLang="ko-KR" sz="1600" b="0" i="1" spc="-70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𝑚𝑜𝑑𝑒𝑙</m:t>
                              </m:r>
                            </m:sup>
                          </m:sSubSup>
                          <m:d>
                            <m:dPr>
                              <m:ctrlPr>
                                <a:rPr kumimoji="1" lang="en-US" altLang="ko-KR" sz="1600" b="0" i="1" spc="-70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1" lang="en-US" altLang="ko-KR" sz="1600" b="0" i="1" spc="-70" smtClean="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ko-KR" sz="1600" b="0" i="1" spc="-70" smtClean="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1" lang="en-US" altLang="ko-KR" sz="1600" b="0" i="1" spc="-70" smtClean="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  <m:r>
                            <a:rPr kumimoji="1" lang="en-US" altLang="ko-KR" sz="1600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−(</m:t>
                          </m:r>
                          <m:sSub>
                            <m:sSubPr>
                              <m:ctrlPr>
                                <a:rPr kumimoji="1" lang="en-US" altLang="ko-KR" sz="1600" b="0" i="1" spc="-70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1600" b="0" i="1" spc="-70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en-US" altLang="ko-KR" sz="1600" b="0" i="1" spc="-70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kumimoji="1" lang="en-US" altLang="ko-KR" sz="1600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kumimoji="1" lang="en-US" altLang="ko-KR" sz="1600" b="0" i="1" spc="-70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1600" b="0" i="1" spc="-70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en-US" altLang="ko-KR" sz="1600" b="0" i="1" spc="-70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kumimoji="1" lang="en-US" altLang="ko-KR" sz="1600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kumimoji="1" lang="ko-KR" altLang="en-US" sz="1600" spc="-7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8316E60D-95BB-9E4F-A6EE-ABC39606CC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3791" y="3987819"/>
                <a:ext cx="3261342" cy="343620"/>
              </a:xfrm>
              <a:prstGeom prst="rect">
                <a:avLst/>
              </a:prstGeom>
              <a:blipFill>
                <a:blip r:embed="rId18"/>
                <a:stretch>
                  <a:fillRect l="-1163" b="-1379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00A9E8CD-DFE0-BD4F-A7B2-73082038097D}"/>
                  </a:ext>
                </a:extLst>
              </p:cNvPr>
              <p:cNvSpPr txBox="1"/>
              <p:nvPr/>
            </p:nvSpPr>
            <p:spPr>
              <a:xfrm>
                <a:off x="1211441" y="4529532"/>
                <a:ext cx="1221488" cy="2954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600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ko-KR" sz="1600" b="0" i="0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∇</m:t>
                          </m:r>
                          <m:r>
                            <a:rPr kumimoji="1" lang="en-US" altLang="ko-KR" sz="1600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kumimoji="1" lang="en-US" altLang="ko-KR" sz="1600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ℒ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ko-KR" sz="1600" b="0" i="0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fm</m:t>
                          </m:r>
                        </m:sub>
                      </m:sSub>
                      <m:r>
                        <a:rPr kumimoji="1" lang="en-US" altLang="ko-KR" sz="1600" b="0" i="1" spc="-7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ko-KR" sz="1600" i="1" spc="-7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ko-KR" sz="1600" b="0" i="0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∇</m:t>
                          </m:r>
                          <m:r>
                            <a:rPr kumimoji="1" lang="en-US" altLang="ko-KR" sz="1600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kumimoji="1" lang="en-US" altLang="ko-KR" sz="1600" i="1" spc="-7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ℒ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ko-KR" sz="1600" spc="-7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cfm</m:t>
                          </m:r>
                        </m:sub>
                      </m:sSub>
                    </m:oMath>
                  </m:oMathPara>
                </a14:m>
                <a:endParaRPr kumimoji="1" lang="ko-KR" altLang="en-US" sz="1600" spc="-7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00A9E8CD-DFE0-BD4F-A7B2-7308203809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1441" y="4529532"/>
                <a:ext cx="1221488" cy="295466"/>
              </a:xfrm>
              <a:prstGeom prst="rect">
                <a:avLst/>
              </a:prstGeom>
              <a:blipFill>
                <a:blip r:embed="rId19"/>
                <a:stretch>
                  <a:fillRect l="-4124" r="-2062" b="-2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직사각형 19">
            <a:extLst>
              <a:ext uri="{FF2B5EF4-FFF2-40B4-BE49-F238E27FC236}">
                <a16:creationId xmlns:a16="http://schemas.microsoft.com/office/drawing/2014/main" id="{E83A000B-0CA4-C74E-99B0-DFF6C7B09ED9}"/>
              </a:ext>
            </a:extLst>
          </p:cNvPr>
          <p:cNvSpPr/>
          <p:nvPr/>
        </p:nvSpPr>
        <p:spPr>
          <a:xfrm>
            <a:off x="3493477" y="3987419"/>
            <a:ext cx="872025" cy="3440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9809370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77B2F82-531A-EA41-941C-17071486B50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113837" y="814498"/>
            <a:ext cx="2743200" cy="365125"/>
          </a:xfrm>
        </p:spPr>
        <p:txBody>
          <a:bodyPr/>
          <a:lstStyle/>
          <a:p>
            <a:fld id="{683A3AC8-7E39-1245-98E2-08D56C5B5689}" type="slidenum">
              <a:rPr kumimoji="1" lang="ko-Kore-KR" altLang="en-US" smtClean="0"/>
              <a:t>16</a:t>
            </a:fld>
            <a:endParaRPr kumimoji="1" lang="ko-Kore-KR" altLang="en-US"/>
          </a:p>
        </p:txBody>
      </p:sp>
      <p:cxnSp>
        <p:nvCxnSpPr>
          <p:cNvPr id="4" name="직선 연결선[R] 3">
            <a:extLst>
              <a:ext uri="{FF2B5EF4-FFF2-40B4-BE49-F238E27FC236}">
                <a16:creationId xmlns:a16="http://schemas.microsoft.com/office/drawing/2014/main" id="{8ACD5E43-4406-0547-9F25-E5BAE9F992AF}"/>
              </a:ext>
            </a:extLst>
          </p:cNvPr>
          <p:cNvCxnSpPr>
            <a:cxnSpLocks/>
          </p:cNvCxnSpPr>
          <p:nvPr/>
        </p:nvCxnSpPr>
        <p:spPr>
          <a:xfrm>
            <a:off x="334963" y="1101344"/>
            <a:ext cx="11522075" cy="0"/>
          </a:xfrm>
          <a:prstGeom prst="line">
            <a:avLst/>
          </a:prstGeom>
          <a:ln w="19050">
            <a:gradFill flip="none" rotWithShape="1">
              <a:gsLst>
                <a:gs pos="0">
                  <a:schemeClr val="bg1"/>
                </a:gs>
                <a:gs pos="39000">
                  <a:srgbClr val="76D6FF"/>
                </a:gs>
                <a:gs pos="99000">
                  <a:schemeClr val="accent5">
                    <a:lumMod val="75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55829DB6-98BD-614C-82C4-EEC75995F310}"/>
              </a:ext>
            </a:extLst>
          </p:cNvPr>
          <p:cNvSpPr txBox="1"/>
          <p:nvPr/>
        </p:nvSpPr>
        <p:spPr>
          <a:xfrm>
            <a:off x="1146580" y="266600"/>
            <a:ext cx="6015582" cy="3282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en-US" altLang="ko-KR" sz="1400" spc="-70" dirty="0">
                <a:solidFill>
                  <a:schemeClr val="tx1">
                    <a:lumMod val="95000"/>
                    <a:lumOff val="5000"/>
                  </a:schemeClr>
                </a:solidFill>
                <a:latin typeface="Helvetica Neue Medium" panose="02000503000000020004" pitchFamily="2" charset="0"/>
                <a:cs typeface="Helvetica Neue Medium" panose="02000503000000020004" pitchFamily="2" charset="0"/>
              </a:rPr>
              <a:t>Diffusion &amp; Flow Models</a:t>
            </a:r>
            <a:endParaRPr kumimoji="1" lang="ko-KR" altLang="en-US" sz="1400" spc="-70" dirty="0">
              <a:solidFill>
                <a:schemeClr val="tx1">
                  <a:lumMod val="95000"/>
                  <a:lumOff val="5000"/>
                </a:schemeClr>
              </a:solidFill>
              <a:latin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D321DE3-6BA4-1343-8CC3-8A9CB74C1965}"/>
              </a:ext>
            </a:extLst>
          </p:cNvPr>
          <p:cNvSpPr/>
          <p:nvPr/>
        </p:nvSpPr>
        <p:spPr>
          <a:xfrm>
            <a:off x="334963" y="294833"/>
            <a:ext cx="811617" cy="811617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5000"/>
                  <a:alpha val="95051"/>
                </a:schemeClr>
              </a:gs>
              <a:gs pos="23000">
                <a:schemeClr val="accent5">
                  <a:lumMod val="40000"/>
                  <a:lumOff val="60000"/>
                </a:schemeClr>
              </a:gs>
              <a:gs pos="49000">
                <a:srgbClr val="76A6D2"/>
              </a:gs>
              <a:gs pos="76000">
                <a:schemeClr val="accent5">
                  <a:lumMod val="7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2800" b="1" dirty="0">
                <a:solidFill>
                  <a:schemeClr val="bg1">
                    <a:lumMod val="9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</a:t>
            </a:r>
            <a:endParaRPr kumimoji="1" lang="ko-KR" altLang="en-US" sz="2800" b="1" dirty="0">
              <a:solidFill>
                <a:schemeClr val="bg1">
                  <a:lumMod val="95000"/>
                </a:schemeClr>
              </a:solidFill>
              <a:latin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26EDAB15-C1FA-C246-A081-04E2DF2AFDCD}"/>
              </a:ext>
            </a:extLst>
          </p:cNvPr>
          <p:cNvSpPr txBox="1">
            <a:spLocks/>
          </p:cNvSpPr>
          <p:nvPr/>
        </p:nvSpPr>
        <p:spPr>
          <a:xfrm>
            <a:off x="1146580" y="509396"/>
            <a:ext cx="8302220" cy="631869"/>
          </a:xfrm>
          <a:prstGeom prst="rect">
            <a:avLst/>
          </a:prstGeom>
        </p:spPr>
        <p:txBody>
          <a:bodyPr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en-US" sz="5000" b="1" spc="-15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Never Hit PMT in 22644</a:t>
            </a:r>
            <a:endParaRPr kumimoji="1" lang="ko-Kore-KR" altLang="en-US" sz="5000" b="1" spc="-150" dirty="0">
              <a:latin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55F4CA-45CB-C345-B43A-79A1DB8186EC}"/>
              </a:ext>
            </a:extLst>
          </p:cNvPr>
          <p:cNvSpPr txBox="1"/>
          <p:nvPr/>
        </p:nvSpPr>
        <p:spPr>
          <a:xfrm>
            <a:off x="334963" y="1307939"/>
            <a:ext cx="11522074" cy="3956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en-US" altLang="ko-KR" spc="-7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[1] </a:t>
            </a:r>
            <a:endParaRPr kumimoji="1" lang="ko-KR" altLang="en-US" spc="-7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0F7E790-9AF8-2947-AF64-B5B82670F0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2162" y="1771571"/>
            <a:ext cx="4398441" cy="4660253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2D5EEAD9-670B-CC46-A054-57235A2FDA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949420" y="3429000"/>
            <a:ext cx="12192000" cy="5473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40453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모서리가 둥근 직사각형 80">
            <a:extLst>
              <a:ext uri="{FF2B5EF4-FFF2-40B4-BE49-F238E27FC236}">
                <a16:creationId xmlns:a16="http://schemas.microsoft.com/office/drawing/2014/main" id="{A4137E0B-B6AF-0B4E-BA3B-48A1DD483986}"/>
              </a:ext>
            </a:extLst>
          </p:cNvPr>
          <p:cNvSpPr/>
          <p:nvPr/>
        </p:nvSpPr>
        <p:spPr>
          <a:xfrm>
            <a:off x="336999" y="3752226"/>
            <a:ext cx="2810754" cy="2244525"/>
          </a:xfrm>
          <a:prstGeom prst="roundRect">
            <a:avLst>
              <a:gd name="adj" fmla="val 8014"/>
            </a:avLst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9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D0B27BC-59B5-AB4D-B9F1-307AA3DCBD9C}"/>
              </a:ext>
            </a:extLst>
          </p:cNvPr>
          <p:cNvSpPr txBox="1"/>
          <p:nvPr/>
        </p:nvSpPr>
        <p:spPr>
          <a:xfrm>
            <a:off x="12435097" y="8156160"/>
            <a:ext cx="1150986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§"/>
            </a:pPr>
            <a:r>
              <a:rPr lang="en" altLang="ko-KR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Similar limitations appear </a:t>
            </a:r>
            <a:r>
              <a:rPr lang="en-US" altLang="ko-KR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some other </a:t>
            </a:r>
            <a:r>
              <a:rPr lang="en" altLang="ko-KR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ML-based reconstruction</a:t>
            </a:r>
            <a:endParaRPr lang="en" altLang="ko-KR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itchFamily="2" charset="2"/>
              <a:buChar char="§"/>
            </a:pPr>
            <a:endParaRPr lang="en" altLang="ko-KR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itchFamily="2" charset="2"/>
              <a:buChar char="§"/>
            </a:pPr>
            <a:r>
              <a:rPr lang="en" altLang="ko-KR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hypothesize that this is because most ML-based reconstructions are primarily feature-extraction (i.e., regression) models</a:t>
            </a:r>
            <a:endParaRPr lang="en" altLang="ko-K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943350" lvl="8" indent="-285750">
              <a:buFont typeface="Wingdings" pitchFamily="2" charset="2"/>
              <a:buChar char="Ø"/>
            </a:pPr>
            <a:r>
              <a:rPr lang="en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 detector observations to a track parameters</a:t>
            </a:r>
            <a:r>
              <a:rPr lang="en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Wingdings" pitchFamily="2" charset="2"/>
              <a:buChar char="§"/>
            </a:pPr>
            <a:endParaRPr lang="en" altLang="ko-K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itchFamily="2" charset="2"/>
              <a:buChar char="§"/>
            </a:pPr>
            <a:r>
              <a:rPr lang="en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address this, we adopted a </a:t>
            </a:r>
            <a:r>
              <a:rPr lang="en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Generative AI </a:t>
            </a:r>
            <a:r>
              <a:rPr lang="en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instead of a regression-based model.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77B2F82-531A-EA41-941C-17071486B50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113837" y="814498"/>
            <a:ext cx="2743200" cy="365125"/>
          </a:xfrm>
        </p:spPr>
        <p:txBody>
          <a:bodyPr/>
          <a:lstStyle/>
          <a:p>
            <a:fld id="{683A3AC8-7E39-1245-98E2-08D56C5B5689}" type="slidenum">
              <a:rPr kumimoji="1" lang="ko-Kore-KR" altLang="en-US" smtClean="0"/>
              <a:t>17</a:t>
            </a:fld>
            <a:endParaRPr kumimoji="1" lang="ko-Kore-KR" altLang="en-US"/>
          </a:p>
        </p:txBody>
      </p:sp>
      <p:cxnSp>
        <p:nvCxnSpPr>
          <p:cNvPr id="4" name="직선 연결선[R] 3">
            <a:extLst>
              <a:ext uri="{FF2B5EF4-FFF2-40B4-BE49-F238E27FC236}">
                <a16:creationId xmlns:a16="http://schemas.microsoft.com/office/drawing/2014/main" id="{8ACD5E43-4406-0547-9F25-E5BAE9F992AF}"/>
              </a:ext>
            </a:extLst>
          </p:cNvPr>
          <p:cNvCxnSpPr>
            <a:cxnSpLocks/>
          </p:cNvCxnSpPr>
          <p:nvPr/>
        </p:nvCxnSpPr>
        <p:spPr>
          <a:xfrm>
            <a:off x="334963" y="1101344"/>
            <a:ext cx="11522075" cy="0"/>
          </a:xfrm>
          <a:prstGeom prst="line">
            <a:avLst/>
          </a:prstGeom>
          <a:ln w="19050">
            <a:gradFill flip="none" rotWithShape="1">
              <a:gsLst>
                <a:gs pos="0">
                  <a:schemeClr val="bg1"/>
                </a:gs>
                <a:gs pos="39000">
                  <a:srgbClr val="76D6FF"/>
                </a:gs>
                <a:gs pos="99000">
                  <a:schemeClr val="accent5">
                    <a:lumMod val="75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55829DB6-98BD-614C-82C4-EEC75995F310}"/>
              </a:ext>
            </a:extLst>
          </p:cNvPr>
          <p:cNvSpPr txBox="1"/>
          <p:nvPr/>
        </p:nvSpPr>
        <p:spPr>
          <a:xfrm>
            <a:off x="1146580" y="266600"/>
            <a:ext cx="6015582" cy="3282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en-US" altLang="ko-KR" sz="1400" spc="-70" dirty="0">
                <a:solidFill>
                  <a:schemeClr val="tx1">
                    <a:lumMod val="95000"/>
                    <a:lumOff val="5000"/>
                  </a:schemeClr>
                </a:solidFill>
                <a:latin typeface="Helvetica Neue Medium" panose="02000503000000020004" pitchFamily="2" charset="0"/>
                <a:cs typeface="Helvetica Neue Medium" panose="02000503000000020004" pitchFamily="2" charset="0"/>
              </a:rPr>
              <a:t>Muon Neutrino Event in </a:t>
            </a:r>
            <a:r>
              <a:rPr kumimoji="1" lang="en-US" altLang="ko-KR" sz="1400" spc="-7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Helvetica Neue Medium" panose="02000503000000020004" pitchFamily="2" charset="0"/>
                <a:cs typeface="Helvetica Neue Medium" panose="02000503000000020004" pitchFamily="2" charset="0"/>
              </a:rPr>
              <a:t>IceCube</a:t>
            </a:r>
            <a:endParaRPr kumimoji="1" lang="ko-KR" altLang="en-US" sz="1400" spc="-70" dirty="0">
              <a:solidFill>
                <a:schemeClr val="tx1">
                  <a:lumMod val="95000"/>
                  <a:lumOff val="5000"/>
                </a:schemeClr>
              </a:solidFill>
              <a:latin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D321DE3-6BA4-1343-8CC3-8A9CB74C1965}"/>
              </a:ext>
            </a:extLst>
          </p:cNvPr>
          <p:cNvSpPr/>
          <p:nvPr/>
        </p:nvSpPr>
        <p:spPr>
          <a:xfrm>
            <a:off x="334963" y="294833"/>
            <a:ext cx="811617" cy="811617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5000"/>
                  <a:alpha val="95051"/>
                </a:schemeClr>
              </a:gs>
              <a:gs pos="23000">
                <a:schemeClr val="accent5">
                  <a:lumMod val="40000"/>
                  <a:lumOff val="60000"/>
                </a:schemeClr>
              </a:gs>
              <a:gs pos="49000">
                <a:srgbClr val="76A6D2"/>
              </a:gs>
              <a:gs pos="76000">
                <a:schemeClr val="accent5">
                  <a:lumMod val="7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2800" b="1" dirty="0">
                <a:solidFill>
                  <a:schemeClr val="bg1">
                    <a:lumMod val="9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02</a:t>
            </a:r>
            <a:endParaRPr kumimoji="1" lang="ko-KR" altLang="en-US" sz="2800" b="1" dirty="0">
              <a:solidFill>
                <a:schemeClr val="bg1">
                  <a:lumMod val="95000"/>
                </a:schemeClr>
              </a:solidFill>
              <a:latin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26EDAB15-C1FA-C246-A081-04E2DF2AFDCD}"/>
              </a:ext>
            </a:extLst>
          </p:cNvPr>
          <p:cNvSpPr txBox="1">
            <a:spLocks/>
          </p:cNvSpPr>
          <p:nvPr/>
        </p:nvSpPr>
        <p:spPr>
          <a:xfrm>
            <a:off x="1146580" y="498563"/>
            <a:ext cx="9898840" cy="631869"/>
          </a:xfrm>
          <a:prstGeom prst="rect">
            <a:avLst/>
          </a:prstGeom>
        </p:spPr>
        <p:txBody>
          <a:bodyPr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en-US" sz="5000" b="1" spc="-15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Track Reconstruction in </a:t>
            </a:r>
            <a:r>
              <a:rPr kumimoji="1" lang="en-US" altLang="en-US" sz="5000" b="1" spc="-15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IceCube</a:t>
            </a:r>
            <a:endParaRPr kumimoji="1" lang="ko-Kore-KR" altLang="en-US" sz="5000" b="1" spc="-150" dirty="0">
              <a:latin typeface="Helvetica Neue" panose="02000503000000020004" pitchFamily="2" charset="0"/>
              <a:cs typeface="Helvetica Neue" panose="02000503000000020004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0DA390D-402E-1344-BB3F-56B11675F4AE}"/>
                  </a:ext>
                </a:extLst>
              </p:cNvPr>
              <p:cNvSpPr txBox="1"/>
              <p:nvPr/>
            </p:nvSpPr>
            <p:spPr>
              <a:xfrm>
                <a:off x="6634632" y="6432939"/>
                <a:ext cx="1894621" cy="3323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b="0" i="1" spc="-7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𝜓</m:t>
                      </m:r>
                      <m:r>
                        <a:rPr kumimoji="1" lang="en-US" altLang="ko-KR" b="0" i="1" spc="-7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=0.7°∙(</m:t>
                      </m:r>
                      <m:sSub>
                        <m:sSubPr>
                          <m:ctrlPr>
                            <a:rPr kumimoji="1" lang="en-US" altLang="ko-KR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𝐸</m:t>
                          </m:r>
                        </m:e>
                        <m:sub>
                          <m:r>
                            <a:rPr kumimoji="1" lang="en-US" altLang="ko-KR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𝜈</m:t>
                          </m:r>
                        </m:sub>
                      </m:sSub>
                      <m:r>
                        <a:rPr kumimoji="1" lang="en-US" altLang="ko-KR" b="0" i="1" spc="-7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/</m:t>
                      </m:r>
                      <m:r>
                        <a:rPr kumimoji="1" lang="en-US" altLang="ko-KR" b="0" i="1" spc="-7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𝑇𝑒𝑉</m:t>
                      </m:r>
                      <m:r>
                        <a:rPr kumimoji="1" lang="en-US" altLang="ko-KR" b="0" i="1" spc="-7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kumimoji="1" lang="ko-KR" altLang="en-US" spc="-7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0DA390D-402E-1344-BB3F-56B11675F4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4632" y="6432939"/>
                <a:ext cx="1894621" cy="332399"/>
              </a:xfrm>
              <a:prstGeom prst="rect">
                <a:avLst/>
              </a:prstGeom>
              <a:blipFill>
                <a:blip r:embed="rId3"/>
                <a:stretch>
                  <a:fillRect l="-4000" r="-4000" b="-2222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59EB5989-809F-C542-80AE-C70DB6AC735D}"/>
                  </a:ext>
                </a:extLst>
              </p:cNvPr>
              <p:cNvSpPr txBox="1"/>
              <p:nvPr/>
            </p:nvSpPr>
            <p:spPr>
              <a:xfrm>
                <a:off x="430441" y="1197293"/>
                <a:ext cx="11093997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Wingdings" pitchFamily="2" charset="2"/>
                  <a:buChar char="§"/>
                </a:pPr>
                <a:r>
                  <a:rPr kumimoji="1" lang="en-US" altLang="ko-Kore-K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Track events has a angular resolution of  &lt; 1</a:t>
                </a:r>
                <a14:m>
                  <m:oMath xmlns:m="http://schemas.openxmlformats.org/officeDocument/2006/math">
                    <m:r>
                      <a:rPr kumimoji="1" lang="en-US" altLang="ko-Kore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°</m:t>
                    </m:r>
                  </m:oMath>
                </a14:m>
                <a:r>
                  <a:rPr kumimoji="1" lang="en-US" altLang="ko-Kore-KR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 </a:t>
                </a:r>
                <a14:m>
                  <m:oMath xmlns:m="http://schemas.openxmlformats.org/officeDocument/2006/math">
                    <m:r>
                      <a:rPr kumimoji="1" lang="en-US" altLang="ko-Kore-KR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  <m:r>
                      <a:rPr kumimoji="1" lang="en-US" altLang="ko-Kore-KR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kumimoji="1" lang="en-US" altLang="ko-Kore-KR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Main channel for neutrino’s source study</a:t>
                </a:r>
              </a:p>
              <a:p>
                <a:pPr marL="342900" indent="-342900">
                  <a:buFont typeface="Wingdings" pitchFamily="2" charset="2"/>
                  <a:buChar char="§"/>
                </a:pPr>
                <a:r>
                  <a:rPr kumimoji="1" lang="en-US" altLang="ko-Kore-KR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IceCube</a:t>
                </a:r>
                <a:r>
                  <a:rPr kumimoji="1" lang="en-US" altLang="ko-Kore-K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has mainly two reconstruction methodology for muon reconstruction</a:t>
                </a:r>
                <a:endParaRPr kumimoji="1" lang="en-US" altLang="ko-KR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59EB5989-809F-C542-80AE-C70DB6AC73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441" y="1197293"/>
                <a:ext cx="11093997" cy="646331"/>
              </a:xfrm>
              <a:prstGeom prst="rect">
                <a:avLst/>
              </a:prstGeom>
              <a:blipFill>
                <a:blip r:embed="rId4"/>
                <a:stretch>
                  <a:fillRect l="-458" t="-3922" b="-1568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모서리가 둥근 직사각형 47">
            <a:extLst>
              <a:ext uri="{FF2B5EF4-FFF2-40B4-BE49-F238E27FC236}">
                <a16:creationId xmlns:a16="http://schemas.microsoft.com/office/drawing/2014/main" id="{29CC53FD-4A91-4840-AD49-050BE7183742}"/>
              </a:ext>
            </a:extLst>
          </p:cNvPr>
          <p:cNvSpPr/>
          <p:nvPr/>
        </p:nvSpPr>
        <p:spPr>
          <a:xfrm>
            <a:off x="9373552" y="3737716"/>
            <a:ext cx="2344732" cy="2244525"/>
          </a:xfrm>
          <a:prstGeom prst="roundRect">
            <a:avLst>
              <a:gd name="adj" fmla="val 8014"/>
            </a:avLst>
          </a:prstGeom>
          <a:solidFill>
            <a:schemeClr val="bg2"/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90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86E1253-CD82-2143-BA54-506DF14B22C4}"/>
              </a:ext>
            </a:extLst>
          </p:cNvPr>
          <p:cNvSpPr txBox="1"/>
          <p:nvPr/>
        </p:nvSpPr>
        <p:spPr>
          <a:xfrm>
            <a:off x="4950309" y="3149237"/>
            <a:ext cx="25237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ore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Event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5424745-0865-2B4B-AB75-AD1E8A87BBC2}"/>
              </a:ext>
            </a:extLst>
          </p:cNvPr>
          <p:cNvSpPr txBox="1"/>
          <p:nvPr/>
        </p:nvSpPr>
        <p:spPr>
          <a:xfrm>
            <a:off x="4950309" y="6194701"/>
            <a:ext cx="2523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ore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 Parameter</a:t>
            </a:r>
          </a:p>
        </p:txBody>
      </p: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05A24348-DBEB-3B43-BBC2-4B305ED210FD}"/>
              </a:ext>
            </a:extLst>
          </p:cNvPr>
          <p:cNvCxnSpPr>
            <a:cxnSpLocks/>
          </p:cNvCxnSpPr>
          <p:nvPr/>
        </p:nvCxnSpPr>
        <p:spPr>
          <a:xfrm>
            <a:off x="10545918" y="5316761"/>
            <a:ext cx="0" cy="243234"/>
          </a:xfrm>
          <a:prstGeom prst="straightConnector1">
            <a:avLst/>
          </a:prstGeom>
          <a:ln w="412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EA95D1DB-5383-4048-B060-2C00DBBF5733}"/>
              </a:ext>
            </a:extLst>
          </p:cNvPr>
          <p:cNvCxnSpPr>
            <a:cxnSpLocks/>
          </p:cNvCxnSpPr>
          <p:nvPr/>
        </p:nvCxnSpPr>
        <p:spPr>
          <a:xfrm>
            <a:off x="10545918" y="4749896"/>
            <a:ext cx="0" cy="243234"/>
          </a:xfrm>
          <a:prstGeom prst="straightConnector1">
            <a:avLst/>
          </a:prstGeom>
          <a:ln w="412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691845EB-982A-8048-BEE6-95DCA3CAB533}"/>
              </a:ext>
            </a:extLst>
          </p:cNvPr>
          <p:cNvCxnSpPr>
            <a:cxnSpLocks/>
          </p:cNvCxnSpPr>
          <p:nvPr/>
        </p:nvCxnSpPr>
        <p:spPr>
          <a:xfrm>
            <a:off x="10545918" y="4182412"/>
            <a:ext cx="0" cy="243234"/>
          </a:xfrm>
          <a:prstGeom prst="straightConnector1">
            <a:avLst/>
          </a:prstGeom>
          <a:ln w="412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모서리가 둥근 직사각형 32">
            <a:extLst>
              <a:ext uri="{FF2B5EF4-FFF2-40B4-BE49-F238E27FC236}">
                <a16:creationId xmlns:a16="http://schemas.microsoft.com/office/drawing/2014/main" id="{95A1B434-5373-C048-86E6-544EB18F6BEE}"/>
              </a:ext>
            </a:extLst>
          </p:cNvPr>
          <p:cNvSpPr/>
          <p:nvPr/>
        </p:nvSpPr>
        <p:spPr>
          <a:xfrm>
            <a:off x="9551292" y="3860560"/>
            <a:ext cx="1989252" cy="321584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900"/>
          </a:p>
        </p:txBody>
      </p:sp>
      <p:sp>
        <p:nvSpPr>
          <p:cNvPr id="34" name="모서리가 둥근 직사각형 33">
            <a:extLst>
              <a:ext uri="{FF2B5EF4-FFF2-40B4-BE49-F238E27FC236}">
                <a16:creationId xmlns:a16="http://schemas.microsoft.com/office/drawing/2014/main" id="{7D377877-15A1-7244-B08E-FD01748D54FB}"/>
              </a:ext>
            </a:extLst>
          </p:cNvPr>
          <p:cNvSpPr/>
          <p:nvPr/>
        </p:nvSpPr>
        <p:spPr>
          <a:xfrm>
            <a:off x="9551292" y="4421949"/>
            <a:ext cx="1989252" cy="321584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900"/>
          </a:p>
        </p:txBody>
      </p:sp>
      <p:sp>
        <p:nvSpPr>
          <p:cNvPr id="35" name="모서리가 둥근 직사각형 34">
            <a:extLst>
              <a:ext uri="{FF2B5EF4-FFF2-40B4-BE49-F238E27FC236}">
                <a16:creationId xmlns:a16="http://schemas.microsoft.com/office/drawing/2014/main" id="{4F2F02E9-5F0D-374E-B342-C4CDA4AF3E8C}"/>
              </a:ext>
            </a:extLst>
          </p:cNvPr>
          <p:cNvSpPr/>
          <p:nvPr/>
        </p:nvSpPr>
        <p:spPr>
          <a:xfrm>
            <a:off x="9551292" y="4996149"/>
            <a:ext cx="1989252" cy="321584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900"/>
          </a:p>
        </p:txBody>
      </p:sp>
      <p:sp>
        <p:nvSpPr>
          <p:cNvPr id="36" name="모서리가 둥근 직사각형 35">
            <a:extLst>
              <a:ext uri="{FF2B5EF4-FFF2-40B4-BE49-F238E27FC236}">
                <a16:creationId xmlns:a16="http://schemas.microsoft.com/office/drawing/2014/main" id="{54A5957F-6768-1B43-B411-0C4C8EA477D0}"/>
              </a:ext>
            </a:extLst>
          </p:cNvPr>
          <p:cNvSpPr/>
          <p:nvPr/>
        </p:nvSpPr>
        <p:spPr>
          <a:xfrm>
            <a:off x="9551292" y="5556971"/>
            <a:ext cx="1989252" cy="321584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9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AC55FC2-EF9C-E841-8192-591B867B73C2}"/>
              </a:ext>
            </a:extLst>
          </p:cNvPr>
          <p:cNvSpPr txBox="1"/>
          <p:nvPr/>
        </p:nvSpPr>
        <p:spPr>
          <a:xfrm>
            <a:off x="10212083" y="3894967"/>
            <a:ext cx="66767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ore-KR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Line-fit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5A6B0C1-FC3E-E54F-BA55-3B8AB2C1D1BB}"/>
              </a:ext>
            </a:extLst>
          </p:cNvPr>
          <p:cNvSpPr txBox="1"/>
          <p:nvPr/>
        </p:nvSpPr>
        <p:spPr>
          <a:xfrm>
            <a:off x="9949342" y="4469872"/>
            <a:ext cx="119315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ore-KR" sz="105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Pandel</a:t>
            </a:r>
            <a:r>
              <a:rPr kumimoji="1" lang="en-US" altLang="ko-Kore-KR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SPE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4D268C1-D041-264B-B3DD-08D134FF58B2}"/>
              </a:ext>
            </a:extLst>
          </p:cNvPr>
          <p:cNvSpPr txBox="1"/>
          <p:nvPr/>
        </p:nvSpPr>
        <p:spPr>
          <a:xfrm>
            <a:off x="9897555" y="5024342"/>
            <a:ext cx="12967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ore-KR" sz="105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Pandel</a:t>
            </a:r>
            <a:r>
              <a:rPr kumimoji="1" lang="en-US" altLang="ko-Kore-KR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MPE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2F26AC0-E65B-E84C-A5FC-16E687ADC9B4}"/>
              </a:ext>
            </a:extLst>
          </p:cNvPr>
          <p:cNvSpPr txBox="1"/>
          <p:nvPr/>
        </p:nvSpPr>
        <p:spPr>
          <a:xfrm>
            <a:off x="9897555" y="5575426"/>
            <a:ext cx="12967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ore-KR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Spline MPE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CAEC1F4-976B-5845-B95A-C1C377F1D962}"/>
              </a:ext>
            </a:extLst>
          </p:cNvPr>
          <p:cNvSpPr txBox="1"/>
          <p:nvPr/>
        </p:nvSpPr>
        <p:spPr>
          <a:xfrm>
            <a:off x="6486236" y="9287652"/>
            <a:ext cx="63558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1" lang="en-US" altLang="ko-Kore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Right</a:t>
            </a:r>
            <a:r>
              <a:rPr kumimoji="1"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kumimoji="1" lang="en-US" altLang="ko-Kore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show the track-like event reconstruction pipeline</a:t>
            </a:r>
            <a:r>
              <a:rPr kumimoji="1" lang="ko-KR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ko-Kore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of previous method is used as a seed</a:t>
            </a:r>
          </a:p>
        </p:txBody>
      </p:sp>
      <p:sp>
        <p:nvSpPr>
          <p:cNvPr id="58" name="모서리가 둥근 직사각형 57">
            <a:extLst>
              <a:ext uri="{FF2B5EF4-FFF2-40B4-BE49-F238E27FC236}">
                <a16:creationId xmlns:a16="http://schemas.microsoft.com/office/drawing/2014/main" id="{269DD485-BFE8-8B42-A26D-5A3828FCD191}"/>
              </a:ext>
            </a:extLst>
          </p:cNvPr>
          <p:cNvSpPr/>
          <p:nvPr/>
        </p:nvSpPr>
        <p:spPr>
          <a:xfrm>
            <a:off x="3833819" y="4466712"/>
            <a:ext cx="2344732" cy="839386"/>
          </a:xfrm>
          <a:prstGeom prst="roundRect">
            <a:avLst>
              <a:gd name="adj" fmla="val 8014"/>
            </a:avLst>
          </a:prstGeom>
          <a:solidFill>
            <a:schemeClr val="accent6">
              <a:lumMod val="20000"/>
              <a:lumOff val="8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600" b="1" dirty="0">
                <a:solidFill>
                  <a:schemeClr val="tx1"/>
                </a:solidFill>
              </a:rPr>
              <a:t>Neural Network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BBC9903-E8D4-7540-AA8F-B307B41528F3}"/>
              </a:ext>
            </a:extLst>
          </p:cNvPr>
          <p:cNvSpPr txBox="1"/>
          <p:nvPr/>
        </p:nvSpPr>
        <p:spPr>
          <a:xfrm>
            <a:off x="1763428" y="1923477"/>
            <a:ext cx="80933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57300" lvl="2" indent="-342900">
              <a:buFont typeface="+mj-lt"/>
              <a:buAutoNum type="arabicPeriod"/>
            </a:pPr>
            <a:r>
              <a:rPr kumimoji="1"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Likelihood Reconstruction based on Photon Arrival time Modeling</a:t>
            </a:r>
          </a:p>
        </p:txBody>
      </p:sp>
      <p:pic>
        <p:nvPicPr>
          <p:cNvPr id="60" name="그림 59">
            <a:extLst>
              <a:ext uri="{FF2B5EF4-FFF2-40B4-BE49-F238E27FC236}">
                <a16:creationId xmlns:a16="http://schemas.microsoft.com/office/drawing/2014/main" id="{7509F056-27BE-9E41-B21F-E83F8D072C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56890" y="6762415"/>
            <a:ext cx="2586780" cy="493010"/>
          </a:xfrm>
          <a:prstGeom prst="rect">
            <a:avLst/>
          </a:prstGeom>
        </p:spPr>
      </p:pic>
      <p:pic>
        <p:nvPicPr>
          <p:cNvPr id="61" name="그림 60">
            <a:extLst>
              <a:ext uri="{FF2B5EF4-FFF2-40B4-BE49-F238E27FC236}">
                <a16:creationId xmlns:a16="http://schemas.microsoft.com/office/drawing/2014/main" id="{B87166E7-8F7F-6A4A-85B0-CC1D9AC546B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686846" y="3083245"/>
            <a:ext cx="2225341" cy="530545"/>
          </a:xfrm>
          <a:prstGeom prst="rect">
            <a:avLst/>
          </a:prstGeom>
        </p:spPr>
      </p:pic>
      <p:pic>
        <p:nvPicPr>
          <p:cNvPr id="62" name="그림 61">
            <a:extLst>
              <a:ext uri="{FF2B5EF4-FFF2-40B4-BE49-F238E27FC236}">
                <a16:creationId xmlns:a16="http://schemas.microsoft.com/office/drawing/2014/main" id="{A6855691-B768-BD4D-AF14-E2A3BF1E0D4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017434" y="782867"/>
            <a:ext cx="1690732" cy="329899"/>
          </a:xfrm>
          <a:prstGeom prst="rect">
            <a:avLst/>
          </a:prstGeom>
        </p:spPr>
      </p:pic>
      <p:sp>
        <p:nvSpPr>
          <p:cNvPr id="63" name="모서리가 둥근 직사각형 62">
            <a:extLst>
              <a:ext uri="{FF2B5EF4-FFF2-40B4-BE49-F238E27FC236}">
                <a16:creationId xmlns:a16="http://schemas.microsoft.com/office/drawing/2014/main" id="{7D63CF79-6BEF-2B4F-85DA-06222412AC49}"/>
              </a:ext>
            </a:extLst>
          </p:cNvPr>
          <p:cNvSpPr/>
          <p:nvPr/>
        </p:nvSpPr>
        <p:spPr>
          <a:xfrm>
            <a:off x="16284605" y="639985"/>
            <a:ext cx="1437146" cy="479934"/>
          </a:xfrm>
          <a:prstGeom prst="roundRect">
            <a:avLst/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grpSp>
        <p:nvGrpSpPr>
          <p:cNvPr id="64" name="그룹 63">
            <a:extLst>
              <a:ext uri="{FF2B5EF4-FFF2-40B4-BE49-F238E27FC236}">
                <a16:creationId xmlns:a16="http://schemas.microsoft.com/office/drawing/2014/main" id="{70F4F680-1040-3C43-9D79-C5C7F0EEE00C}"/>
              </a:ext>
            </a:extLst>
          </p:cNvPr>
          <p:cNvGrpSpPr/>
          <p:nvPr/>
        </p:nvGrpSpPr>
        <p:grpSpPr>
          <a:xfrm>
            <a:off x="18017434" y="4412777"/>
            <a:ext cx="3881242" cy="430404"/>
            <a:chOff x="659270" y="5407417"/>
            <a:chExt cx="3881242" cy="430404"/>
          </a:xfrm>
        </p:grpSpPr>
        <p:pic>
          <p:nvPicPr>
            <p:cNvPr id="65" name="그림 64">
              <a:extLst>
                <a:ext uri="{FF2B5EF4-FFF2-40B4-BE49-F238E27FC236}">
                  <a16:creationId xmlns:a16="http://schemas.microsoft.com/office/drawing/2014/main" id="{8E1EB620-3418-4F43-9F38-DA0329DC28B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/>
            <a:srcRect l="12320" t="65264" r="-12320" b="1489"/>
            <a:stretch/>
          </p:blipFill>
          <p:spPr>
            <a:xfrm>
              <a:off x="2959727" y="5476496"/>
              <a:ext cx="1580785" cy="361325"/>
            </a:xfrm>
            <a:prstGeom prst="rect">
              <a:avLst/>
            </a:prstGeom>
          </p:spPr>
        </p:pic>
        <p:pic>
          <p:nvPicPr>
            <p:cNvPr id="66" name="그림 65">
              <a:extLst>
                <a:ext uri="{FF2B5EF4-FFF2-40B4-BE49-F238E27FC236}">
                  <a16:creationId xmlns:a16="http://schemas.microsoft.com/office/drawing/2014/main" id="{B0CC4073-6556-3F42-9E01-00BCE05B429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/>
            <a:srcRect r="15650" b="63569"/>
            <a:stretch/>
          </p:blipFill>
          <p:spPr>
            <a:xfrm>
              <a:off x="659270" y="5407417"/>
              <a:ext cx="1333396" cy="395931"/>
            </a:xfrm>
            <a:prstGeom prst="rect">
              <a:avLst/>
            </a:prstGeom>
          </p:spPr>
        </p:pic>
        <p:pic>
          <p:nvPicPr>
            <p:cNvPr id="67" name="그림 66">
              <a:extLst>
                <a:ext uri="{FF2B5EF4-FFF2-40B4-BE49-F238E27FC236}">
                  <a16:creationId xmlns:a16="http://schemas.microsoft.com/office/drawing/2014/main" id="{2C9C48C1-4E2C-9E48-B207-12FF671C20F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/>
            <a:srcRect l="11204" t="41738" r="25038" b="34386"/>
            <a:stretch/>
          </p:blipFill>
          <p:spPr>
            <a:xfrm>
              <a:off x="2034696" y="5536555"/>
              <a:ext cx="1007869" cy="259477"/>
            </a:xfrm>
            <a:prstGeom prst="rect">
              <a:avLst/>
            </a:prstGeom>
          </p:spPr>
        </p:pic>
      </p:grpSp>
      <p:pic>
        <p:nvPicPr>
          <p:cNvPr id="68" name="그림 67">
            <a:extLst>
              <a:ext uri="{FF2B5EF4-FFF2-40B4-BE49-F238E27FC236}">
                <a16:creationId xmlns:a16="http://schemas.microsoft.com/office/drawing/2014/main" id="{C754C5D6-CBCE-A445-A824-B65831D6E6C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953049" y="4282770"/>
            <a:ext cx="2935059" cy="1939235"/>
          </a:xfrm>
          <a:prstGeom prst="rect">
            <a:avLst/>
          </a:prstGeom>
        </p:spPr>
      </p:pic>
      <p:sp>
        <p:nvSpPr>
          <p:cNvPr id="69" name="모서리가 둥근 직사각형 68">
            <a:extLst>
              <a:ext uri="{FF2B5EF4-FFF2-40B4-BE49-F238E27FC236}">
                <a16:creationId xmlns:a16="http://schemas.microsoft.com/office/drawing/2014/main" id="{13DEC8BE-79AE-984C-9605-E33ADA79A257}"/>
              </a:ext>
            </a:extLst>
          </p:cNvPr>
          <p:cNvSpPr/>
          <p:nvPr/>
        </p:nvSpPr>
        <p:spPr>
          <a:xfrm>
            <a:off x="12460566" y="6405133"/>
            <a:ext cx="2919721" cy="1896728"/>
          </a:xfrm>
          <a:prstGeom prst="roundRect">
            <a:avLst>
              <a:gd name="adj" fmla="val 8819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pic>
        <p:nvPicPr>
          <p:cNvPr id="70" name="그림 69">
            <a:extLst>
              <a:ext uri="{FF2B5EF4-FFF2-40B4-BE49-F238E27FC236}">
                <a16:creationId xmlns:a16="http://schemas.microsoft.com/office/drawing/2014/main" id="{705EE6CC-BCBE-BA47-A3D9-83D5509B4E4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011761" y="7641540"/>
            <a:ext cx="1477037" cy="308590"/>
          </a:xfrm>
          <a:prstGeom prst="rect">
            <a:avLst/>
          </a:prstGeom>
        </p:spPr>
      </p:pic>
      <p:cxnSp>
        <p:nvCxnSpPr>
          <p:cNvPr id="71" name="직선 화살표 연결선 70">
            <a:extLst>
              <a:ext uri="{FF2B5EF4-FFF2-40B4-BE49-F238E27FC236}">
                <a16:creationId xmlns:a16="http://schemas.microsoft.com/office/drawing/2014/main" id="{AA75C356-E8C0-0F46-96EB-A3F68E6D264B}"/>
              </a:ext>
            </a:extLst>
          </p:cNvPr>
          <p:cNvCxnSpPr>
            <a:cxnSpLocks/>
          </p:cNvCxnSpPr>
          <p:nvPr/>
        </p:nvCxnSpPr>
        <p:spPr>
          <a:xfrm flipV="1">
            <a:off x="15782452" y="1189324"/>
            <a:ext cx="1220726" cy="549978"/>
          </a:xfrm>
          <a:prstGeom prst="straightConnector1">
            <a:avLst/>
          </a:prstGeom>
          <a:ln w="3810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13F5FA36-AA3D-D246-8988-B1A1A8C35274}"/>
              </a:ext>
            </a:extLst>
          </p:cNvPr>
          <p:cNvSpPr txBox="1"/>
          <p:nvPr/>
        </p:nvSpPr>
        <p:spPr>
          <a:xfrm>
            <a:off x="13437454" y="1985834"/>
            <a:ext cx="112943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시스템 서체 일반체"/>
              <a:buChar char="o"/>
            </a:pPr>
            <a:r>
              <a:rPr kumimoji="1" lang="en-US" altLang="ko-Kore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Photon arrival time depends on the ice property and relative position between DOM and muon track.</a:t>
            </a:r>
          </a:p>
          <a:p>
            <a:pPr marL="342900" indent="-342900">
              <a:buFont typeface="시스템 서체 일반체"/>
              <a:buChar char="o"/>
            </a:pPr>
            <a:r>
              <a:rPr lang="en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Studies have motivated the use of the </a:t>
            </a:r>
            <a:r>
              <a:rPr lang="en" altLang="ko-K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Pandel</a:t>
            </a:r>
            <a:r>
              <a:rPr lang="en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function to model the photon arrival time</a:t>
            </a:r>
            <a:endParaRPr kumimoji="1" lang="en-US" altLang="ko-Kore-K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F5FB827-80B3-5C48-A856-C001808D5B74}"/>
              </a:ext>
            </a:extLst>
          </p:cNvPr>
          <p:cNvSpPr txBox="1"/>
          <p:nvPr/>
        </p:nvSpPr>
        <p:spPr>
          <a:xfrm>
            <a:off x="18104724" y="3997781"/>
            <a:ext cx="60071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ore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Scattering length , Absorption length, is fixed to the values following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3EDCE35-168E-E14E-8516-62D90C3B0305}"/>
              </a:ext>
            </a:extLst>
          </p:cNvPr>
          <p:cNvSpPr txBox="1"/>
          <p:nvPr/>
        </p:nvSpPr>
        <p:spPr>
          <a:xfrm>
            <a:off x="18066582" y="4912854"/>
            <a:ext cx="60071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ore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free parameter is </a:t>
            </a:r>
            <a:r>
              <a:rPr kumimoji="1" lang="en-US" altLang="ko-Kore-KR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kumimoji="1" lang="en-US" altLang="ko-Kore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distance between the track and DOM.</a:t>
            </a:r>
          </a:p>
        </p:txBody>
      </p:sp>
      <p:sp>
        <p:nvSpPr>
          <p:cNvPr id="75" name="모서리가 둥근 직사각형 74">
            <a:extLst>
              <a:ext uri="{FF2B5EF4-FFF2-40B4-BE49-F238E27FC236}">
                <a16:creationId xmlns:a16="http://schemas.microsoft.com/office/drawing/2014/main" id="{CF498202-5E25-A94C-85D1-93CBF04DCE96}"/>
              </a:ext>
            </a:extLst>
          </p:cNvPr>
          <p:cNvSpPr/>
          <p:nvPr/>
        </p:nvSpPr>
        <p:spPr>
          <a:xfrm>
            <a:off x="13750280" y="1587221"/>
            <a:ext cx="2150301" cy="379443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Pandel</a:t>
            </a:r>
            <a:r>
              <a:rPr kumimoji="1"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Function</a:t>
            </a:r>
            <a:endParaRPr kumimoji="1" lang="ko-KR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53B69791-34BA-8F40-99D4-698B106BEED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70411" y="3926966"/>
            <a:ext cx="2734564" cy="1966967"/>
          </a:xfrm>
          <a:prstGeom prst="rect">
            <a:avLst/>
          </a:prstGeom>
        </p:spPr>
      </p:pic>
      <p:sp>
        <p:nvSpPr>
          <p:cNvPr id="77" name="TextBox 76">
            <a:extLst>
              <a:ext uri="{FF2B5EF4-FFF2-40B4-BE49-F238E27FC236}">
                <a16:creationId xmlns:a16="http://schemas.microsoft.com/office/drawing/2014/main" id="{33DFD55A-F22A-4341-AF0B-017B9EBE4A9F}"/>
              </a:ext>
            </a:extLst>
          </p:cNvPr>
          <p:cNvSpPr txBox="1"/>
          <p:nvPr/>
        </p:nvSpPr>
        <p:spPr>
          <a:xfrm>
            <a:off x="-560809" y="6047294"/>
            <a:ext cx="46112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2"/>
            <a:r>
              <a:rPr kumimoji="1" lang="en-US" altLang="ko-KR" sz="1100" b="1" dirty="0">
                <a:latin typeface="Helvetica" pitchFamily="2" charset="0"/>
                <a:cs typeface="Times New Roman" panose="02020603050405020304" pitchFamily="18" charset="0"/>
              </a:rPr>
              <a:t>Example </a:t>
            </a:r>
          </a:p>
        </p:txBody>
      </p:sp>
      <p:sp>
        <p:nvSpPr>
          <p:cNvPr id="78" name="모서리가 둥근 직사각형 77">
            <a:extLst>
              <a:ext uri="{FF2B5EF4-FFF2-40B4-BE49-F238E27FC236}">
                <a16:creationId xmlns:a16="http://schemas.microsoft.com/office/drawing/2014/main" id="{6A2A5E29-138C-FE4B-8E7C-8698EDFD6150}"/>
              </a:ext>
            </a:extLst>
          </p:cNvPr>
          <p:cNvSpPr/>
          <p:nvPr/>
        </p:nvSpPr>
        <p:spPr>
          <a:xfrm>
            <a:off x="6362392" y="4460550"/>
            <a:ext cx="2344732" cy="839386"/>
          </a:xfrm>
          <a:prstGeom prst="roundRect">
            <a:avLst>
              <a:gd name="adj" fmla="val 8014"/>
            </a:avLst>
          </a:prstGeom>
          <a:solidFill>
            <a:schemeClr val="accent5">
              <a:lumMod val="40000"/>
              <a:lumOff val="60000"/>
            </a:schemeClr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600" b="1" dirty="0">
                <a:solidFill>
                  <a:schemeClr val="tx1"/>
                </a:solidFill>
              </a:rPr>
              <a:t>Arrival Time Based</a:t>
            </a:r>
          </a:p>
          <a:p>
            <a:pPr algn="ctr"/>
            <a:r>
              <a:rPr kumimoji="1" lang="en-US" altLang="ko-KR" sz="1600" b="1" dirty="0">
                <a:solidFill>
                  <a:schemeClr val="tx1"/>
                </a:solidFill>
              </a:rPr>
              <a:t>Likelihood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1193B66-015A-E644-8C98-E963376DAAC7}"/>
                  </a:ext>
                </a:extLst>
              </p:cNvPr>
              <p:cNvSpPr txBox="1"/>
              <p:nvPr/>
            </p:nvSpPr>
            <p:spPr>
              <a:xfrm>
                <a:off x="12808682" y="3796918"/>
                <a:ext cx="2834750" cy="33861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825F15A7-03F4-43D7-82C5-3E23DA2F108C}" type="mathplaceholder">
                        <a:rPr kumimoji="1" lang="ko-KR" altLang="en-US" i="1" spc="-7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a:t>여기에</a:t>
                      </a:fld>
                      <a:fld id="{825F15A7-03F4-43D7-82C5-3E23DA2F108C}" type="mathplaceholder">
                        <a:rPr kumimoji="1" lang="ko-KR" altLang="en-US" i="1" spc="-7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a:t> </a:t>
                      </a:fld>
                      <a:fld id="{825F15A7-03F4-43D7-82C5-3E23DA2F108C}" type="mathplaceholder">
                        <a:rPr kumimoji="1" lang="ko-KR" altLang="en-US" i="1" spc="-7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a:t>수식을</a:t>
                      </a:fld>
                      <a:fld id="{825F15A7-03F4-43D7-82C5-3E23DA2F108C}" type="mathplaceholder">
                        <a:rPr kumimoji="1" lang="ko-KR" altLang="en-US" i="1" spc="-7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a:t> </a:t>
                      </a:fld>
                      <a:fld id="{825F15A7-03F4-43D7-82C5-3E23DA2F108C}" type="mathplaceholder">
                        <a:rPr kumimoji="1" lang="ko-KR" altLang="en-US" i="1" spc="-7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a:t>입력하십시오</a:t>
                      </a:fld>
                      <a:fld id="{825F15A7-03F4-43D7-82C5-3E23DA2F108C}" type="mathplaceholder">
                        <a:rPr kumimoji="1" lang="ko-KR" altLang="en-US" i="1" spc="-7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a:t>.</a:t>
                      </a:fld>
                    </m:oMath>
                  </m:oMathPara>
                </a14:m>
                <a:endParaRPr kumimoji="1" lang="ko-KR" altLang="en-US" spc="-7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1193B66-015A-E644-8C98-E963376DAA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08682" y="3796918"/>
                <a:ext cx="2834750" cy="338619"/>
              </a:xfrm>
              <a:prstGeom prst="rect">
                <a:avLst/>
              </a:prstGeom>
              <a:blipFill>
                <a:blip r:embed="rId12"/>
                <a:stretch>
                  <a:fillRect l="-2679" r="-1339" b="-2592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0" name="TextBox 79">
            <a:extLst>
              <a:ext uri="{FF2B5EF4-FFF2-40B4-BE49-F238E27FC236}">
                <a16:creationId xmlns:a16="http://schemas.microsoft.com/office/drawing/2014/main" id="{F04EC158-A605-744A-8CDA-83A0379F9FDC}"/>
              </a:ext>
            </a:extLst>
          </p:cNvPr>
          <p:cNvSpPr txBox="1"/>
          <p:nvPr/>
        </p:nvSpPr>
        <p:spPr>
          <a:xfrm>
            <a:off x="1804189" y="2407675"/>
            <a:ext cx="80933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2"/>
            <a:r>
              <a:rPr kumimoji="1"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 Regression Model using Neural Network</a:t>
            </a:r>
          </a:p>
        </p:txBody>
      </p:sp>
      <p:cxnSp>
        <p:nvCxnSpPr>
          <p:cNvPr id="82" name="직선 연결선[R] 81">
            <a:extLst>
              <a:ext uri="{FF2B5EF4-FFF2-40B4-BE49-F238E27FC236}">
                <a16:creationId xmlns:a16="http://schemas.microsoft.com/office/drawing/2014/main" id="{99770DC0-9126-7247-BE8D-EAC25F25336C}"/>
              </a:ext>
            </a:extLst>
          </p:cNvPr>
          <p:cNvCxnSpPr>
            <a:cxnSpLocks/>
          </p:cNvCxnSpPr>
          <p:nvPr/>
        </p:nvCxnSpPr>
        <p:spPr>
          <a:xfrm flipV="1">
            <a:off x="8644708" y="3817050"/>
            <a:ext cx="739305" cy="652822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직선 연결선[R] 82">
            <a:extLst>
              <a:ext uri="{FF2B5EF4-FFF2-40B4-BE49-F238E27FC236}">
                <a16:creationId xmlns:a16="http://schemas.microsoft.com/office/drawing/2014/main" id="{55F59AFF-3208-8942-9A3A-86F359003AA3}"/>
              </a:ext>
            </a:extLst>
          </p:cNvPr>
          <p:cNvCxnSpPr>
            <a:cxnSpLocks/>
          </p:cNvCxnSpPr>
          <p:nvPr/>
        </p:nvCxnSpPr>
        <p:spPr>
          <a:xfrm flipH="1" flipV="1">
            <a:off x="8704717" y="5271796"/>
            <a:ext cx="741062" cy="653770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직선 연결선[R] 83">
            <a:extLst>
              <a:ext uri="{FF2B5EF4-FFF2-40B4-BE49-F238E27FC236}">
                <a16:creationId xmlns:a16="http://schemas.microsoft.com/office/drawing/2014/main" id="{B409618A-E891-6948-ADCC-3CAD6C88D046}"/>
              </a:ext>
            </a:extLst>
          </p:cNvPr>
          <p:cNvCxnSpPr>
            <a:cxnSpLocks/>
          </p:cNvCxnSpPr>
          <p:nvPr/>
        </p:nvCxnSpPr>
        <p:spPr>
          <a:xfrm flipH="1" flipV="1">
            <a:off x="3093292" y="3802769"/>
            <a:ext cx="741062" cy="653770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직선 연결선[R] 84">
            <a:extLst>
              <a:ext uri="{FF2B5EF4-FFF2-40B4-BE49-F238E27FC236}">
                <a16:creationId xmlns:a16="http://schemas.microsoft.com/office/drawing/2014/main" id="{0A83613C-0395-0E48-B6F5-FE2217F6DAE8}"/>
              </a:ext>
            </a:extLst>
          </p:cNvPr>
          <p:cNvCxnSpPr>
            <a:cxnSpLocks/>
          </p:cNvCxnSpPr>
          <p:nvPr/>
        </p:nvCxnSpPr>
        <p:spPr>
          <a:xfrm flipV="1">
            <a:off x="3152333" y="5311864"/>
            <a:ext cx="739305" cy="652822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36EE8EDB-774C-5046-89EF-0CDB5524C96B}"/>
              </a:ext>
            </a:extLst>
          </p:cNvPr>
          <p:cNvSpPr txBox="1"/>
          <p:nvPr/>
        </p:nvSpPr>
        <p:spPr>
          <a:xfrm>
            <a:off x="10084372" y="6047294"/>
            <a:ext cx="46112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2"/>
            <a:r>
              <a:rPr kumimoji="1" lang="en-US" altLang="ko-KR" sz="1100" b="1" dirty="0">
                <a:latin typeface="Helvetica" pitchFamily="2" charset="0"/>
                <a:cs typeface="Times New Roman" panose="02020603050405020304" pitchFamily="18" charset="0"/>
              </a:rPr>
              <a:t>Example 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CC56CC7F-0958-2341-904B-BEDFBC58C2A9}"/>
              </a:ext>
            </a:extLst>
          </p:cNvPr>
          <p:cNvSpPr txBox="1"/>
          <p:nvPr/>
        </p:nvSpPr>
        <p:spPr>
          <a:xfrm>
            <a:off x="9478401" y="6237827"/>
            <a:ext cx="46112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2"/>
            <a:r>
              <a:rPr kumimoji="1" lang="en-US" altLang="ko-KR" sz="1100" b="1" dirty="0">
                <a:latin typeface="Helvetica" pitchFamily="2" charset="0"/>
                <a:cs typeface="Times New Roman" panose="02020603050405020304" pitchFamily="18" charset="0"/>
              </a:rPr>
              <a:t>Detail in Appendix</a:t>
            </a:r>
          </a:p>
        </p:txBody>
      </p:sp>
      <p:cxnSp>
        <p:nvCxnSpPr>
          <p:cNvPr id="88" name="직선 화살표 연결선 87">
            <a:extLst>
              <a:ext uri="{FF2B5EF4-FFF2-40B4-BE49-F238E27FC236}">
                <a16:creationId xmlns:a16="http://schemas.microsoft.com/office/drawing/2014/main" id="{719AE23A-8193-7D46-835E-3FB49A3B59AC}"/>
              </a:ext>
            </a:extLst>
          </p:cNvPr>
          <p:cNvCxnSpPr>
            <a:cxnSpLocks/>
          </p:cNvCxnSpPr>
          <p:nvPr/>
        </p:nvCxnSpPr>
        <p:spPr>
          <a:xfrm>
            <a:off x="6236395" y="5485193"/>
            <a:ext cx="0" cy="703686"/>
          </a:xfrm>
          <a:prstGeom prst="straightConnector1">
            <a:avLst/>
          </a:prstGeom>
          <a:ln w="412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TextBox 88">
            <a:extLst>
              <a:ext uri="{FF2B5EF4-FFF2-40B4-BE49-F238E27FC236}">
                <a16:creationId xmlns:a16="http://schemas.microsoft.com/office/drawing/2014/main" id="{4CEAF895-26D0-A34E-9C26-0950200DF073}"/>
              </a:ext>
            </a:extLst>
          </p:cNvPr>
          <p:cNvSpPr txBox="1"/>
          <p:nvPr/>
        </p:nvSpPr>
        <p:spPr>
          <a:xfrm>
            <a:off x="-560809" y="6293163"/>
            <a:ext cx="46112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2"/>
            <a:r>
              <a:rPr kumimoji="1" lang="en-US" altLang="ko-KR" sz="1100" b="1" dirty="0">
                <a:latin typeface="Helvetica" pitchFamily="2" charset="0"/>
                <a:cs typeface="Times New Roman" panose="02020603050405020304" pitchFamily="18" charset="0"/>
              </a:rPr>
              <a:t>Many other Network exists</a:t>
            </a:r>
          </a:p>
        </p:txBody>
      </p:sp>
      <p:cxnSp>
        <p:nvCxnSpPr>
          <p:cNvPr id="90" name="직선 화살표 연결선 89">
            <a:extLst>
              <a:ext uri="{FF2B5EF4-FFF2-40B4-BE49-F238E27FC236}">
                <a16:creationId xmlns:a16="http://schemas.microsoft.com/office/drawing/2014/main" id="{D7CBC107-98B0-7D40-B60C-204BCBA8203B}"/>
              </a:ext>
            </a:extLst>
          </p:cNvPr>
          <p:cNvCxnSpPr>
            <a:cxnSpLocks/>
          </p:cNvCxnSpPr>
          <p:nvPr/>
        </p:nvCxnSpPr>
        <p:spPr>
          <a:xfrm>
            <a:off x="6246013" y="3580854"/>
            <a:ext cx="0" cy="703686"/>
          </a:xfrm>
          <a:prstGeom prst="straightConnector1">
            <a:avLst/>
          </a:prstGeom>
          <a:ln w="412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69080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그림 89">
            <a:extLst>
              <a:ext uri="{FF2B5EF4-FFF2-40B4-BE49-F238E27FC236}">
                <a16:creationId xmlns:a16="http://schemas.microsoft.com/office/drawing/2014/main" id="{2EF81286-B193-0549-9856-F0248EA5B8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2764" y="1123385"/>
            <a:ext cx="4082231" cy="3063887"/>
          </a:xfrm>
          <a:prstGeom prst="rect">
            <a:avLst/>
          </a:prstGeom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77B2F82-531A-EA41-941C-17071486B50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113837" y="814498"/>
            <a:ext cx="2743200" cy="365125"/>
          </a:xfrm>
        </p:spPr>
        <p:txBody>
          <a:bodyPr/>
          <a:lstStyle/>
          <a:p>
            <a:fld id="{683A3AC8-7E39-1245-98E2-08D56C5B5689}" type="slidenum">
              <a:rPr kumimoji="1" lang="ko-Kore-KR" altLang="en-US" smtClean="0"/>
              <a:t>18</a:t>
            </a:fld>
            <a:endParaRPr kumimoji="1" lang="ko-Kore-KR" altLang="en-US"/>
          </a:p>
        </p:txBody>
      </p:sp>
      <p:cxnSp>
        <p:nvCxnSpPr>
          <p:cNvPr id="4" name="직선 연결선[R] 3">
            <a:extLst>
              <a:ext uri="{FF2B5EF4-FFF2-40B4-BE49-F238E27FC236}">
                <a16:creationId xmlns:a16="http://schemas.microsoft.com/office/drawing/2014/main" id="{8ACD5E43-4406-0547-9F25-E5BAE9F992AF}"/>
              </a:ext>
            </a:extLst>
          </p:cNvPr>
          <p:cNvCxnSpPr>
            <a:cxnSpLocks/>
          </p:cNvCxnSpPr>
          <p:nvPr/>
        </p:nvCxnSpPr>
        <p:spPr>
          <a:xfrm>
            <a:off x="334963" y="1101344"/>
            <a:ext cx="11522075" cy="0"/>
          </a:xfrm>
          <a:prstGeom prst="line">
            <a:avLst/>
          </a:prstGeom>
          <a:ln w="19050">
            <a:gradFill flip="none" rotWithShape="1">
              <a:gsLst>
                <a:gs pos="0">
                  <a:schemeClr val="bg1"/>
                </a:gs>
                <a:gs pos="39000">
                  <a:srgbClr val="76D6FF"/>
                </a:gs>
                <a:gs pos="99000">
                  <a:schemeClr val="accent5">
                    <a:lumMod val="75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55829DB6-98BD-614C-82C4-EEC75995F310}"/>
              </a:ext>
            </a:extLst>
          </p:cNvPr>
          <p:cNvSpPr txBox="1"/>
          <p:nvPr/>
        </p:nvSpPr>
        <p:spPr>
          <a:xfrm>
            <a:off x="1146580" y="266600"/>
            <a:ext cx="6015582" cy="3282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en-US" altLang="ko-KR" sz="1400" spc="-70" dirty="0">
                <a:solidFill>
                  <a:schemeClr val="tx1">
                    <a:lumMod val="95000"/>
                    <a:lumOff val="5000"/>
                  </a:schemeClr>
                </a:solidFill>
                <a:latin typeface="Helvetica Neue Medium" panose="02000503000000020004" pitchFamily="2" charset="0"/>
                <a:cs typeface="Helvetica Neue Medium" panose="02000503000000020004" pitchFamily="2" charset="0"/>
              </a:rPr>
              <a:t>JANUS Design &amp; Architecture</a:t>
            </a:r>
            <a:endParaRPr kumimoji="1" lang="ko-KR" altLang="en-US" sz="1400" spc="-70" dirty="0">
              <a:solidFill>
                <a:schemeClr val="tx1">
                  <a:lumMod val="95000"/>
                  <a:lumOff val="5000"/>
                </a:schemeClr>
              </a:solidFill>
              <a:latin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D321DE3-6BA4-1343-8CC3-8A9CB74C1965}"/>
              </a:ext>
            </a:extLst>
          </p:cNvPr>
          <p:cNvSpPr/>
          <p:nvPr/>
        </p:nvSpPr>
        <p:spPr>
          <a:xfrm>
            <a:off x="334963" y="294833"/>
            <a:ext cx="811617" cy="811617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5000"/>
                  <a:alpha val="95051"/>
                </a:schemeClr>
              </a:gs>
              <a:gs pos="23000">
                <a:schemeClr val="accent5">
                  <a:lumMod val="40000"/>
                  <a:lumOff val="60000"/>
                </a:schemeClr>
              </a:gs>
              <a:gs pos="49000">
                <a:srgbClr val="76A6D2"/>
              </a:gs>
              <a:gs pos="76000">
                <a:schemeClr val="accent5">
                  <a:lumMod val="7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2800" b="1" dirty="0">
                <a:solidFill>
                  <a:schemeClr val="bg1">
                    <a:lumMod val="9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04</a:t>
            </a:r>
            <a:endParaRPr kumimoji="1" lang="ko-KR" altLang="en-US" sz="2800" b="1" dirty="0">
              <a:solidFill>
                <a:schemeClr val="bg1">
                  <a:lumMod val="95000"/>
                </a:schemeClr>
              </a:solidFill>
              <a:latin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26EDAB15-C1FA-C246-A081-04E2DF2AFDCD}"/>
              </a:ext>
            </a:extLst>
          </p:cNvPr>
          <p:cNvSpPr txBox="1">
            <a:spLocks/>
          </p:cNvSpPr>
          <p:nvPr/>
        </p:nvSpPr>
        <p:spPr>
          <a:xfrm>
            <a:off x="1146580" y="500687"/>
            <a:ext cx="9898840" cy="631869"/>
          </a:xfrm>
          <a:prstGeom prst="rect">
            <a:avLst/>
          </a:prstGeom>
        </p:spPr>
        <p:txBody>
          <a:bodyPr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en-US" sz="5000" b="1" spc="-150" dirty="0">
                <a:latin typeface="Helvetica Neue" panose="02000503000000020004" pitchFamily="2" charset="0"/>
                <a:cs typeface="Helvetica Neue" panose="02000503000000020004" pitchFamily="2" charset="0"/>
              </a:rPr>
              <a:t>Training Objective</a:t>
            </a:r>
            <a:endParaRPr kumimoji="1" lang="ko-Kore-KR" altLang="en-US" sz="5000" b="1" spc="-150" dirty="0">
              <a:latin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6" name="위쪽 화살표[U] 15">
            <a:extLst>
              <a:ext uri="{FF2B5EF4-FFF2-40B4-BE49-F238E27FC236}">
                <a16:creationId xmlns:a16="http://schemas.microsoft.com/office/drawing/2014/main" id="{6513C494-9AE7-C444-9115-5E474302177E}"/>
              </a:ext>
            </a:extLst>
          </p:cNvPr>
          <p:cNvSpPr/>
          <p:nvPr/>
        </p:nvSpPr>
        <p:spPr>
          <a:xfrm rot="3861985">
            <a:off x="-939033" y="3691820"/>
            <a:ext cx="415636" cy="796729"/>
          </a:xfrm>
          <a:prstGeom prst="up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DACFEA74-233B-0940-8D35-CAD1939A91A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129" t="5229" r="49530" b="16579"/>
          <a:stretch/>
        </p:blipFill>
        <p:spPr bwMode="auto">
          <a:xfrm>
            <a:off x="7750158" y="-5393896"/>
            <a:ext cx="3418057" cy="2475613"/>
          </a:xfrm>
          <a:prstGeom prst="rect">
            <a:avLst/>
          </a:prstGeom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9A6494AD-2D6E-884E-845F-94E28EC2D975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46544"/>
          <a:stretch/>
        </p:blipFill>
        <p:spPr>
          <a:xfrm>
            <a:off x="13977564" y="5361303"/>
            <a:ext cx="4588016" cy="1379576"/>
          </a:xfrm>
          <a:prstGeom prst="rect">
            <a:avLst/>
          </a:prstGeom>
        </p:spPr>
      </p:pic>
      <p:sp>
        <p:nvSpPr>
          <p:cNvPr id="20" name="타원 19">
            <a:extLst>
              <a:ext uri="{FF2B5EF4-FFF2-40B4-BE49-F238E27FC236}">
                <a16:creationId xmlns:a16="http://schemas.microsoft.com/office/drawing/2014/main" id="{E50273F9-BF84-3548-8F73-057ECDE0EDB6}"/>
              </a:ext>
            </a:extLst>
          </p:cNvPr>
          <p:cNvSpPr/>
          <p:nvPr/>
        </p:nvSpPr>
        <p:spPr>
          <a:xfrm>
            <a:off x="13517447" y="8052336"/>
            <a:ext cx="58700" cy="587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60547830-87CB-B841-A675-CA3E3B690612}"/>
              </a:ext>
            </a:extLst>
          </p:cNvPr>
          <p:cNvSpPr/>
          <p:nvPr/>
        </p:nvSpPr>
        <p:spPr>
          <a:xfrm>
            <a:off x="15464248" y="8549758"/>
            <a:ext cx="58700" cy="587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031E421C-716D-5840-83ED-08BF4440A6B2}"/>
              </a:ext>
            </a:extLst>
          </p:cNvPr>
          <p:cNvSpPr/>
          <p:nvPr/>
        </p:nvSpPr>
        <p:spPr>
          <a:xfrm>
            <a:off x="14566200" y="8317016"/>
            <a:ext cx="58700" cy="587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F15427B7-0821-174C-BEDB-471B893F1994}"/>
              </a:ext>
            </a:extLst>
          </p:cNvPr>
          <p:cNvCxnSpPr>
            <a:cxnSpLocks/>
          </p:cNvCxnSpPr>
          <p:nvPr/>
        </p:nvCxnSpPr>
        <p:spPr>
          <a:xfrm flipV="1">
            <a:off x="7635165" y="3118445"/>
            <a:ext cx="430521" cy="1627551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F61862E4-E3D4-4B40-AD4C-29F41FD38A34}"/>
              </a:ext>
            </a:extLst>
          </p:cNvPr>
          <p:cNvCxnSpPr>
            <a:cxnSpLocks/>
            <a:stCxn id="62" idx="0"/>
          </p:cNvCxnSpPr>
          <p:nvPr/>
        </p:nvCxnSpPr>
        <p:spPr>
          <a:xfrm flipH="1" flipV="1">
            <a:off x="9878931" y="2078091"/>
            <a:ext cx="209882" cy="2519890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59B09D9A-F145-3440-B8E7-7252C2C33EB4}"/>
              </a:ext>
            </a:extLst>
          </p:cNvPr>
          <p:cNvCxnSpPr>
            <a:cxnSpLocks/>
          </p:cNvCxnSpPr>
          <p:nvPr/>
        </p:nvCxnSpPr>
        <p:spPr>
          <a:xfrm>
            <a:off x="13546797" y="8119683"/>
            <a:ext cx="1869766" cy="43007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BE86CAC7-6EBA-7340-9404-9F5BE8EED23F}"/>
                  </a:ext>
                </a:extLst>
              </p:cNvPr>
              <p:cNvSpPr txBox="1"/>
              <p:nvPr/>
            </p:nvSpPr>
            <p:spPr>
              <a:xfrm>
                <a:off x="1588947" y="2454923"/>
                <a:ext cx="3477490" cy="32842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600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600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e>
                        <m:sub>
                          <m:r>
                            <a:rPr kumimoji="1" lang="en-US" altLang="ko-KR" sz="1600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𝐶𝐹𝑀</m:t>
                          </m:r>
                        </m:sub>
                      </m:sSub>
                      <m:r>
                        <a:rPr kumimoji="1" lang="en-US" altLang="ko-KR" sz="1600" b="0" i="1" spc="-7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ko-KR" sz="1600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600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𝐸</m:t>
                          </m:r>
                        </m:e>
                        <m:sub>
                          <m:d>
                            <m:dPr>
                              <m:begChr m:val="{"/>
                              <m:endChr m:val="}"/>
                              <m:ctrlPr>
                                <a:rPr kumimoji="1" lang="en-US" altLang="ko-KR" sz="1600" b="0" i="1" spc="-70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ko-KR" sz="1600" b="0" i="1" spc="-70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  <m:r>
                                <a:rPr kumimoji="1" lang="en-US" altLang="ko-KR" sz="1600" b="0" i="1" spc="-70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kumimoji="1" lang="en-US" altLang="ko-KR" sz="1600" b="0" i="1" spc="-70" smtClean="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ko-KR" sz="1600" b="0" i="1" spc="-70" smtClean="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1" lang="en-US" altLang="ko-KR" sz="1600" b="0" i="1" spc="-70" smtClean="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kumimoji="1" lang="en-US" altLang="ko-KR" sz="1600" b="0" i="1" spc="-70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kumimoji="1" lang="en-US" altLang="ko-KR" sz="1600" b="0" i="1" spc="-70" smtClean="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ko-KR" sz="1600" b="0" i="1" spc="-70" smtClean="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1" lang="en-US" altLang="ko-KR" sz="1600" b="0" i="1" spc="-70" smtClean="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sub>
                      </m:sSub>
                      <m:r>
                        <a:rPr kumimoji="1" lang="en-US" altLang="ko-KR" sz="1600" b="0" i="1" spc="-7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sSup>
                        <m:sSupPr>
                          <m:ctrlPr>
                            <a:rPr kumimoji="1" lang="en-US" altLang="ko-KR" sz="1600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kumimoji="1" lang="en-US" altLang="ko-KR" sz="1600" b="0" i="1" spc="-70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1" lang="en-US" altLang="ko-KR" sz="1600" b="0" i="1" spc="-70" smtClean="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ko-KR" sz="1600" b="0" i="1" spc="-70" smtClean="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kumimoji="1" lang="en-US" altLang="ko-KR" sz="1600" b="0" i="1" spc="-70" smtClean="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kumimoji="1" lang="en-US" altLang="ko-KR" sz="1600" b="0" i="1" spc="-70" smtClean="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kumimoji="1" lang="en-US" altLang="ko-KR" sz="1600" b="0" i="1" spc="-70" smtClean="0">
                                          <a:solidFill>
                                            <a:schemeClr val="tx1">
                                              <a:lumMod val="95000"/>
                                              <a:lumOff val="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ko-KR" sz="1600" b="0" i="1" spc="-70" smtClean="0">
                                          <a:solidFill>
                                            <a:schemeClr val="tx1">
                                              <a:lumMod val="95000"/>
                                              <a:lumOff val="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kumimoji="1" lang="en-US" altLang="ko-KR" sz="1600" b="0" i="1" spc="-70" smtClean="0">
                                          <a:solidFill>
                                            <a:schemeClr val="tx1">
                                              <a:lumMod val="95000"/>
                                              <a:lumOff val="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kumimoji="1" lang="en-US" altLang="ko-KR" sz="1600" b="0" i="1" spc="-70" smtClean="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, </m:t>
                                  </m:r>
                                  <m:r>
                                    <a:rPr kumimoji="1" lang="en-US" altLang="ko-KR" sz="1600" b="0" i="1" spc="-70" smtClean="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kumimoji="1" lang="en-US" altLang="ko-KR" sz="1600" b="0" i="1" spc="-70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kumimoji="1" lang="en-US" altLang="ko-KR" sz="1600" b="0" i="1" spc="-70" smtClean="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ko-KR" sz="1600" b="0" i="1" spc="-70" smtClean="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kumimoji="1" lang="en-US" altLang="ko-KR" sz="1600" b="0" i="1" spc="-70" smtClean="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d>
                                <m:dPr>
                                  <m:endChr m:val="|"/>
                                  <m:ctrlPr>
                                    <a:rPr kumimoji="1" lang="en-US" altLang="ko-KR" sz="1600" b="0" i="1" spc="-70" smtClean="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kumimoji="1" lang="en-US" altLang="ko-KR" sz="1600" b="0" i="1" spc="-70" smtClean="0">
                                          <a:solidFill>
                                            <a:schemeClr val="tx1">
                                              <a:lumMod val="95000"/>
                                              <a:lumOff val="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ko-KR" sz="1600" b="0" i="1" spc="-70" smtClean="0">
                                          <a:solidFill>
                                            <a:schemeClr val="tx1">
                                              <a:lumMod val="95000"/>
                                              <a:lumOff val="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kumimoji="1" lang="en-US" altLang="ko-KR" sz="1600" b="0" i="1" spc="-70" smtClean="0">
                                          <a:solidFill>
                                            <a:schemeClr val="tx1">
                                              <a:lumMod val="95000"/>
                                              <a:lumOff val="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kumimoji="1" lang="en-US" altLang="ko-KR" sz="1600" b="0" i="1" spc="-70" smtClean="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 </m:t>
                                  </m:r>
                                </m:e>
                              </m:d>
                              <m:sSub>
                                <m:sSubPr>
                                  <m:ctrlPr>
                                    <a:rPr kumimoji="1" lang="en-US" altLang="ko-KR" sz="1600" b="0" i="1" spc="-70" smtClean="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ko-KR" sz="1600" b="0" i="1" spc="-70" smtClean="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1" lang="en-US" altLang="ko-KR" sz="1600" b="0" i="1" spc="-70" smtClean="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kumimoji="1" lang="en-US" altLang="ko-KR" sz="1600" b="0" i="1" spc="-70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) </m:t>
                              </m:r>
                            </m:e>
                          </m:d>
                        </m:e>
                        <m:sup>
                          <m:r>
                            <a:rPr kumimoji="1" lang="en-US" altLang="ko-KR" sz="1600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kumimoji="1" lang="ko-KR" altLang="en-US" sz="1600" spc="-7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BE86CAC7-6EBA-7340-9404-9F5BE8EED2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8947" y="2454923"/>
                <a:ext cx="3477490" cy="328423"/>
              </a:xfrm>
              <a:prstGeom prst="rect">
                <a:avLst/>
              </a:prstGeom>
              <a:blipFill>
                <a:blip r:embed="rId6"/>
                <a:stretch>
                  <a:fillRect l="-1095" r="-365" b="-1851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3467B670-2381-5C41-BDE2-ACA3A003F0EF}"/>
                  </a:ext>
                </a:extLst>
              </p:cNvPr>
              <p:cNvSpPr txBox="1"/>
              <p:nvPr/>
            </p:nvSpPr>
            <p:spPr>
              <a:xfrm>
                <a:off x="1742163" y="1648906"/>
                <a:ext cx="2920671" cy="32842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600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600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e>
                        <m:sub>
                          <m:r>
                            <a:rPr kumimoji="1" lang="en-US" altLang="ko-KR" sz="1600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𝐹𝑀</m:t>
                          </m:r>
                        </m:sub>
                      </m:sSub>
                      <m:r>
                        <a:rPr kumimoji="1" lang="en-US" altLang="ko-KR" sz="1600" b="0" i="1" spc="-7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ko-KR" sz="1600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600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𝐸</m:t>
                          </m:r>
                        </m:e>
                        <m:sub>
                          <m:d>
                            <m:dPr>
                              <m:begChr m:val="{"/>
                              <m:endChr m:val="}"/>
                              <m:ctrlPr>
                                <a:rPr kumimoji="1" lang="en-US" altLang="ko-KR" sz="1600" b="0" i="1" spc="-70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ko-KR" sz="1600" b="0" i="1" spc="-70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  <m:r>
                                <a:rPr kumimoji="1" lang="en-US" altLang="ko-KR" sz="1600" b="0" i="1" spc="-70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kumimoji="1" lang="en-US" altLang="ko-KR" sz="1600" b="0" i="1" spc="-70" smtClean="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ko-KR" sz="1600" b="0" i="1" spc="-70" smtClean="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1" lang="en-US" altLang="ko-KR" sz="1600" b="0" i="1" spc="-70" smtClean="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sub>
                      </m:sSub>
                      <m:r>
                        <a:rPr kumimoji="1" lang="en-US" altLang="ko-KR" sz="1600" b="0" i="1" spc="-7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sSup>
                        <m:sSupPr>
                          <m:ctrlPr>
                            <a:rPr kumimoji="1" lang="en-US" altLang="ko-KR" sz="1600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kumimoji="1" lang="en-US" altLang="ko-KR" sz="1600" b="0" i="1" spc="-70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1" lang="en-US" altLang="ko-KR" sz="1600" b="0" i="1" spc="-70" smtClean="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ko-KR" sz="1600" b="0" i="1" spc="-70" smtClean="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kumimoji="1" lang="en-US" altLang="ko-KR" sz="1600" b="0" i="1" spc="-70" smtClean="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kumimoji="1" lang="en-US" altLang="ko-KR" sz="1600" b="0" i="1" spc="-70" smtClean="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kumimoji="1" lang="en-US" altLang="ko-KR" sz="1600" b="0" i="1" spc="-70" smtClean="0">
                                          <a:solidFill>
                                            <a:schemeClr val="tx1">
                                              <a:lumMod val="95000"/>
                                              <a:lumOff val="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ko-KR" sz="1600" b="0" i="1" spc="-70" smtClean="0">
                                          <a:solidFill>
                                            <a:schemeClr val="tx1">
                                              <a:lumMod val="95000"/>
                                              <a:lumOff val="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kumimoji="1" lang="en-US" altLang="ko-KR" sz="1600" b="0" i="1" spc="-70" smtClean="0">
                                          <a:solidFill>
                                            <a:schemeClr val="tx1">
                                              <a:lumMod val="95000"/>
                                              <a:lumOff val="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kumimoji="1" lang="en-US" altLang="ko-KR" sz="1600" b="0" i="1" spc="-70" smtClean="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, </m:t>
                                  </m:r>
                                  <m:r>
                                    <a:rPr kumimoji="1" lang="en-US" altLang="ko-KR" sz="1600" b="0" i="1" spc="-70" smtClean="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kumimoji="1" lang="en-US" altLang="ko-KR" sz="1600" b="0" i="1" spc="-70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kumimoji="1" lang="en-US" altLang="ko-KR" sz="1600" b="0" i="1" spc="-70" smtClean="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ko-KR" sz="1600" b="0" i="1" spc="-70" smtClean="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kumimoji="1" lang="en-US" altLang="ko-KR" sz="1600" b="0" i="1" spc="-70" smtClean="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kumimoji="1" lang="en-US" altLang="ko-KR" sz="1600" b="0" i="1" spc="-70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kumimoji="1" lang="en-US" altLang="ko-KR" sz="1600" b="0" i="1" spc="-70" smtClean="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ko-KR" sz="1600" b="0" i="1" spc="-70" smtClean="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1" lang="en-US" altLang="ko-KR" sz="1600" b="0" i="1" spc="-70" smtClean="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kumimoji="1" lang="en-US" altLang="ko-KR" sz="1600" b="0" i="1" spc="-70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) </m:t>
                              </m:r>
                            </m:e>
                          </m:d>
                        </m:e>
                        <m:sup>
                          <m:r>
                            <a:rPr kumimoji="1" lang="en-US" altLang="ko-KR" sz="1600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kumimoji="1" lang="ko-KR" altLang="en-US" sz="1600" spc="-7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3467B670-2381-5C41-BDE2-ACA3A003F0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2163" y="1648906"/>
                <a:ext cx="2920671" cy="328423"/>
              </a:xfrm>
              <a:prstGeom prst="rect">
                <a:avLst/>
              </a:prstGeom>
              <a:blipFill>
                <a:blip r:embed="rId7"/>
                <a:stretch>
                  <a:fillRect l="-1732" b="-1851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5C008736-66B1-184F-8B17-2CE3A57AA4E3}"/>
                  </a:ext>
                </a:extLst>
              </p:cNvPr>
              <p:cNvSpPr txBox="1"/>
              <p:nvPr/>
            </p:nvSpPr>
            <p:spPr>
              <a:xfrm>
                <a:off x="2348051" y="3118444"/>
                <a:ext cx="1532534" cy="2954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600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kumimoji="1" lang="en-US" altLang="ko-KR" sz="1600" b="0" i="1" spc="-70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kumimoji="1" lang="en-US" altLang="ko-KR" sz="1600" b="0" i="0" spc="-70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∇</m:t>
                              </m:r>
                            </m:e>
                            <m:sub>
                              <m:r>
                                <a:rPr kumimoji="1" lang="en-US" altLang="ko-KR" sz="1600" b="0" i="1" spc="-70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𝜃</m:t>
                              </m:r>
                            </m:sub>
                          </m:sSub>
                          <m:r>
                            <a:rPr kumimoji="1" lang="en-US" altLang="ko-KR" sz="1600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kumimoji="1" lang="en-US" altLang="ko-KR" sz="1600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e>
                        <m:sub>
                          <m:r>
                            <a:rPr kumimoji="1" lang="en-US" altLang="ko-KR" sz="1600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𝐹𝑀</m:t>
                          </m:r>
                        </m:sub>
                      </m:sSub>
                      <m:r>
                        <a:rPr kumimoji="1" lang="en-US" altLang="ko-KR" sz="1600" b="0" i="1" spc="-7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ko-KR" sz="1600" i="1" spc="-7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kumimoji="1" lang="en-US" altLang="ko-KR" sz="1600" i="1" spc="-7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kumimoji="1" lang="en-US" altLang="ko-KR" sz="1600" spc="-7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∇</m:t>
                              </m:r>
                            </m:e>
                            <m:sub>
                              <m:r>
                                <a:rPr kumimoji="1" lang="en-US" altLang="ko-KR" sz="1600" i="1" spc="-7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𝜃</m:t>
                              </m:r>
                            </m:sub>
                          </m:sSub>
                          <m:r>
                            <a:rPr kumimoji="1" lang="en-US" altLang="ko-KR" sz="1600" i="1" spc="-7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kumimoji="1" lang="en-US" altLang="ko-KR" sz="1600" i="1" spc="-7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e>
                        <m:sub>
                          <m:r>
                            <a:rPr kumimoji="1" lang="en-US" altLang="ko-KR" sz="1600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𝐶</m:t>
                          </m:r>
                          <m:r>
                            <a:rPr kumimoji="1" lang="en-US" altLang="ko-KR" sz="1600" i="1" spc="-7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𝐹𝑀</m:t>
                          </m:r>
                        </m:sub>
                      </m:sSub>
                    </m:oMath>
                  </m:oMathPara>
                </a14:m>
                <a:endParaRPr kumimoji="1" lang="ko-KR" altLang="en-US" sz="1600" spc="-7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5C008736-66B1-184F-8B17-2CE3A57AA4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8051" y="3118444"/>
                <a:ext cx="1532534" cy="295466"/>
              </a:xfrm>
              <a:prstGeom prst="rect">
                <a:avLst/>
              </a:prstGeom>
              <a:blipFill>
                <a:blip r:embed="rId8"/>
                <a:stretch>
                  <a:fillRect l="-2459" r="-820" b="-25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C243F362-A8A9-C849-88C2-824253B2D1B3}"/>
                  </a:ext>
                </a:extLst>
              </p:cNvPr>
              <p:cNvSpPr txBox="1"/>
              <p:nvPr/>
            </p:nvSpPr>
            <p:spPr>
              <a:xfrm>
                <a:off x="1284745" y="3589983"/>
                <a:ext cx="2643288" cy="2954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600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600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𝑝</m:t>
                          </m:r>
                        </m:e>
                        <m:sub>
                          <m:r>
                            <a:rPr kumimoji="1" lang="en-US" altLang="ko-KR" sz="1600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</m:sSub>
                      <m:d>
                        <m:dPr>
                          <m:endChr m:val="|"/>
                          <m:ctrlPr>
                            <a:rPr kumimoji="1" lang="en-US" altLang="ko-KR" sz="1600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kumimoji="1" lang="en-US" altLang="ko-KR" sz="1600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kumimoji="1" lang="en-US" altLang="ko-KR" sz="1600" b="0" i="1" spc="-70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1600" b="0" i="1" spc="-70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en-US" altLang="ko-KR" sz="1600" b="0" i="1" spc="-70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kumimoji="1" lang="en-US" altLang="ko-KR" sz="1600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e>
                      </m:d>
                      <m:sSub>
                        <m:sSubPr>
                          <m:ctrlPr>
                            <a:rPr kumimoji="1" lang="en-US" altLang="ko-KR" sz="1600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600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ko-KR" sz="1600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ko-KR" sz="1600" b="0" i="1" spc="-7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)=</m:t>
                      </m:r>
                      <m:r>
                        <a:rPr kumimoji="1" lang="en-US" altLang="ko-KR" sz="1600" b="0" i="1" spc="-7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𝑁</m:t>
                      </m:r>
                      <m:r>
                        <a:rPr kumimoji="1" lang="en-US" altLang="ko-KR" sz="1600" b="0" i="1" spc="-7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 </m:t>
                      </m:r>
                      <m:r>
                        <a:rPr kumimoji="1" lang="en-US" altLang="ko-KR" sz="1600" b="0" i="1" spc="-7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𝑡</m:t>
                      </m:r>
                      <m:sSub>
                        <m:sSubPr>
                          <m:ctrlPr>
                            <a:rPr kumimoji="1" lang="en-US" altLang="ko-KR" sz="1600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600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ko-KR" sz="1600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ko-KR" sz="1600" b="0" i="1" spc="-7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, </m:t>
                      </m:r>
                      <m:sSup>
                        <m:sSupPr>
                          <m:ctrlPr>
                            <a:rPr kumimoji="1" lang="en-US" altLang="ko-KR" sz="1600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1" lang="en-US" altLang="ko-KR" sz="1600" b="0" i="1" spc="-70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ko-KR" sz="1600" b="0" i="1" spc="-70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1−</m:t>
                              </m:r>
                              <m:r>
                                <a:rPr kumimoji="1" lang="en-US" altLang="ko-KR" sz="1600" b="0" i="1" spc="-70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  <m:sup>
                          <m:r>
                            <a:rPr kumimoji="1" lang="en-US" altLang="ko-KR" sz="1600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kumimoji="1" lang="en-US" altLang="ko-KR" sz="1600" b="0" i="1" spc="-7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𝐼</m:t>
                      </m:r>
                      <m:r>
                        <a:rPr kumimoji="1" lang="en-US" altLang="ko-KR" sz="1600" b="0" i="1" spc="-7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)</m:t>
                      </m:r>
                    </m:oMath>
                  </m:oMathPara>
                </a14:m>
                <a:endParaRPr kumimoji="1" lang="ko-KR" altLang="en-US" sz="1600" spc="-7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C243F362-A8A9-C849-88C2-824253B2D1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4745" y="3589983"/>
                <a:ext cx="2643288" cy="295466"/>
              </a:xfrm>
              <a:prstGeom prst="rect">
                <a:avLst/>
              </a:prstGeom>
              <a:blipFill>
                <a:blip r:embed="rId9"/>
                <a:stretch>
                  <a:fillRect l="-1914" r="-2392" b="-25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58545230-8985-D24D-AD5A-BDE2B9133614}"/>
                  </a:ext>
                </a:extLst>
              </p:cNvPr>
              <p:cNvSpPr txBox="1"/>
              <p:nvPr/>
            </p:nvSpPr>
            <p:spPr>
              <a:xfrm>
                <a:off x="1306133" y="4000500"/>
                <a:ext cx="3582263" cy="2954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600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600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ko-KR" sz="1600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</m:sSub>
                      <m:r>
                        <a:rPr kumimoji="1" lang="en-US" altLang="ko-KR" sz="1600" b="0" i="1" spc="-7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kumimoji="1" lang="en-US" altLang="ko-KR" sz="1600" b="0" i="1" spc="-7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𝑡</m:t>
                      </m:r>
                      <m:sSub>
                        <m:sSubPr>
                          <m:ctrlPr>
                            <a:rPr kumimoji="1" lang="en-US" altLang="ko-KR" sz="1600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600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ko-KR" sz="1600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ko-KR" sz="1600" b="0" i="1" spc="-7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d>
                        <m:dPr>
                          <m:ctrlPr>
                            <a:rPr kumimoji="1" lang="en-US" altLang="ko-KR" sz="1600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kumimoji="1" lang="en-US" altLang="ko-KR" sz="1600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1−</m:t>
                          </m:r>
                          <m:r>
                            <a:rPr kumimoji="1" lang="en-US" altLang="ko-KR" sz="1600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</m:d>
                      <m:sSub>
                        <m:sSubPr>
                          <m:ctrlPr>
                            <a:rPr kumimoji="1" lang="en-US" altLang="ko-KR" sz="1600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600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ko-KR" sz="1600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kumimoji="1" lang="en-US" altLang="ko-KR" sz="1600" b="0" i="1" spc="-7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~ </m:t>
                      </m:r>
                      <m:r>
                        <a:rPr kumimoji="1" lang="en-US" altLang="ko-KR" sz="1600" b="0" i="1" spc="-7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𝑡</m:t>
                      </m:r>
                      <m:sSub>
                        <m:sSubPr>
                          <m:ctrlPr>
                            <a:rPr kumimoji="1" lang="en-US" altLang="ko-KR" sz="1600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600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ko-KR" sz="1600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ko-KR" sz="1600" b="0" i="1" spc="-7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d>
                        <m:dPr>
                          <m:ctrlPr>
                            <a:rPr kumimoji="1" lang="en-US" altLang="ko-KR" sz="1600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kumimoji="1" lang="en-US" altLang="ko-KR" sz="1600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1−</m:t>
                          </m:r>
                          <m:r>
                            <a:rPr kumimoji="1" lang="en-US" altLang="ko-KR" sz="1600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</m:d>
                      <m:r>
                        <a:rPr kumimoji="1" lang="en-US" altLang="ko-KR" sz="1600" b="0" i="1" spc="-7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𝑁</m:t>
                      </m:r>
                      <m:r>
                        <a:rPr kumimoji="1" lang="en-US" altLang="ko-KR" sz="1600" b="0" i="1" spc="-7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(0, </m:t>
                      </m:r>
                      <m:r>
                        <a:rPr kumimoji="1" lang="en-US" altLang="ko-KR" sz="1600" b="0" i="1" spc="-7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𝐼</m:t>
                      </m:r>
                      <m:r>
                        <a:rPr kumimoji="1" lang="en-US" altLang="ko-KR" sz="1600" b="0" i="1" spc="-7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kumimoji="1" lang="ko-KR" altLang="en-US" sz="1600" spc="-7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58545230-8985-D24D-AD5A-BDE2B91336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6133" y="4000500"/>
                <a:ext cx="3582263" cy="295466"/>
              </a:xfrm>
              <a:prstGeom prst="rect">
                <a:avLst/>
              </a:prstGeom>
              <a:blipFill>
                <a:blip r:embed="rId10"/>
                <a:stretch>
                  <a:fillRect l="-353" r="-1767" b="-2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84AF264-5571-004B-997B-1D4C5B23B37B}"/>
                  </a:ext>
                </a:extLst>
              </p:cNvPr>
              <p:cNvSpPr txBox="1"/>
              <p:nvPr/>
            </p:nvSpPr>
            <p:spPr>
              <a:xfrm>
                <a:off x="1306133" y="4450530"/>
                <a:ext cx="2091983" cy="2954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kumimoji="1" lang="en-US" altLang="ko-KR" sz="1600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kumimoji="1" lang="en-US" altLang="ko-KR" sz="1600" b="0" i="1" spc="-70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1600" b="0" i="1" spc="-70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en-US" altLang="ko-KR" sz="1600" b="0" i="1" spc="-70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acc>
                      <m:r>
                        <a:rPr kumimoji="1" lang="en-US" altLang="ko-KR" sz="1600" b="0" i="1" spc="-7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ko-KR" sz="1600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600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ko-KR" sz="1600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ko-KR" sz="1600" b="0" i="1" spc="-7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kumimoji="1" lang="en-US" altLang="ko-KR" sz="1600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600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ko-KR" sz="1600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kumimoji="1" lang="en-US" altLang="ko-KR" sz="1600" b="0" i="1" spc="-7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ko-KR" sz="1600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600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𝑢</m:t>
                          </m:r>
                        </m:e>
                        <m:sub>
                          <m:r>
                            <a:rPr kumimoji="1" lang="en-US" altLang="ko-KR" sz="1600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</m:sSub>
                      <m:d>
                        <m:dPr>
                          <m:endChr m:val="|"/>
                          <m:ctrlPr>
                            <a:rPr kumimoji="1" lang="en-US" altLang="ko-KR" sz="1600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ko-KR" sz="1600" b="0" i="1" spc="-70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1600" b="0" i="1" spc="-70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en-US" altLang="ko-KR" sz="1600" b="0" i="1" spc="-70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kumimoji="1" lang="en-US" altLang="ko-KR" sz="1600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600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ko-KR" sz="1600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ko-KR" sz="1600" b="0" i="1" spc="-7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kumimoji="1" lang="ko-KR" altLang="en-US" sz="1600" spc="-7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84AF264-5571-004B-997B-1D4C5B23B3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6133" y="4450530"/>
                <a:ext cx="2091983" cy="295466"/>
              </a:xfrm>
              <a:prstGeom prst="rect">
                <a:avLst/>
              </a:prstGeom>
              <a:blipFill>
                <a:blip r:embed="rId11"/>
                <a:stretch>
                  <a:fillRect l="-1205" r="-3012" b="-25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93493842-2BB1-1C4B-9B1E-C06B598DBFEE}"/>
                  </a:ext>
                </a:extLst>
              </p:cNvPr>
              <p:cNvSpPr txBox="1"/>
              <p:nvPr/>
            </p:nvSpPr>
            <p:spPr>
              <a:xfrm>
                <a:off x="832275" y="5748844"/>
                <a:ext cx="3953005" cy="3693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e>
                        <m:sub>
                          <m:r>
                            <a:rPr kumimoji="1" lang="en-US" altLang="ko-KR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𝐶𝐹𝑀</m:t>
                          </m:r>
                        </m:sub>
                      </m:sSub>
                      <m:r>
                        <a:rPr kumimoji="1" lang="en-US" altLang="ko-KR" b="0" i="1" spc="-7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ko-KR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𝐸</m:t>
                          </m:r>
                        </m:e>
                        <m:sub>
                          <m:d>
                            <m:dPr>
                              <m:begChr m:val="{"/>
                              <m:endChr m:val="}"/>
                              <m:ctrlPr>
                                <a:rPr kumimoji="1" lang="en-US" altLang="ko-KR" b="0" i="1" spc="-70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ko-KR" b="0" i="1" spc="-70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  <m:r>
                                <a:rPr kumimoji="1" lang="en-US" altLang="ko-KR" b="0" i="1" spc="-70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kumimoji="1" lang="en-US" altLang="ko-KR" b="0" i="1" spc="-70" smtClean="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ko-KR" b="0" i="1" spc="-70" smtClean="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1" lang="en-US" altLang="ko-KR" b="0" i="1" spc="-70" smtClean="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kumimoji="1" lang="en-US" altLang="ko-KR" b="0" i="1" spc="-70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kumimoji="1" lang="en-US" altLang="ko-KR" b="0" i="1" spc="-70" smtClean="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ko-KR" b="0" i="1" spc="-70" smtClean="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1" lang="en-US" altLang="ko-KR" b="0" i="1" spc="-70" smtClean="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sub>
                      </m:sSub>
                      <m:r>
                        <a:rPr kumimoji="1" lang="en-US" altLang="ko-KR" b="0" i="1" spc="-7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sSup>
                        <m:sSupPr>
                          <m:ctrlPr>
                            <a:rPr kumimoji="1" lang="en-US" altLang="ko-KR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kumimoji="1" lang="en-US" altLang="ko-KR" b="0" i="1" spc="-70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1" lang="en-US" altLang="ko-KR" b="0" i="1" spc="-70" smtClean="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ko-KR" b="0" i="1" spc="-70" smtClean="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kumimoji="1" lang="en-US" altLang="ko-KR" b="0" i="1" spc="-70" smtClean="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kumimoji="1" lang="en-US" altLang="ko-KR" b="0" i="1" spc="-70" smtClean="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kumimoji="1" lang="en-US" altLang="ko-KR" b="0" i="1" spc="-70" smtClean="0">
                                          <a:solidFill>
                                            <a:schemeClr val="tx1">
                                              <a:lumMod val="95000"/>
                                              <a:lumOff val="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ko-KR" b="0" i="1" spc="-70" smtClean="0">
                                          <a:solidFill>
                                            <a:schemeClr val="tx1">
                                              <a:lumMod val="95000"/>
                                              <a:lumOff val="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kumimoji="1" lang="en-US" altLang="ko-KR" b="0" i="1" spc="-70" smtClean="0">
                                          <a:solidFill>
                                            <a:schemeClr val="tx1">
                                              <a:lumMod val="95000"/>
                                              <a:lumOff val="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kumimoji="1" lang="en-US" altLang="ko-KR" b="0" i="1" spc="-70" smtClean="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, </m:t>
                                  </m:r>
                                  <m:r>
                                    <a:rPr kumimoji="1" lang="en-US" altLang="ko-KR" b="0" i="1" spc="-70" smtClean="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kumimoji="1" lang="en-US" altLang="ko-KR" b="0" i="1" spc="-70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−(</m:t>
                              </m:r>
                              <m:sSub>
                                <m:sSubPr>
                                  <m:ctrlPr>
                                    <a:rPr kumimoji="1" lang="en-US" altLang="ko-KR" b="0" i="1" spc="-70" smtClean="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ko-KR" b="0" i="1" spc="-70" smtClean="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1" lang="en-US" altLang="ko-KR" b="0" i="1" spc="-70" smtClean="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kumimoji="1" lang="en-US" altLang="ko-KR" b="0" i="1" spc="-70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−</m:t>
                              </m:r>
                              <m:sSub>
                                <m:sSubPr>
                                  <m:ctrlPr>
                                    <a:rPr kumimoji="1" lang="en-US" altLang="ko-KR" b="0" i="1" spc="-70" smtClean="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ko-KR" b="0" i="1" spc="-70" smtClean="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1" lang="en-US" altLang="ko-KR" b="0" i="1" spc="-70" smtClean="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kumimoji="1" lang="en-US" altLang="ko-KR" b="0" i="1" spc="-70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) </m:t>
                              </m:r>
                            </m:e>
                          </m:d>
                        </m:e>
                        <m:sup>
                          <m:r>
                            <a:rPr kumimoji="1" lang="en-US" altLang="ko-KR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kumimoji="1" lang="ko-KR" altLang="en-US" spc="-7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93493842-2BB1-1C4B-9B1E-C06B598DBF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275" y="5748844"/>
                <a:ext cx="3953005" cy="369397"/>
              </a:xfrm>
              <a:prstGeom prst="rect">
                <a:avLst/>
              </a:prstGeom>
              <a:blipFill>
                <a:blip r:embed="rId12"/>
                <a:stretch>
                  <a:fillRect l="-962" r="-321" b="-16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9" name="그림 58">
            <a:extLst>
              <a:ext uri="{FF2B5EF4-FFF2-40B4-BE49-F238E27FC236}">
                <a16:creationId xmlns:a16="http://schemas.microsoft.com/office/drawing/2014/main" id="{932D902F-F9B5-384C-A349-4112B5DF077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73565" y="4730318"/>
            <a:ext cx="2022089" cy="1929811"/>
          </a:xfrm>
          <a:prstGeom prst="rect">
            <a:avLst/>
          </a:prstGeom>
        </p:spPr>
      </p:pic>
      <p:pic>
        <p:nvPicPr>
          <p:cNvPr id="62" name="그림 61">
            <a:extLst>
              <a:ext uri="{FF2B5EF4-FFF2-40B4-BE49-F238E27FC236}">
                <a16:creationId xmlns:a16="http://schemas.microsoft.com/office/drawing/2014/main" id="{478C61FF-B06F-F848-8D66-CA60F182CACF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961870" y="4597981"/>
            <a:ext cx="2253885" cy="214289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A03310A8-A3EA-F548-85E1-B8E98BE52351}"/>
                  </a:ext>
                </a:extLst>
              </p:cNvPr>
              <p:cNvSpPr txBox="1"/>
              <p:nvPr/>
            </p:nvSpPr>
            <p:spPr>
              <a:xfrm>
                <a:off x="13706385" y="9795022"/>
                <a:ext cx="261738" cy="3323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ko-KR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kumimoji="1" lang="ko-KR" altLang="en-US" spc="-7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A03310A8-A3EA-F548-85E1-B8E98BE523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06385" y="9795022"/>
                <a:ext cx="261738" cy="332399"/>
              </a:xfrm>
              <a:prstGeom prst="rect">
                <a:avLst/>
              </a:prstGeom>
              <a:blipFill>
                <a:blip r:embed="rId15"/>
                <a:stretch>
                  <a:fillRect l="-14286" r="-9524" b="-370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D231B1C2-75E2-484A-85DA-DF7003CD8382}"/>
                  </a:ext>
                </a:extLst>
              </p:cNvPr>
              <p:cNvSpPr txBox="1"/>
              <p:nvPr/>
            </p:nvSpPr>
            <p:spPr>
              <a:xfrm>
                <a:off x="16916767" y="9699072"/>
                <a:ext cx="256416" cy="3323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ko-KR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ko-KR" altLang="en-US" spc="-7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D231B1C2-75E2-484A-85DA-DF7003CD83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16767" y="9699072"/>
                <a:ext cx="256416" cy="332399"/>
              </a:xfrm>
              <a:prstGeom prst="rect">
                <a:avLst/>
              </a:prstGeom>
              <a:blipFill>
                <a:blip r:embed="rId16"/>
                <a:stretch>
                  <a:fillRect l="-14286" r="-476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8" name="TextBox 77">
            <a:extLst>
              <a:ext uri="{FF2B5EF4-FFF2-40B4-BE49-F238E27FC236}">
                <a16:creationId xmlns:a16="http://schemas.microsoft.com/office/drawing/2014/main" id="{AD8BA6D8-532B-B040-B9B8-1B92672094FE}"/>
              </a:ext>
            </a:extLst>
          </p:cNvPr>
          <p:cNvSpPr txBox="1"/>
          <p:nvPr/>
        </p:nvSpPr>
        <p:spPr>
          <a:xfrm>
            <a:off x="388561" y="1271939"/>
            <a:ext cx="110342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§"/>
            </a:pPr>
            <a:r>
              <a:rPr lang="en-US" altLang="ko-KR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Original objective of FM is </a:t>
            </a:r>
            <a:endParaRPr lang="en" altLang="ko-KR" sz="1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2" name="그림 81">
            <a:extLst>
              <a:ext uri="{FF2B5EF4-FFF2-40B4-BE49-F238E27FC236}">
                <a16:creationId xmlns:a16="http://schemas.microsoft.com/office/drawing/2014/main" id="{EFB13ED6-C299-8644-8E31-E0DA4D4B4833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-5307745" y="5854048"/>
            <a:ext cx="3708134" cy="2783111"/>
          </a:xfrm>
          <a:prstGeom prst="rect">
            <a:avLst/>
          </a:prstGeom>
        </p:spPr>
      </p:pic>
      <p:pic>
        <p:nvPicPr>
          <p:cNvPr id="84" name="그림 83">
            <a:extLst>
              <a:ext uri="{FF2B5EF4-FFF2-40B4-BE49-F238E27FC236}">
                <a16:creationId xmlns:a16="http://schemas.microsoft.com/office/drawing/2014/main" id="{8A1B38BD-0017-EC44-BDC1-624020DC2A52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-6588055" y="-152509"/>
            <a:ext cx="5854700" cy="4394200"/>
          </a:xfrm>
          <a:prstGeom prst="rect">
            <a:avLst/>
          </a:prstGeom>
        </p:spPr>
      </p:pic>
      <p:pic>
        <p:nvPicPr>
          <p:cNvPr id="86" name="그림 85">
            <a:extLst>
              <a:ext uri="{FF2B5EF4-FFF2-40B4-BE49-F238E27FC236}">
                <a16:creationId xmlns:a16="http://schemas.microsoft.com/office/drawing/2014/main" id="{D48D83ED-55C0-8E4A-8BC6-246F45A6A156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-6588055" y="-5634457"/>
            <a:ext cx="5854700" cy="4394200"/>
          </a:xfrm>
          <a:prstGeom prst="rect">
            <a:avLst/>
          </a:prstGeom>
        </p:spPr>
      </p:pic>
      <p:pic>
        <p:nvPicPr>
          <p:cNvPr id="88" name="그림 87">
            <a:extLst>
              <a:ext uri="{FF2B5EF4-FFF2-40B4-BE49-F238E27FC236}">
                <a16:creationId xmlns:a16="http://schemas.microsoft.com/office/drawing/2014/main" id="{A066126F-D856-DA43-872D-4004B5FDE85A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34963" y="-6002156"/>
            <a:ext cx="5854700" cy="4394200"/>
          </a:xfrm>
          <a:prstGeom prst="rect">
            <a:avLst/>
          </a:prstGeom>
        </p:spPr>
      </p:pic>
      <p:sp>
        <p:nvSpPr>
          <p:cNvPr id="91" name="TextBox 90">
            <a:extLst>
              <a:ext uri="{FF2B5EF4-FFF2-40B4-BE49-F238E27FC236}">
                <a16:creationId xmlns:a16="http://schemas.microsoft.com/office/drawing/2014/main" id="{C3B4397E-FDC2-304A-9A26-8755F1048396}"/>
              </a:ext>
            </a:extLst>
          </p:cNvPr>
          <p:cNvSpPr txBox="1"/>
          <p:nvPr/>
        </p:nvSpPr>
        <p:spPr>
          <a:xfrm>
            <a:off x="1455939" y="2062958"/>
            <a:ext cx="17923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ko-KR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however, where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335684C7-3BCD-3B43-8E38-7DEE4FA13721}"/>
                  </a:ext>
                </a:extLst>
              </p:cNvPr>
              <p:cNvSpPr txBox="1"/>
              <p:nvPr/>
            </p:nvSpPr>
            <p:spPr>
              <a:xfrm>
                <a:off x="2897370" y="2066533"/>
                <a:ext cx="80759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500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500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ko-KR" sz="1500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ko-KR" sz="1500" b="0" i="1" spc="-7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~ </m:t>
                      </m:r>
                      <m:sSub>
                        <m:sSubPr>
                          <m:ctrlPr>
                            <a:rPr kumimoji="1" lang="en-US" altLang="ko-KR" sz="1500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500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𝑞</m:t>
                          </m:r>
                        </m:e>
                        <m:sub>
                          <m:r>
                            <a:rPr kumimoji="1" lang="en-US" altLang="ko-KR" sz="1500" b="0" i="1" spc="-7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𝑑𝑎𝑡𝑎</m:t>
                          </m:r>
                        </m:sub>
                      </m:sSub>
                    </m:oMath>
                  </m:oMathPara>
                </a14:m>
                <a:endParaRPr kumimoji="1" lang="ko-KR" altLang="en-US" sz="1500" spc="-7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335684C7-3BCD-3B43-8E38-7DEE4FA137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7370" y="2066533"/>
                <a:ext cx="807593" cy="276999"/>
              </a:xfrm>
              <a:prstGeom prst="rect">
                <a:avLst/>
              </a:prstGeom>
              <a:blipFill>
                <a:blip r:embed="rId21"/>
                <a:stretch>
                  <a:fillRect l="-3125" r="-1563" b="-2173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3" name="TextBox 92">
            <a:extLst>
              <a:ext uri="{FF2B5EF4-FFF2-40B4-BE49-F238E27FC236}">
                <a16:creationId xmlns:a16="http://schemas.microsoft.com/office/drawing/2014/main" id="{D41C2AC7-14E1-2E40-869A-83A407F85F70}"/>
              </a:ext>
            </a:extLst>
          </p:cNvPr>
          <p:cNvSpPr txBox="1"/>
          <p:nvPr/>
        </p:nvSpPr>
        <p:spPr>
          <a:xfrm>
            <a:off x="388561" y="3561204"/>
            <a:ext cx="17923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§"/>
            </a:pPr>
            <a:r>
              <a:rPr lang="en" altLang="ko-KR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84E48BBB-FB99-7249-A1FF-FD0FDCD35377}"/>
              </a:ext>
            </a:extLst>
          </p:cNvPr>
          <p:cNvSpPr txBox="1"/>
          <p:nvPr/>
        </p:nvSpPr>
        <p:spPr>
          <a:xfrm>
            <a:off x="3793554" y="2048339"/>
            <a:ext cx="17923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ko-KR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 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88D2613-5070-DC41-885A-D5934F51936C}"/>
              </a:ext>
            </a:extLst>
          </p:cNvPr>
          <p:cNvSpPr txBox="1"/>
          <p:nvPr/>
        </p:nvSpPr>
        <p:spPr>
          <a:xfrm>
            <a:off x="2808778" y="2821126"/>
            <a:ext cx="17923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ko-KR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then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A5E0CB89-2D3E-DB4E-8057-73B9D09C5B30}"/>
              </a:ext>
            </a:extLst>
          </p:cNvPr>
          <p:cNvSpPr txBox="1"/>
          <p:nvPr/>
        </p:nvSpPr>
        <p:spPr>
          <a:xfrm>
            <a:off x="388561" y="5029463"/>
            <a:ext cx="76771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§"/>
            </a:pPr>
            <a:r>
              <a:rPr lang="en-US" altLang="ko-KR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conclusion our loss function is in this form</a:t>
            </a:r>
            <a:endParaRPr lang="en" altLang="ko-KR" sz="1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3" name="위로 구부러진 화살표[C] 102">
            <a:extLst>
              <a:ext uri="{FF2B5EF4-FFF2-40B4-BE49-F238E27FC236}">
                <a16:creationId xmlns:a16="http://schemas.microsoft.com/office/drawing/2014/main" id="{760A87C7-A454-D748-B041-7AC04CD6EF78}"/>
              </a:ext>
            </a:extLst>
          </p:cNvPr>
          <p:cNvSpPr/>
          <p:nvPr/>
        </p:nvSpPr>
        <p:spPr>
          <a:xfrm>
            <a:off x="4005855" y="6202316"/>
            <a:ext cx="1967738" cy="575779"/>
          </a:xfrm>
          <a:prstGeom prst="curvedUp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81432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02BFF840-EF6C-C342-9660-3AD40856DE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9618" y="2083590"/>
            <a:ext cx="7232462" cy="3139674"/>
          </a:xfrm>
          <a:prstGeom prst="rect">
            <a:avLst/>
          </a:prstGeom>
        </p:spPr>
      </p:pic>
      <p:sp>
        <p:nvSpPr>
          <p:cNvPr id="8" name="제목 1">
            <a:extLst>
              <a:ext uri="{FF2B5EF4-FFF2-40B4-BE49-F238E27FC236}">
                <a16:creationId xmlns:a16="http://schemas.microsoft.com/office/drawing/2014/main" id="{81ECF46F-C393-3246-879C-C1A968E60CFD}"/>
              </a:ext>
            </a:extLst>
          </p:cNvPr>
          <p:cNvSpPr txBox="1">
            <a:spLocks/>
          </p:cNvSpPr>
          <p:nvPr/>
        </p:nvSpPr>
        <p:spPr>
          <a:xfrm>
            <a:off x="375762" y="381234"/>
            <a:ext cx="10630905" cy="631869"/>
          </a:xfrm>
          <a:prstGeom prst="rect">
            <a:avLst/>
          </a:prstGeom>
        </p:spPr>
        <p:txBody>
          <a:bodyPr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Line-fit</a:t>
            </a:r>
            <a:endParaRPr kumimoji="1" lang="ko-Kore-KR" alt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0DBB8FC-9919-CD46-B5B5-20C2758045D8}"/>
              </a:ext>
            </a:extLst>
          </p:cNvPr>
          <p:cNvSpPr/>
          <p:nvPr/>
        </p:nvSpPr>
        <p:spPr>
          <a:xfrm>
            <a:off x="173100" y="118753"/>
            <a:ext cx="93270" cy="75005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7" name="슬라이드 번호 개체 틀 5">
            <a:extLst>
              <a:ext uri="{FF2B5EF4-FFF2-40B4-BE49-F238E27FC236}">
                <a16:creationId xmlns:a16="http://schemas.microsoft.com/office/drawing/2014/main" id="{4E1992C1-F3E9-2448-8092-AEA61247A671}"/>
              </a:ext>
            </a:extLst>
          </p:cNvPr>
          <p:cNvSpPr txBox="1">
            <a:spLocks/>
          </p:cNvSpPr>
          <p:nvPr/>
        </p:nvSpPr>
        <p:spPr>
          <a:xfrm>
            <a:off x="11654377" y="620189"/>
            <a:ext cx="525903" cy="258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ore-K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83A3AC8-7E39-1245-98E2-08D56C5B5689}" type="slidenum">
              <a:rPr kumimoji="1" lang="ko-Kore-KR" altLang="en-US" smtClean="0">
                <a:solidFill>
                  <a:schemeClr val="tx1"/>
                </a:solidFill>
              </a:rPr>
              <a:pPr algn="ctr"/>
              <a:t>19</a:t>
            </a:fld>
            <a:endParaRPr kumimoji="1" lang="ko-Kore-KR" altLang="en-US" dirty="0">
              <a:solidFill>
                <a:schemeClr val="tx1"/>
              </a:solidFill>
            </a:endParaRPr>
          </a:p>
        </p:txBody>
      </p:sp>
      <p:cxnSp>
        <p:nvCxnSpPr>
          <p:cNvPr id="38" name="직선 연결선[R] 37">
            <a:extLst>
              <a:ext uri="{FF2B5EF4-FFF2-40B4-BE49-F238E27FC236}">
                <a16:creationId xmlns:a16="http://schemas.microsoft.com/office/drawing/2014/main" id="{F4C12DDA-B161-ED43-B08A-1EE9F30C7CDA}"/>
              </a:ext>
            </a:extLst>
          </p:cNvPr>
          <p:cNvCxnSpPr>
            <a:cxnSpLocks/>
          </p:cNvCxnSpPr>
          <p:nvPr/>
        </p:nvCxnSpPr>
        <p:spPr>
          <a:xfrm>
            <a:off x="11642317" y="868811"/>
            <a:ext cx="550025" cy="0"/>
          </a:xfrm>
          <a:prstGeom prst="line">
            <a:avLst/>
          </a:prstGeom>
          <a:ln w="44450">
            <a:solidFill>
              <a:schemeClr val="tx1">
                <a:alpha val="68892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제목 1">
            <a:extLst>
              <a:ext uri="{FF2B5EF4-FFF2-40B4-BE49-F238E27FC236}">
                <a16:creationId xmlns:a16="http://schemas.microsoft.com/office/drawing/2014/main" id="{327C4C93-0950-1740-8DA6-2D8990DA329D}"/>
              </a:ext>
            </a:extLst>
          </p:cNvPr>
          <p:cNvSpPr txBox="1">
            <a:spLocks/>
          </p:cNvSpPr>
          <p:nvPr/>
        </p:nvSpPr>
        <p:spPr>
          <a:xfrm>
            <a:off x="375762" y="118753"/>
            <a:ext cx="4295630" cy="317364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Current Muon Track Reconstruction</a:t>
            </a:r>
            <a:endParaRPr kumimoji="1" lang="ko-Kore-KR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7F9333F-916F-B441-B219-4E26B0CC475F}"/>
              </a:ext>
            </a:extLst>
          </p:cNvPr>
          <p:cNvSpPr txBox="1"/>
          <p:nvPr/>
        </p:nvSpPr>
        <p:spPr>
          <a:xfrm>
            <a:off x="375762" y="1127082"/>
            <a:ext cx="114768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시스템 서체 일반체"/>
              <a:buChar char="o"/>
            </a:pPr>
            <a:r>
              <a:rPr kumimoji="1" lang="en-US" altLang="ko-Kore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Very first step is called line-fit</a:t>
            </a:r>
          </a:p>
          <a:p>
            <a:pPr marL="342900" indent="-342900">
              <a:buFont typeface="시스템 서체 일반체"/>
              <a:buChar char="o"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imply find</a:t>
            </a:r>
            <a:r>
              <a:rPr lang="en-US" altLang="ko-K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ing</a:t>
            </a:r>
            <a:r>
              <a:rPr lang="en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track that minimizes the squared distance errors between the triggered DOMs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FC7FC18-11B1-FA4C-937E-F16EF3CB90CE}"/>
              </a:ext>
            </a:extLst>
          </p:cNvPr>
          <p:cNvSpPr txBox="1"/>
          <p:nvPr/>
        </p:nvSpPr>
        <p:spPr>
          <a:xfrm>
            <a:off x="394121" y="5730918"/>
            <a:ext cx="114768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시스템 서체 일반체"/>
              <a:buChar char="o"/>
            </a:pPr>
            <a:r>
              <a:rPr lang="en-US" altLang="ko-KR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Obviously </a:t>
            </a:r>
            <a:r>
              <a:rPr lang="en" altLang="ko-KR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" altLang="ko-KR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ptical ice properties are not taken into account </a:t>
            </a:r>
          </a:p>
        </p:txBody>
      </p:sp>
    </p:spTree>
    <p:extLst>
      <p:ext uri="{BB962C8B-B14F-4D97-AF65-F5344CB8AC3E}">
        <p14:creationId xmlns:p14="http://schemas.microsoft.com/office/powerpoint/2010/main" val="25719516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>
            <a:extLst>
              <a:ext uri="{FF2B5EF4-FFF2-40B4-BE49-F238E27FC236}">
                <a16:creationId xmlns:a16="http://schemas.microsoft.com/office/drawing/2014/main" id="{81ECF46F-C393-3246-879C-C1A968E60CFD}"/>
              </a:ext>
            </a:extLst>
          </p:cNvPr>
          <p:cNvSpPr txBox="1">
            <a:spLocks/>
          </p:cNvSpPr>
          <p:nvPr/>
        </p:nvSpPr>
        <p:spPr>
          <a:xfrm>
            <a:off x="375762" y="381234"/>
            <a:ext cx="10630905" cy="631869"/>
          </a:xfrm>
          <a:prstGeom prst="rect">
            <a:avLst/>
          </a:prstGeom>
        </p:spPr>
        <p:txBody>
          <a:bodyPr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PandelSPE</a:t>
            </a:r>
            <a:endParaRPr kumimoji="1" lang="ko-Kore-KR" alt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0DBB8FC-9919-CD46-B5B5-20C2758045D8}"/>
              </a:ext>
            </a:extLst>
          </p:cNvPr>
          <p:cNvSpPr/>
          <p:nvPr/>
        </p:nvSpPr>
        <p:spPr>
          <a:xfrm>
            <a:off x="173100" y="118753"/>
            <a:ext cx="93270" cy="75005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7" name="슬라이드 번호 개체 틀 5">
            <a:extLst>
              <a:ext uri="{FF2B5EF4-FFF2-40B4-BE49-F238E27FC236}">
                <a16:creationId xmlns:a16="http://schemas.microsoft.com/office/drawing/2014/main" id="{4E1992C1-F3E9-2448-8092-AEA61247A671}"/>
              </a:ext>
            </a:extLst>
          </p:cNvPr>
          <p:cNvSpPr txBox="1">
            <a:spLocks/>
          </p:cNvSpPr>
          <p:nvPr/>
        </p:nvSpPr>
        <p:spPr>
          <a:xfrm>
            <a:off x="11654377" y="620189"/>
            <a:ext cx="525903" cy="258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ore-K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83A3AC8-7E39-1245-98E2-08D56C5B5689}" type="slidenum">
              <a:rPr kumimoji="1" lang="ko-Kore-KR" altLang="en-US" smtClean="0">
                <a:solidFill>
                  <a:schemeClr val="tx1"/>
                </a:solidFill>
              </a:rPr>
              <a:pPr algn="ctr"/>
              <a:t>20</a:t>
            </a:fld>
            <a:endParaRPr kumimoji="1" lang="ko-Kore-KR" altLang="en-US" dirty="0">
              <a:solidFill>
                <a:schemeClr val="tx1"/>
              </a:solidFill>
            </a:endParaRPr>
          </a:p>
        </p:txBody>
      </p:sp>
      <p:cxnSp>
        <p:nvCxnSpPr>
          <p:cNvPr id="38" name="직선 연결선[R] 37">
            <a:extLst>
              <a:ext uri="{FF2B5EF4-FFF2-40B4-BE49-F238E27FC236}">
                <a16:creationId xmlns:a16="http://schemas.microsoft.com/office/drawing/2014/main" id="{F4C12DDA-B161-ED43-B08A-1EE9F30C7CDA}"/>
              </a:ext>
            </a:extLst>
          </p:cNvPr>
          <p:cNvCxnSpPr>
            <a:cxnSpLocks/>
          </p:cNvCxnSpPr>
          <p:nvPr/>
        </p:nvCxnSpPr>
        <p:spPr>
          <a:xfrm>
            <a:off x="11642317" y="868811"/>
            <a:ext cx="550025" cy="0"/>
          </a:xfrm>
          <a:prstGeom prst="line">
            <a:avLst/>
          </a:prstGeom>
          <a:ln w="44450">
            <a:solidFill>
              <a:schemeClr val="tx1">
                <a:alpha val="68892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제목 1">
            <a:extLst>
              <a:ext uri="{FF2B5EF4-FFF2-40B4-BE49-F238E27FC236}">
                <a16:creationId xmlns:a16="http://schemas.microsoft.com/office/drawing/2014/main" id="{327C4C93-0950-1740-8DA6-2D8990DA329D}"/>
              </a:ext>
            </a:extLst>
          </p:cNvPr>
          <p:cNvSpPr txBox="1">
            <a:spLocks/>
          </p:cNvSpPr>
          <p:nvPr/>
        </p:nvSpPr>
        <p:spPr>
          <a:xfrm>
            <a:off x="375762" y="118753"/>
            <a:ext cx="4295630" cy="317364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Current Muon Track Reconstruction</a:t>
            </a:r>
            <a:endParaRPr kumimoji="1" lang="ko-Kore-KR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EB1E66C-932E-BD49-B29A-C7E9DB7DFC70}"/>
              </a:ext>
            </a:extLst>
          </p:cNvPr>
          <p:cNvSpPr txBox="1"/>
          <p:nvPr/>
        </p:nvSpPr>
        <p:spPr>
          <a:xfrm>
            <a:off x="266370" y="900899"/>
            <a:ext cx="114768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시스템 서체 일반체"/>
              <a:buChar char="o"/>
            </a:pPr>
            <a:r>
              <a:rPr kumimoji="1" lang="en-US" altLang="ko-Kore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 : Single Photo Electron</a:t>
            </a:r>
          </a:p>
          <a:p>
            <a:pPr marL="342900" indent="-342900">
              <a:buFont typeface="시스템 서체 일반체"/>
              <a:buChar char="o"/>
            </a:pPr>
            <a:r>
              <a:rPr kumimoji="1" lang="en-US" altLang="ko-Kore-K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PandelSPE</a:t>
            </a:r>
            <a:r>
              <a:rPr kumimoji="1" lang="en-US" altLang="ko-Kore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uses the arrival time information of only first Cherenkov photon.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624BEFD-6E6B-764D-98D4-B2B5DF2F9F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3577" y="4010801"/>
            <a:ext cx="6366790" cy="1213435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4AB0D5C8-7F29-5A44-A89A-02459D3A62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475" y="1636562"/>
            <a:ext cx="4209249" cy="100353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BD40DECD-B9E4-FB4C-B8FD-A243F9C525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8787" y="2055474"/>
            <a:ext cx="1690732" cy="329899"/>
          </a:xfrm>
          <a:prstGeom prst="rect">
            <a:avLst/>
          </a:prstGeom>
        </p:spPr>
      </p:pic>
      <p:sp>
        <p:nvSpPr>
          <p:cNvPr id="20" name="모서리가 둥근 직사각형 19">
            <a:extLst>
              <a:ext uri="{FF2B5EF4-FFF2-40B4-BE49-F238E27FC236}">
                <a16:creationId xmlns:a16="http://schemas.microsoft.com/office/drawing/2014/main" id="{4EAF28A6-303E-CF4B-A80B-54EE7204F0F3}"/>
              </a:ext>
            </a:extLst>
          </p:cNvPr>
          <p:cNvSpPr/>
          <p:nvPr/>
        </p:nvSpPr>
        <p:spPr>
          <a:xfrm>
            <a:off x="3295958" y="1912592"/>
            <a:ext cx="1437146" cy="479934"/>
          </a:xfrm>
          <a:prstGeom prst="roundRect">
            <a:avLst/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3364AF49-5E46-FA49-9CF4-967BD899B78C}"/>
              </a:ext>
            </a:extLst>
          </p:cNvPr>
          <p:cNvGrpSpPr/>
          <p:nvPr/>
        </p:nvGrpSpPr>
        <p:grpSpPr>
          <a:xfrm>
            <a:off x="5028787" y="5685384"/>
            <a:ext cx="3881242" cy="430404"/>
            <a:chOff x="659270" y="5407417"/>
            <a:chExt cx="3881242" cy="430404"/>
          </a:xfrm>
        </p:grpSpPr>
        <p:pic>
          <p:nvPicPr>
            <p:cNvPr id="23" name="그림 22">
              <a:extLst>
                <a:ext uri="{FF2B5EF4-FFF2-40B4-BE49-F238E27FC236}">
                  <a16:creationId xmlns:a16="http://schemas.microsoft.com/office/drawing/2014/main" id="{F2BF7F84-27C6-FA4A-A622-E187C220FF6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l="12320" t="65264" r="-12320" b="1489"/>
            <a:stretch/>
          </p:blipFill>
          <p:spPr>
            <a:xfrm>
              <a:off x="2959727" y="5476496"/>
              <a:ext cx="1580785" cy="361325"/>
            </a:xfrm>
            <a:prstGeom prst="rect">
              <a:avLst/>
            </a:prstGeom>
          </p:spPr>
        </p:pic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0B4718C7-1523-394E-B606-86FDCEA59C5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r="15650" b="63569"/>
            <a:stretch/>
          </p:blipFill>
          <p:spPr>
            <a:xfrm>
              <a:off x="659270" y="5407417"/>
              <a:ext cx="1333396" cy="395931"/>
            </a:xfrm>
            <a:prstGeom prst="rect">
              <a:avLst/>
            </a:prstGeom>
          </p:spPr>
        </p:pic>
        <p:pic>
          <p:nvPicPr>
            <p:cNvPr id="21" name="그림 20">
              <a:extLst>
                <a:ext uri="{FF2B5EF4-FFF2-40B4-BE49-F238E27FC236}">
                  <a16:creationId xmlns:a16="http://schemas.microsoft.com/office/drawing/2014/main" id="{8FD91D88-E19E-AA43-94B1-EC0E79B2D07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l="11204" t="41738" r="25038" b="34386"/>
            <a:stretch/>
          </p:blipFill>
          <p:spPr>
            <a:xfrm>
              <a:off x="2034696" y="5536555"/>
              <a:ext cx="1007869" cy="259477"/>
            </a:xfrm>
            <a:prstGeom prst="rect">
              <a:avLst/>
            </a:prstGeom>
          </p:spPr>
        </p:pic>
      </p:grpSp>
      <p:pic>
        <p:nvPicPr>
          <p:cNvPr id="28" name="그림 27">
            <a:extLst>
              <a:ext uri="{FF2B5EF4-FFF2-40B4-BE49-F238E27FC236}">
                <a16:creationId xmlns:a16="http://schemas.microsoft.com/office/drawing/2014/main" id="{1C015AFE-EB5B-2B4F-A636-E08FA29F5C5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1633" y="3896953"/>
            <a:ext cx="3658161" cy="2416999"/>
          </a:xfrm>
          <a:prstGeom prst="rect">
            <a:avLst/>
          </a:prstGeom>
        </p:spPr>
      </p:pic>
      <p:sp>
        <p:nvSpPr>
          <p:cNvPr id="32" name="모서리가 둥근 직사각형 31">
            <a:extLst>
              <a:ext uri="{FF2B5EF4-FFF2-40B4-BE49-F238E27FC236}">
                <a16:creationId xmlns:a16="http://schemas.microsoft.com/office/drawing/2014/main" id="{AABF4FDB-FE79-634A-9FA4-846A823DED04}"/>
              </a:ext>
            </a:extLst>
          </p:cNvPr>
          <p:cNvSpPr/>
          <p:nvPr/>
        </p:nvSpPr>
        <p:spPr>
          <a:xfrm>
            <a:off x="274671" y="3011909"/>
            <a:ext cx="11468523" cy="3727337"/>
          </a:xfrm>
          <a:prstGeom prst="roundRect">
            <a:avLst>
              <a:gd name="adj" fmla="val 8819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039EEB3C-BD3A-4840-90EB-4F372025360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7841" y="6052351"/>
            <a:ext cx="2954070" cy="617179"/>
          </a:xfrm>
          <a:prstGeom prst="rect">
            <a:avLst/>
          </a:prstGeom>
        </p:spPr>
      </p:pic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696BD089-6323-E04C-BFE6-9AFEEC266237}"/>
              </a:ext>
            </a:extLst>
          </p:cNvPr>
          <p:cNvCxnSpPr>
            <a:cxnSpLocks/>
          </p:cNvCxnSpPr>
          <p:nvPr/>
        </p:nvCxnSpPr>
        <p:spPr>
          <a:xfrm flipV="1">
            <a:off x="2793805" y="2461931"/>
            <a:ext cx="1220726" cy="549978"/>
          </a:xfrm>
          <a:prstGeom prst="straightConnector1">
            <a:avLst/>
          </a:prstGeom>
          <a:ln w="3810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B5DB29DE-011D-7A4E-8742-804DB2F96B03}"/>
              </a:ext>
            </a:extLst>
          </p:cNvPr>
          <p:cNvSpPr txBox="1"/>
          <p:nvPr/>
        </p:nvSpPr>
        <p:spPr>
          <a:xfrm>
            <a:off x="448807" y="3258441"/>
            <a:ext cx="112943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시스템 서체 일반체"/>
              <a:buChar char="o"/>
            </a:pPr>
            <a:r>
              <a:rPr kumimoji="1" lang="en-US" altLang="ko-Kore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Photon arrival time depends on the ice property and relative position between DOM and muon track.</a:t>
            </a:r>
          </a:p>
          <a:p>
            <a:pPr marL="342900" indent="-342900">
              <a:buFont typeface="시스템 서체 일반체"/>
              <a:buChar char="o"/>
            </a:pPr>
            <a:r>
              <a:rPr lang="en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Studies have motivated the use of the </a:t>
            </a:r>
            <a:r>
              <a:rPr lang="en" altLang="ko-K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Pandel</a:t>
            </a:r>
            <a:r>
              <a:rPr lang="en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function to model the photon arrival time</a:t>
            </a:r>
            <a:endParaRPr kumimoji="1" lang="en-US" altLang="ko-Kore-K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0DC8220-4C14-A143-9E21-A535FF058F55}"/>
              </a:ext>
            </a:extLst>
          </p:cNvPr>
          <p:cNvSpPr txBox="1"/>
          <p:nvPr/>
        </p:nvSpPr>
        <p:spPr>
          <a:xfrm>
            <a:off x="5116077" y="5270388"/>
            <a:ext cx="60071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ore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Scattering length , Absorption length, is fixed to the values following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FA1AF87-ECFB-F241-A038-4BC315F85033}"/>
              </a:ext>
            </a:extLst>
          </p:cNvPr>
          <p:cNvSpPr txBox="1"/>
          <p:nvPr/>
        </p:nvSpPr>
        <p:spPr>
          <a:xfrm>
            <a:off x="5077935" y="6185461"/>
            <a:ext cx="60071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ore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free parameter is </a:t>
            </a:r>
            <a:r>
              <a:rPr kumimoji="1" lang="en-US" altLang="ko-Kore-KR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kumimoji="1" lang="en-US" altLang="ko-Kore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distance between the track and DOM.</a:t>
            </a:r>
          </a:p>
        </p:txBody>
      </p:sp>
      <p:sp>
        <p:nvSpPr>
          <p:cNvPr id="34" name="모서리가 둥근 직사각형 33">
            <a:extLst>
              <a:ext uri="{FF2B5EF4-FFF2-40B4-BE49-F238E27FC236}">
                <a16:creationId xmlns:a16="http://schemas.microsoft.com/office/drawing/2014/main" id="{F04805EB-150B-054B-9A39-CF1F267C3276}"/>
              </a:ext>
            </a:extLst>
          </p:cNvPr>
          <p:cNvSpPr/>
          <p:nvPr/>
        </p:nvSpPr>
        <p:spPr>
          <a:xfrm>
            <a:off x="761633" y="2859828"/>
            <a:ext cx="2150301" cy="379443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Pandel</a:t>
            </a:r>
            <a:r>
              <a:rPr kumimoji="1"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Function</a:t>
            </a:r>
            <a:endParaRPr kumimoji="1" lang="ko-KR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15700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3812E6DC-34EC-1349-BAD6-FF91A92B8722}"/>
              </a:ext>
            </a:extLst>
          </p:cNvPr>
          <p:cNvGrpSpPr/>
          <p:nvPr/>
        </p:nvGrpSpPr>
        <p:grpSpPr>
          <a:xfrm>
            <a:off x="824430" y="1614474"/>
            <a:ext cx="6380202" cy="990764"/>
            <a:chOff x="2192097" y="1670359"/>
            <a:chExt cx="6380202" cy="990764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4E83F51A-6C9D-8744-9B57-5A8868C572A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6745"/>
            <a:stretch/>
          </p:blipFill>
          <p:spPr>
            <a:xfrm>
              <a:off x="3621285" y="1670359"/>
              <a:ext cx="4951014" cy="990764"/>
            </a:xfrm>
            <a:prstGeom prst="rect">
              <a:avLst/>
            </a:prstGeom>
          </p:spPr>
        </p:pic>
        <p:pic>
          <p:nvPicPr>
            <p:cNvPr id="29" name="그림 28">
              <a:extLst>
                <a:ext uri="{FF2B5EF4-FFF2-40B4-BE49-F238E27FC236}">
                  <a16:creationId xmlns:a16="http://schemas.microsoft.com/office/drawing/2014/main" id="{F3414E4C-59B2-4447-8763-FE72B0CA8FA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r="81647"/>
            <a:stretch/>
          </p:blipFill>
          <p:spPr>
            <a:xfrm>
              <a:off x="2192097" y="1670359"/>
              <a:ext cx="1436474" cy="990764"/>
            </a:xfrm>
            <a:prstGeom prst="rect">
              <a:avLst/>
            </a:prstGeom>
          </p:spPr>
        </p:pic>
      </p:grpSp>
      <p:sp>
        <p:nvSpPr>
          <p:cNvPr id="8" name="제목 1">
            <a:extLst>
              <a:ext uri="{FF2B5EF4-FFF2-40B4-BE49-F238E27FC236}">
                <a16:creationId xmlns:a16="http://schemas.microsoft.com/office/drawing/2014/main" id="{81ECF46F-C393-3246-879C-C1A968E60CFD}"/>
              </a:ext>
            </a:extLst>
          </p:cNvPr>
          <p:cNvSpPr txBox="1">
            <a:spLocks/>
          </p:cNvSpPr>
          <p:nvPr/>
        </p:nvSpPr>
        <p:spPr>
          <a:xfrm>
            <a:off x="375762" y="381234"/>
            <a:ext cx="10630905" cy="631869"/>
          </a:xfrm>
          <a:prstGeom prst="rect">
            <a:avLst/>
          </a:prstGeom>
        </p:spPr>
        <p:txBody>
          <a:bodyPr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PandelMPE</a:t>
            </a:r>
            <a:endParaRPr kumimoji="1" lang="ko-Kore-KR" alt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0DBB8FC-9919-CD46-B5B5-20C2758045D8}"/>
              </a:ext>
            </a:extLst>
          </p:cNvPr>
          <p:cNvSpPr/>
          <p:nvPr/>
        </p:nvSpPr>
        <p:spPr>
          <a:xfrm>
            <a:off x="173100" y="118753"/>
            <a:ext cx="93270" cy="75005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7" name="슬라이드 번호 개체 틀 5">
            <a:extLst>
              <a:ext uri="{FF2B5EF4-FFF2-40B4-BE49-F238E27FC236}">
                <a16:creationId xmlns:a16="http://schemas.microsoft.com/office/drawing/2014/main" id="{4E1992C1-F3E9-2448-8092-AEA61247A671}"/>
              </a:ext>
            </a:extLst>
          </p:cNvPr>
          <p:cNvSpPr txBox="1">
            <a:spLocks/>
          </p:cNvSpPr>
          <p:nvPr/>
        </p:nvSpPr>
        <p:spPr>
          <a:xfrm>
            <a:off x="11654377" y="620189"/>
            <a:ext cx="525903" cy="258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ore-K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83A3AC8-7E39-1245-98E2-08D56C5B5689}" type="slidenum">
              <a:rPr kumimoji="1" lang="ko-Kore-KR" altLang="en-US" smtClean="0">
                <a:solidFill>
                  <a:schemeClr val="tx1"/>
                </a:solidFill>
              </a:rPr>
              <a:pPr algn="ctr"/>
              <a:t>21</a:t>
            </a:fld>
            <a:endParaRPr kumimoji="1" lang="ko-Kore-KR" altLang="en-US" dirty="0">
              <a:solidFill>
                <a:schemeClr val="tx1"/>
              </a:solidFill>
            </a:endParaRPr>
          </a:p>
        </p:txBody>
      </p:sp>
      <p:cxnSp>
        <p:nvCxnSpPr>
          <p:cNvPr id="38" name="직선 연결선[R] 37">
            <a:extLst>
              <a:ext uri="{FF2B5EF4-FFF2-40B4-BE49-F238E27FC236}">
                <a16:creationId xmlns:a16="http://schemas.microsoft.com/office/drawing/2014/main" id="{F4C12DDA-B161-ED43-B08A-1EE9F30C7CDA}"/>
              </a:ext>
            </a:extLst>
          </p:cNvPr>
          <p:cNvCxnSpPr>
            <a:cxnSpLocks/>
          </p:cNvCxnSpPr>
          <p:nvPr/>
        </p:nvCxnSpPr>
        <p:spPr>
          <a:xfrm>
            <a:off x="11642317" y="868811"/>
            <a:ext cx="550025" cy="0"/>
          </a:xfrm>
          <a:prstGeom prst="line">
            <a:avLst/>
          </a:prstGeom>
          <a:ln w="44450">
            <a:solidFill>
              <a:schemeClr val="tx1">
                <a:alpha val="68892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제목 1">
            <a:extLst>
              <a:ext uri="{FF2B5EF4-FFF2-40B4-BE49-F238E27FC236}">
                <a16:creationId xmlns:a16="http://schemas.microsoft.com/office/drawing/2014/main" id="{327C4C93-0950-1740-8DA6-2D8990DA329D}"/>
              </a:ext>
            </a:extLst>
          </p:cNvPr>
          <p:cNvSpPr txBox="1">
            <a:spLocks/>
          </p:cNvSpPr>
          <p:nvPr/>
        </p:nvSpPr>
        <p:spPr>
          <a:xfrm>
            <a:off x="375762" y="118753"/>
            <a:ext cx="4295630" cy="317364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Current Muon Track Reconstruction</a:t>
            </a:r>
            <a:endParaRPr kumimoji="1" lang="ko-Kore-KR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EB1E66C-932E-BD49-B29A-C7E9DB7DFC70}"/>
              </a:ext>
            </a:extLst>
          </p:cNvPr>
          <p:cNvSpPr txBox="1"/>
          <p:nvPr/>
        </p:nvSpPr>
        <p:spPr>
          <a:xfrm>
            <a:off x="266370" y="900899"/>
            <a:ext cx="114768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시스템 서체 일반체"/>
              <a:buChar char="o"/>
            </a:pPr>
            <a:r>
              <a:rPr kumimoji="1" lang="en-US" altLang="ko-Kore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MPE : Single Photo Electron</a:t>
            </a:r>
          </a:p>
          <a:p>
            <a:pPr marL="342900" indent="-342900">
              <a:buFont typeface="시스템 서체 일반체"/>
              <a:buChar char="o"/>
            </a:pPr>
            <a:r>
              <a:rPr kumimoji="1" lang="en-US" altLang="ko-Kore-K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PandelMPE</a:t>
            </a:r>
            <a:r>
              <a:rPr kumimoji="1" lang="en-US" altLang="ko-Kore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uses the first arrival time information and number of measured photon 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624BEFD-6E6B-764D-98D4-B2B5DF2F9F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3577" y="4010801"/>
            <a:ext cx="6366790" cy="1213435"/>
          </a:xfrm>
          <a:prstGeom prst="rect">
            <a:avLst/>
          </a:prstGeom>
        </p:spPr>
      </p:pic>
      <p:sp>
        <p:nvSpPr>
          <p:cNvPr id="20" name="모서리가 둥근 직사각형 19">
            <a:extLst>
              <a:ext uri="{FF2B5EF4-FFF2-40B4-BE49-F238E27FC236}">
                <a16:creationId xmlns:a16="http://schemas.microsoft.com/office/drawing/2014/main" id="{4EAF28A6-303E-CF4B-A80B-54EE7204F0F3}"/>
              </a:ext>
            </a:extLst>
          </p:cNvPr>
          <p:cNvSpPr/>
          <p:nvPr/>
        </p:nvSpPr>
        <p:spPr>
          <a:xfrm>
            <a:off x="3690092" y="1954597"/>
            <a:ext cx="1070504" cy="479934"/>
          </a:xfrm>
          <a:prstGeom prst="roundRect">
            <a:avLst/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3364AF49-5E46-FA49-9CF4-967BD899B78C}"/>
              </a:ext>
            </a:extLst>
          </p:cNvPr>
          <p:cNvGrpSpPr/>
          <p:nvPr/>
        </p:nvGrpSpPr>
        <p:grpSpPr>
          <a:xfrm>
            <a:off x="5028787" y="5685384"/>
            <a:ext cx="3881242" cy="430404"/>
            <a:chOff x="659270" y="5407417"/>
            <a:chExt cx="3881242" cy="430404"/>
          </a:xfrm>
        </p:grpSpPr>
        <p:pic>
          <p:nvPicPr>
            <p:cNvPr id="23" name="그림 22">
              <a:extLst>
                <a:ext uri="{FF2B5EF4-FFF2-40B4-BE49-F238E27FC236}">
                  <a16:creationId xmlns:a16="http://schemas.microsoft.com/office/drawing/2014/main" id="{F2BF7F84-27C6-FA4A-A622-E187C220FF6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12320" t="65264" r="-12320" b="1489"/>
            <a:stretch/>
          </p:blipFill>
          <p:spPr>
            <a:xfrm>
              <a:off x="2959727" y="5476496"/>
              <a:ext cx="1580785" cy="361325"/>
            </a:xfrm>
            <a:prstGeom prst="rect">
              <a:avLst/>
            </a:prstGeom>
          </p:spPr>
        </p:pic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0B4718C7-1523-394E-B606-86FDCEA59C5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r="15650" b="63569"/>
            <a:stretch/>
          </p:blipFill>
          <p:spPr>
            <a:xfrm>
              <a:off x="659270" y="5407417"/>
              <a:ext cx="1333396" cy="395931"/>
            </a:xfrm>
            <a:prstGeom prst="rect">
              <a:avLst/>
            </a:prstGeom>
          </p:spPr>
        </p:pic>
        <p:pic>
          <p:nvPicPr>
            <p:cNvPr id="21" name="그림 20">
              <a:extLst>
                <a:ext uri="{FF2B5EF4-FFF2-40B4-BE49-F238E27FC236}">
                  <a16:creationId xmlns:a16="http://schemas.microsoft.com/office/drawing/2014/main" id="{8FD91D88-E19E-AA43-94B1-EC0E79B2D07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11204" t="41738" r="25038" b="34386"/>
            <a:stretch/>
          </p:blipFill>
          <p:spPr>
            <a:xfrm>
              <a:off x="2034696" y="5536555"/>
              <a:ext cx="1007869" cy="259477"/>
            </a:xfrm>
            <a:prstGeom prst="rect">
              <a:avLst/>
            </a:prstGeom>
          </p:spPr>
        </p:pic>
      </p:grpSp>
      <p:pic>
        <p:nvPicPr>
          <p:cNvPr id="28" name="그림 27">
            <a:extLst>
              <a:ext uri="{FF2B5EF4-FFF2-40B4-BE49-F238E27FC236}">
                <a16:creationId xmlns:a16="http://schemas.microsoft.com/office/drawing/2014/main" id="{1C015AFE-EB5B-2B4F-A636-E08FA29F5C5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1633" y="3896953"/>
            <a:ext cx="3658161" cy="2416999"/>
          </a:xfrm>
          <a:prstGeom prst="rect">
            <a:avLst/>
          </a:prstGeom>
        </p:spPr>
      </p:pic>
      <p:sp>
        <p:nvSpPr>
          <p:cNvPr id="32" name="모서리가 둥근 직사각형 31">
            <a:extLst>
              <a:ext uri="{FF2B5EF4-FFF2-40B4-BE49-F238E27FC236}">
                <a16:creationId xmlns:a16="http://schemas.microsoft.com/office/drawing/2014/main" id="{AABF4FDB-FE79-634A-9FA4-846A823DED04}"/>
              </a:ext>
            </a:extLst>
          </p:cNvPr>
          <p:cNvSpPr/>
          <p:nvPr/>
        </p:nvSpPr>
        <p:spPr>
          <a:xfrm>
            <a:off x="274671" y="3011909"/>
            <a:ext cx="11468523" cy="3727337"/>
          </a:xfrm>
          <a:prstGeom prst="roundRect">
            <a:avLst>
              <a:gd name="adj" fmla="val 8819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039EEB3C-BD3A-4840-90EB-4F372025360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7841" y="6052351"/>
            <a:ext cx="2954070" cy="617179"/>
          </a:xfrm>
          <a:prstGeom prst="rect">
            <a:avLst/>
          </a:prstGeom>
        </p:spPr>
      </p:pic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696BD089-6323-E04C-BFE6-9AFEEC266237}"/>
              </a:ext>
            </a:extLst>
          </p:cNvPr>
          <p:cNvCxnSpPr>
            <a:cxnSpLocks/>
          </p:cNvCxnSpPr>
          <p:nvPr/>
        </p:nvCxnSpPr>
        <p:spPr>
          <a:xfrm flipV="1">
            <a:off x="2793805" y="2461931"/>
            <a:ext cx="1220726" cy="549978"/>
          </a:xfrm>
          <a:prstGeom prst="straightConnector1">
            <a:avLst/>
          </a:prstGeom>
          <a:ln w="3810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B5DB29DE-011D-7A4E-8742-804DB2F96B03}"/>
              </a:ext>
            </a:extLst>
          </p:cNvPr>
          <p:cNvSpPr txBox="1"/>
          <p:nvPr/>
        </p:nvSpPr>
        <p:spPr>
          <a:xfrm>
            <a:off x="448807" y="3258441"/>
            <a:ext cx="112943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시스템 서체 일반체"/>
              <a:buChar char="o"/>
            </a:pPr>
            <a:r>
              <a:rPr kumimoji="1" lang="en-US" altLang="ko-Kore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Photon arrival time depends on the ice property and relative position between DOM and muon track.</a:t>
            </a:r>
          </a:p>
          <a:p>
            <a:pPr marL="342900" indent="-342900">
              <a:buFont typeface="시스템 서체 일반체"/>
              <a:buChar char="o"/>
            </a:pPr>
            <a:r>
              <a:rPr lang="en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Studies have motivated the use of the </a:t>
            </a:r>
            <a:r>
              <a:rPr lang="en" altLang="ko-K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Pandel</a:t>
            </a:r>
            <a:r>
              <a:rPr lang="en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function to model the photon arrival time</a:t>
            </a:r>
            <a:endParaRPr kumimoji="1" lang="en-US" altLang="ko-Kore-K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0DC8220-4C14-A143-9E21-A535FF058F55}"/>
              </a:ext>
            </a:extLst>
          </p:cNvPr>
          <p:cNvSpPr txBox="1"/>
          <p:nvPr/>
        </p:nvSpPr>
        <p:spPr>
          <a:xfrm>
            <a:off x="5116077" y="5270388"/>
            <a:ext cx="60071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ore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Scattering length , Absorption length, is fixed to the values following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FA1AF87-ECFB-F241-A038-4BC315F85033}"/>
              </a:ext>
            </a:extLst>
          </p:cNvPr>
          <p:cNvSpPr txBox="1"/>
          <p:nvPr/>
        </p:nvSpPr>
        <p:spPr>
          <a:xfrm>
            <a:off x="5077935" y="6185461"/>
            <a:ext cx="60071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ore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free parameter is </a:t>
            </a:r>
            <a:r>
              <a:rPr kumimoji="1" lang="en-US" altLang="ko-Kore-KR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kumimoji="1" lang="en-US" altLang="ko-Kore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distance between the track and DOM.</a:t>
            </a:r>
          </a:p>
        </p:txBody>
      </p:sp>
      <p:sp>
        <p:nvSpPr>
          <p:cNvPr id="34" name="모서리가 둥근 직사각형 33">
            <a:extLst>
              <a:ext uri="{FF2B5EF4-FFF2-40B4-BE49-F238E27FC236}">
                <a16:creationId xmlns:a16="http://schemas.microsoft.com/office/drawing/2014/main" id="{F04805EB-150B-054B-9A39-CF1F267C3276}"/>
              </a:ext>
            </a:extLst>
          </p:cNvPr>
          <p:cNvSpPr/>
          <p:nvPr/>
        </p:nvSpPr>
        <p:spPr>
          <a:xfrm>
            <a:off x="761633" y="2859828"/>
            <a:ext cx="2150301" cy="379443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Pandel</a:t>
            </a:r>
            <a:r>
              <a:rPr kumimoji="1"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Function</a:t>
            </a:r>
            <a:endParaRPr kumimoji="1" lang="ko-KR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686BC4A7-56DF-9F46-ABAD-04C2E3C8E297}"/>
              </a:ext>
            </a:extLst>
          </p:cNvPr>
          <p:cNvGrpSpPr/>
          <p:nvPr/>
        </p:nvGrpSpPr>
        <p:grpSpPr>
          <a:xfrm>
            <a:off x="7740777" y="1997528"/>
            <a:ext cx="1982240" cy="440329"/>
            <a:chOff x="9508303" y="2164909"/>
            <a:chExt cx="1982240" cy="440329"/>
          </a:xfrm>
        </p:grpSpPr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5B6ED4C8-759A-A341-A804-179F6688F70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/>
            <a:srcRect l="60270"/>
            <a:stretch/>
          </p:blipFill>
          <p:spPr>
            <a:xfrm>
              <a:off x="10257183" y="2164909"/>
              <a:ext cx="1233360" cy="440329"/>
            </a:xfrm>
            <a:prstGeom prst="rect">
              <a:avLst/>
            </a:prstGeom>
          </p:spPr>
        </p:pic>
        <p:pic>
          <p:nvPicPr>
            <p:cNvPr id="33" name="그림 32">
              <a:extLst>
                <a:ext uri="{FF2B5EF4-FFF2-40B4-BE49-F238E27FC236}">
                  <a16:creationId xmlns:a16="http://schemas.microsoft.com/office/drawing/2014/main" id="{BD4D8C3E-3E13-9541-BA9E-FB87C42AEC1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/>
            <a:srcRect r="75876"/>
            <a:stretch/>
          </p:blipFill>
          <p:spPr>
            <a:xfrm>
              <a:off x="9508303" y="2164909"/>
              <a:ext cx="748880" cy="44032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47706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>
            <a:extLst>
              <a:ext uri="{FF2B5EF4-FFF2-40B4-BE49-F238E27FC236}">
                <a16:creationId xmlns:a16="http://schemas.microsoft.com/office/drawing/2014/main" id="{81ECF46F-C393-3246-879C-C1A968E60CFD}"/>
              </a:ext>
            </a:extLst>
          </p:cNvPr>
          <p:cNvSpPr txBox="1">
            <a:spLocks/>
          </p:cNvSpPr>
          <p:nvPr/>
        </p:nvSpPr>
        <p:spPr>
          <a:xfrm>
            <a:off x="375762" y="381234"/>
            <a:ext cx="10630905" cy="631869"/>
          </a:xfrm>
          <a:prstGeom prst="rect">
            <a:avLst/>
          </a:prstGeom>
        </p:spPr>
        <p:txBody>
          <a:bodyPr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SPlineMPE</a:t>
            </a:r>
            <a:endParaRPr kumimoji="1" lang="ko-Kore-KR" alt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0DBB8FC-9919-CD46-B5B5-20C2758045D8}"/>
              </a:ext>
            </a:extLst>
          </p:cNvPr>
          <p:cNvSpPr/>
          <p:nvPr/>
        </p:nvSpPr>
        <p:spPr>
          <a:xfrm>
            <a:off x="173100" y="118753"/>
            <a:ext cx="93270" cy="75005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7" name="슬라이드 번호 개체 틀 5">
            <a:extLst>
              <a:ext uri="{FF2B5EF4-FFF2-40B4-BE49-F238E27FC236}">
                <a16:creationId xmlns:a16="http://schemas.microsoft.com/office/drawing/2014/main" id="{4E1992C1-F3E9-2448-8092-AEA61247A671}"/>
              </a:ext>
            </a:extLst>
          </p:cNvPr>
          <p:cNvSpPr txBox="1">
            <a:spLocks/>
          </p:cNvSpPr>
          <p:nvPr/>
        </p:nvSpPr>
        <p:spPr>
          <a:xfrm>
            <a:off x="11654377" y="620189"/>
            <a:ext cx="525903" cy="258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ore-K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83A3AC8-7E39-1245-98E2-08D56C5B5689}" type="slidenum">
              <a:rPr kumimoji="1" lang="ko-Kore-KR" altLang="en-US" smtClean="0">
                <a:solidFill>
                  <a:schemeClr val="tx1"/>
                </a:solidFill>
              </a:rPr>
              <a:pPr algn="ctr"/>
              <a:t>22</a:t>
            </a:fld>
            <a:endParaRPr kumimoji="1" lang="ko-Kore-KR" altLang="en-US" dirty="0">
              <a:solidFill>
                <a:schemeClr val="tx1"/>
              </a:solidFill>
            </a:endParaRPr>
          </a:p>
        </p:txBody>
      </p:sp>
      <p:cxnSp>
        <p:nvCxnSpPr>
          <p:cNvPr id="38" name="직선 연결선[R] 37">
            <a:extLst>
              <a:ext uri="{FF2B5EF4-FFF2-40B4-BE49-F238E27FC236}">
                <a16:creationId xmlns:a16="http://schemas.microsoft.com/office/drawing/2014/main" id="{F4C12DDA-B161-ED43-B08A-1EE9F30C7CDA}"/>
              </a:ext>
            </a:extLst>
          </p:cNvPr>
          <p:cNvCxnSpPr>
            <a:cxnSpLocks/>
          </p:cNvCxnSpPr>
          <p:nvPr/>
        </p:nvCxnSpPr>
        <p:spPr>
          <a:xfrm>
            <a:off x="11642317" y="868811"/>
            <a:ext cx="550025" cy="0"/>
          </a:xfrm>
          <a:prstGeom prst="line">
            <a:avLst/>
          </a:prstGeom>
          <a:ln w="44450">
            <a:solidFill>
              <a:schemeClr val="tx1">
                <a:alpha val="68892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제목 1">
            <a:extLst>
              <a:ext uri="{FF2B5EF4-FFF2-40B4-BE49-F238E27FC236}">
                <a16:creationId xmlns:a16="http://schemas.microsoft.com/office/drawing/2014/main" id="{2BA18BF4-9195-DB4B-BCEA-293EF6145501}"/>
              </a:ext>
            </a:extLst>
          </p:cNvPr>
          <p:cNvSpPr txBox="1">
            <a:spLocks/>
          </p:cNvSpPr>
          <p:nvPr/>
        </p:nvSpPr>
        <p:spPr>
          <a:xfrm>
            <a:off x="488405" y="4071964"/>
            <a:ext cx="6809513" cy="631869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kumimoji="1" lang="ko-Kore-KR" alt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제목 1">
            <a:extLst>
              <a:ext uri="{FF2B5EF4-FFF2-40B4-BE49-F238E27FC236}">
                <a16:creationId xmlns:a16="http://schemas.microsoft.com/office/drawing/2014/main" id="{327C4C93-0950-1740-8DA6-2D8990DA329D}"/>
              </a:ext>
            </a:extLst>
          </p:cNvPr>
          <p:cNvSpPr txBox="1">
            <a:spLocks/>
          </p:cNvSpPr>
          <p:nvPr/>
        </p:nvSpPr>
        <p:spPr>
          <a:xfrm>
            <a:off x="375762" y="118753"/>
            <a:ext cx="4295630" cy="317364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Current Muon Track Reconstruction</a:t>
            </a:r>
            <a:endParaRPr kumimoji="1" lang="ko-Kore-KR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EB1E66C-932E-BD49-B29A-C7E9DB7DFC70}"/>
              </a:ext>
            </a:extLst>
          </p:cNvPr>
          <p:cNvSpPr txBox="1"/>
          <p:nvPr/>
        </p:nvSpPr>
        <p:spPr>
          <a:xfrm>
            <a:off x="375762" y="952418"/>
            <a:ext cx="114768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시스템 서체 일반체"/>
              <a:buChar char="o"/>
            </a:pPr>
            <a:r>
              <a:rPr kumimoji="1" lang="en-US" altLang="ko-Kore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 we know that scattering &amp; absorption length varies over depth.</a:t>
            </a:r>
          </a:p>
          <a:p>
            <a:pPr marL="342900" indent="-342900">
              <a:buFont typeface="시스템 서체 일반체"/>
              <a:buChar char="o"/>
            </a:pPr>
            <a:r>
              <a:rPr kumimoji="1" lang="en-US" altLang="ko-Kore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 setting absorption &amp; scattering length fixed , which is done in </a:t>
            </a:r>
            <a:r>
              <a:rPr kumimoji="1" lang="en-US" altLang="ko-Kore-K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Pandel</a:t>
            </a:r>
            <a:r>
              <a:rPr kumimoji="1" lang="en-US" altLang="ko-Kore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MPE, is not great option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BC38EC5-A789-5548-B994-5A05912C38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840" y="1704020"/>
            <a:ext cx="4566927" cy="332943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AF2F6D1-3533-EA4E-B4C3-22E5B12A2FB8}"/>
              </a:ext>
            </a:extLst>
          </p:cNvPr>
          <p:cNvSpPr txBox="1"/>
          <p:nvPr/>
        </p:nvSpPr>
        <p:spPr>
          <a:xfrm>
            <a:off x="5370767" y="2018871"/>
            <a:ext cx="680951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시스템 서체 일반체"/>
              <a:buChar char="o"/>
            </a:pPr>
            <a:r>
              <a:rPr kumimoji="1" lang="en-US" altLang="ko-Kore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context </a:t>
            </a:r>
            <a:r>
              <a:rPr kumimoji="1" lang="en-US" altLang="ko-Kore-K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SplineMPE</a:t>
            </a:r>
            <a:r>
              <a:rPr kumimoji="1" lang="en-US" altLang="ko-Kore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accrued</a:t>
            </a:r>
          </a:p>
          <a:p>
            <a:pPr lvl="1"/>
            <a:r>
              <a:rPr kumimoji="1" lang="en-US" altLang="ko-Kore-K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SplineMPE</a:t>
            </a:r>
            <a:r>
              <a:rPr kumimoji="1" lang="en-US" altLang="ko-Kore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uses likelihood formula same as </a:t>
            </a:r>
            <a:r>
              <a:rPr kumimoji="1" lang="en-US" altLang="ko-Kore-K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PandelMPE</a:t>
            </a:r>
            <a:endParaRPr kumimoji="1" lang="en-US" altLang="ko-Kore-K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kumimoji="1" lang="en-US" altLang="ko-Kore-K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kumimoji="1" lang="en-US" altLang="ko-Kore-K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kumimoji="1" lang="en-US" altLang="ko-Kore-K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kumimoji="1" lang="en-US" altLang="ko-Kore-K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kumimoji="1" lang="en-US" altLang="ko-Kore-K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kumimoji="1" lang="en-US" altLang="ko-Kore-K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kumimoji="1" lang="en-US" altLang="ko-Kore-K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kumimoji="1" lang="en-US" altLang="ko-Kore-K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kumimoji="1" lang="en-US" altLang="ko-Kore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 Instead of using </a:t>
            </a:r>
            <a:r>
              <a:rPr kumimoji="1" lang="en-US" altLang="ko-Kore-K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Pandel</a:t>
            </a:r>
            <a:r>
              <a:rPr kumimoji="1" lang="en-US" altLang="ko-Kore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function it creates</a:t>
            </a:r>
          </a:p>
          <a:p>
            <a:pPr lvl="1"/>
            <a:r>
              <a:rPr kumimoji="1" lang="en-US" altLang="ko-Kore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PDF based on photon distribution table binned as Table 3.1,</a:t>
            </a:r>
          </a:p>
          <a:p>
            <a:pPr lvl="1"/>
            <a:r>
              <a:rPr kumimoji="1" lang="en-US" altLang="ko-Kore-KR" dirty="0">
                <a:highlight>
                  <a:srgbClr val="E8F1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Also it uses splines (B-spline) technique for the interpolations</a:t>
            </a:r>
          </a:p>
          <a:p>
            <a:pPr lvl="1"/>
            <a:endParaRPr kumimoji="1" lang="en-US" altLang="ko-Kore-K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C4E3BAE8-B24F-F346-94C5-72C6C81B09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659" y="5095398"/>
            <a:ext cx="4603850" cy="1481365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0FF8E8DB-AEB8-194B-9A4F-6659C84C8CE7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76782" b="59996"/>
          <a:stretch/>
        </p:blipFill>
        <p:spPr>
          <a:xfrm>
            <a:off x="5382487" y="3251666"/>
            <a:ext cx="1930377" cy="685340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67D1C669-6F5C-9941-B79B-D1F40485BD07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34953" t="-394" r="252" b="52698"/>
          <a:stretch/>
        </p:blipFill>
        <p:spPr>
          <a:xfrm>
            <a:off x="6990846" y="3284478"/>
            <a:ext cx="5019898" cy="76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48659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lnSpc>
            <a:spcPct val="120000"/>
          </a:lnSpc>
          <a:defRPr spc="-70" dirty="0" smtClean="0">
            <a:solidFill>
              <a:schemeClr val="tx1">
                <a:lumMod val="95000"/>
                <a:lumOff val="5000"/>
              </a:schemeClr>
            </a:solidFill>
            <a:latin typeface="Times New Roman" panose="02020603050405020304" pitchFamily="18" charset="0"/>
            <a:cs typeface="Times New Roman" panose="02020603050405020304" pitchFamily="18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9BADD9AB-3A41-984F-967C-E9C0E665A22A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564496a8-192a-466d-ab25-36292a8b3ae8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91441</TotalTime>
  <Words>2540</Words>
  <Application>Microsoft Macintosh PowerPoint</Application>
  <PresentationFormat>와이드스크린</PresentationFormat>
  <Paragraphs>406</Paragraphs>
  <Slides>22</Slides>
  <Notes>17</Notes>
  <HiddenSlides>0</HiddenSlides>
  <MMClips>2</MMClips>
  <ScaleCrop>false</ScaleCrop>
  <HeadingPairs>
    <vt:vector size="6" baseType="variant">
      <vt:variant>
        <vt:lpstr>사용한 글꼴</vt:lpstr>
      </vt:variant>
      <vt:variant>
        <vt:i4>12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35" baseType="lpstr">
      <vt:lpstr>시스템 서체 일반체</vt:lpstr>
      <vt:lpstr>Arial</vt:lpstr>
      <vt:lpstr>Calibri</vt:lpstr>
      <vt:lpstr>Calibri Light</vt:lpstr>
      <vt:lpstr>Cambria Math</vt:lpstr>
      <vt:lpstr>Georgia</vt:lpstr>
      <vt:lpstr>Helvetica</vt:lpstr>
      <vt:lpstr>Helvetica Neue</vt:lpstr>
      <vt:lpstr>Helvetica Neue Medium</vt:lpstr>
      <vt:lpstr>ITFDEVANAGARI-BOOK</vt:lpstr>
      <vt:lpstr>Times New Roman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Microsoft Office User</dc:creator>
  <cp:lastModifiedBy>Microsoft Office User</cp:lastModifiedBy>
  <cp:revision>544</cp:revision>
  <cp:lastPrinted>2024-12-16T13:21:42Z</cp:lastPrinted>
  <dcterms:created xsi:type="dcterms:W3CDTF">2024-06-03T12:50:35Z</dcterms:created>
  <dcterms:modified xsi:type="dcterms:W3CDTF">2026-05-15T10:42:59Z</dcterms:modified>
</cp:coreProperties>
</file>